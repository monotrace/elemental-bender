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12c5dbb5a74fa1" /><Relationship Type="http://schemas.openxmlformats.org/officeDocument/2006/relationships/extended-properties" Target="/docProps/app.xml" Id="R3b9b524b2a60424e" /><Relationship Type="http://schemas.openxmlformats.org/officeDocument/2006/relationships/officeDocument" Target="/ppt/presentation.xml" Id="Re2c28a1049ff43b2" /></Relationships>
</file>

<file path=ppt/presentation.xml><?xml version="1.0" encoding="utf-8"?>
<p:presentation xmlns:p="http://schemas.openxmlformats.org/presentationml/2006/main">
  <p:sldMasterIdLst>
    <p:sldMasterId xmlns:r="http://schemas.openxmlformats.org/officeDocument/2006/relationships" id="2147483648" r:id="R19a413d72bca4cd1"/>
  </p:sldMasterIdLst>
  <p:notesMasterIdLst>
    <p:notesMasterId xmlns:r="http://schemas.openxmlformats.org/officeDocument/2006/relationships" r:id="Rf00cced242f94957"/>
  </p:notesMasterIdLst>
  <p:sldIdLst>
    <p:sldId xmlns:r="http://schemas.openxmlformats.org/officeDocument/2006/relationships" id="256" r:id="R10288802f43445a6"/>
    <p:sldId xmlns:r="http://schemas.openxmlformats.org/officeDocument/2006/relationships" id="257" r:id="R6cddcfbb08b34e5e"/>
    <p:sldId xmlns:r="http://schemas.openxmlformats.org/officeDocument/2006/relationships" id="258" r:id="R34edbc213dd84808"/>
    <p:sldId xmlns:r="http://schemas.openxmlformats.org/officeDocument/2006/relationships" id="259" r:id="R845dc4136ed64de4"/>
    <p:sldId xmlns:r="http://schemas.openxmlformats.org/officeDocument/2006/relationships" id="260" r:id="R266fcb32b4734893"/>
    <p:sldId xmlns:r="http://schemas.openxmlformats.org/officeDocument/2006/relationships" id="261" r:id="R6f8ffadb9636402e"/>
    <p:sldId xmlns:r="http://schemas.openxmlformats.org/officeDocument/2006/relationships" id="262" r:id="R36632b411e08469e"/>
    <p:sldId xmlns:r="http://schemas.openxmlformats.org/officeDocument/2006/relationships" id="263" r:id="R532fe0cfb4644efb"/>
    <p:sldId xmlns:r="http://schemas.openxmlformats.org/officeDocument/2006/relationships" id="264" r:id="R5f3b095d29474273"/>
    <p:sldId xmlns:r="http://schemas.openxmlformats.org/officeDocument/2006/relationships" id="265" r:id="R5182e7df032546f8"/>
    <p:sldId xmlns:r="http://schemas.openxmlformats.org/officeDocument/2006/relationships" id="266" r:id="Ra9cb6f37426e4bd8"/>
    <p:sldId xmlns:r="http://schemas.openxmlformats.org/officeDocument/2006/relationships" id="267" r:id="R7d1bd569e3344609"/>
    <p:sldId xmlns:r="http://schemas.openxmlformats.org/officeDocument/2006/relationships" id="268" r:id="R73ec556dfc6247ea"/>
    <p:sldId xmlns:r="http://schemas.openxmlformats.org/officeDocument/2006/relationships" id="269" r:id="R6c9b0fb3515b4e3a"/>
    <p:sldId xmlns:r="http://schemas.openxmlformats.org/officeDocument/2006/relationships" id="270" r:id="R7e1660a1ee0348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c7e9d2d33b4c1d" /><Relationship Type="http://schemas.openxmlformats.org/officeDocument/2006/relationships/slideMaster" Target="/ppt/slideMasters/slideMaster1.xml" Id="R19a413d72bca4cd1" /><Relationship Type="http://schemas.openxmlformats.org/officeDocument/2006/relationships/notesMaster" Target="/ppt/notesMasters/notesMaster1.xml" Id="Rf00cced242f94957" /><Relationship Type="http://schemas.openxmlformats.org/officeDocument/2006/relationships/presProps" Target="/ppt/presProps.xml" Id="R14bb0831091748fe" /><Relationship Type="http://schemas.openxmlformats.org/officeDocument/2006/relationships/tableStyles" Target="/ppt/tableStyles.xml" Id="Rb823b0bfb47a4ebc" /><Relationship Type="http://schemas.openxmlformats.org/officeDocument/2006/relationships/slide" Target="/ppt/slides/slide1.xml" Id="R10288802f43445a6" /><Relationship Type="http://schemas.openxmlformats.org/officeDocument/2006/relationships/slide" Target="/ppt/slides/slide2.xml" Id="R6cddcfbb08b34e5e" /><Relationship Type="http://schemas.openxmlformats.org/officeDocument/2006/relationships/slide" Target="/ppt/slides/slide3.xml" Id="R34edbc213dd84808" /><Relationship Type="http://schemas.openxmlformats.org/officeDocument/2006/relationships/slide" Target="/ppt/slides/slide4.xml" Id="R845dc4136ed64de4" /><Relationship Type="http://schemas.openxmlformats.org/officeDocument/2006/relationships/slide" Target="/ppt/slides/slide5.xml" Id="R266fcb32b4734893" /><Relationship Type="http://schemas.openxmlformats.org/officeDocument/2006/relationships/slide" Target="/ppt/slides/slide6.xml" Id="R6f8ffadb9636402e" /><Relationship Type="http://schemas.openxmlformats.org/officeDocument/2006/relationships/slide" Target="/ppt/slides/slide7.xml" Id="R36632b411e08469e" /><Relationship Type="http://schemas.openxmlformats.org/officeDocument/2006/relationships/slide" Target="/ppt/slides/slide8.xml" Id="R532fe0cfb4644efb" /><Relationship Type="http://schemas.openxmlformats.org/officeDocument/2006/relationships/slide" Target="/ppt/slides/slide9.xml" Id="R5f3b095d29474273" /><Relationship Type="http://schemas.openxmlformats.org/officeDocument/2006/relationships/slide" Target="/ppt/slides/slide10.xml" Id="R5182e7df032546f8" /><Relationship Type="http://schemas.openxmlformats.org/officeDocument/2006/relationships/slide" Target="/ppt/slides/slide11.xml" Id="Ra9cb6f37426e4bd8" /><Relationship Type="http://schemas.openxmlformats.org/officeDocument/2006/relationships/slide" Target="/ppt/slides/slide12.xml" Id="R7d1bd569e3344609" /><Relationship Type="http://schemas.openxmlformats.org/officeDocument/2006/relationships/slide" Target="/ppt/slides/slide13.xml" Id="R73ec556dfc6247ea" /><Relationship Type="http://schemas.openxmlformats.org/officeDocument/2006/relationships/slide" Target="/ppt/slides/slide14.xml" Id="R6c9b0fb3515b4e3a" /><Relationship Type="http://schemas.openxmlformats.org/officeDocument/2006/relationships/slide" Target="/ppt/slides/slide15.xml" Id="R7e1660a1ee0348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f8632c75094b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b2b2be64ee46cb" /><Relationship Type="http://schemas.openxmlformats.org/officeDocument/2006/relationships/notesMaster" Target="/ppt/notesMasters/notesMaster1.xml" Id="R177047f0b2b54a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b2343ab33344d1" /><Relationship Type="http://schemas.openxmlformats.org/officeDocument/2006/relationships/notesMaster" Target="/ppt/notesMasters/notesMaster1.xml" Id="Rcecfb38d7bf147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61c9a79ce1408b" /><Relationship Type="http://schemas.openxmlformats.org/officeDocument/2006/relationships/notesMaster" Target="/ppt/notesMasters/notesMaster1.xml" Id="R13382fb6bd9c4e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9902ba20e54805" /><Relationship Type="http://schemas.openxmlformats.org/officeDocument/2006/relationships/notesMaster" Target="/ppt/notesMasters/notesMaster1.xml" Id="R3a0d0488aa7f40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10146612554512" /><Relationship Type="http://schemas.openxmlformats.org/officeDocument/2006/relationships/notesMaster" Target="/ppt/notesMasters/notesMaster1.xml" Id="R9d616d28d36347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ea7ecce4c54bcd" /><Relationship Type="http://schemas.openxmlformats.org/officeDocument/2006/relationships/notesMaster" Target="/ppt/notesMasters/notesMaster1.xml" Id="R3dbfd60a8e9240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eecd7544874348" /><Relationship Type="http://schemas.openxmlformats.org/officeDocument/2006/relationships/notesMaster" Target="/ppt/notesMasters/notesMaster1.xml" Id="Rcd150774263a4b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78e6e5190c431e" /><Relationship Type="http://schemas.openxmlformats.org/officeDocument/2006/relationships/notesMaster" Target="/ppt/notesMasters/notesMaster1.xml" Id="R4bbbc73305834f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dd2c5fdc7c4e87" /><Relationship Type="http://schemas.openxmlformats.org/officeDocument/2006/relationships/notesMaster" Target="/ppt/notesMasters/notesMaster1.xml" Id="R70f08650474d45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7fcf3361684424" /><Relationship Type="http://schemas.openxmlformats.org/officeDocument/2006/relationships/notesMaster" Target="/ppt/notesMasters/notesMaster1.xml" Id="R01afadb12a5340e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d7939bee1144897" /><Relationship Type="http://schemas.openxmlformats.org/officeDocument/2006/relationships/notesMaster" Target="/ppt/notesMasters/notesMaster1.xml" Id="R2ac5be0fe3394f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80c8252bb24e7d" /><Relationship Type="http://schemas.openxmlformats.org/officeDocument/2006/relationships/notesMaster" Target="/ppt/notesMasters/notesMaster1.xml" Id="R0d24312aa68c4cb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b3af2ce2a954327" /><Relationship Type="http://schemas.openxmlformats.org/officeDocument/2006/relationships/notesMaster" Target="/ppt/notesMasters/notesMaster1.xml" Id="Rbea7b7521352493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adf888dd34047ea" /><Relationship Type="http://schemas.openxmlformats.org/officeDocument/2006/relationships/notesMaster" Target="/ppt/notesMasters/notesMaster1.xml" Id="R08df3b8c9c0047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fe42440a5d845cd" /><Relationship Type="http://schemas.openxmlformats.org/officeDocument/2006/relationships/notesMaster" Target="/ppt/notesMasters/notesMaster1.xml" Id="Raf6cf598952c40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2조 송기훈, 최원제입니다. 웹캠 영상에서 양손의 손모양과 움직임을 인식해 원소 공격과 방어를 수행하는 ELEMENTAL BENDER를 제안합니다. 이번 발표는 조사와 계획 발표이며, 현재 구현과 이후 구현할 부분을 구분해서 설명하겠습니다.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게임 그래픽 자체보다 카메라 영상에서 사용자의 의도를 판별하는 것이 컴퓨터비전의 핵심입니다. 같은 주먹이라도 이동 방향이 다르면 서로 다른 명령이고, 앞으로는 공격과 방어도 구분해야 합니다. 최종 동작은 사용자가 정의하며 아직 확정 전입니다.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왼쪽은 실제로 모델과 Idle을 연결했던 프로토타입 화면입니다. 지금은 손 입력 전달과 임시 피해 효과를 확인하는 단계입니다. 적이 원소 공격을 예고하고 플레이어가 상성 방어로 대응하는 전투는 앞으로 추가할 계획입니다. 화면 예시를 완성된 상성 전투의 결과로 보시면 안 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웹캠은 Python이 한 번만 엽니다. 손동작 결과는 JSON으로 직렬화해 UDP로 전달하고, 웹캠 화면은 최신 JPEG를 HTTP로 제공해 Unity에서 표시합니다. 미리보기를 꺼도 인식은 계속됩니다. 현재 패킷에는 원소만 있고 공격과 방어 필드는 향후 추가해야 합니다.</a:t>
            </a:r>
          </a:p>
          <a:p xmlns:a="http://schemas.openxmlformats.org/drawingml/2006/main">
            <a:r>
              <a:t/>
            </a:r>
          </a:p>
          <a:p xmlns:a="http://schemas.openxmlformats.org/drawingml/2006/main">
            <a:r>
              <a:t>출처</a:t>
            </a:r>
          </a:p>
          <a:p xmlns:a="http://schemas.openxmlformats.org/drawingml/2006/main">
            <a:r>
              <a:t>https://developers.google.com/edge/mediapipe/solutions/vision/hand_landmarker/python</a:t>
            </a:r>
          </a:p>
          <a:p xmlns:a="http://schemas.openxmlformats.org/drawingml/2006/main">
            <a:r>
              <a:t>https://github.com/MonoTrace/elemental-bender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MediaPipe Hands의 기본 아이디어는 손바닥 검출과 랜드마크 추정을 결합하는 것입니다. 논문은 파이프라인 이해의 근거로 사용하며 현재 배포 모델의 세부 구조와 완전히 같다고 단정하지 않습니다. 현재 모델을 재학습한 것은 아닙니다. 학습된 모델은 관절 추정을 담당하고 원소 분류는 규칙 기반입니다.</a:t>
            </a:r>
          </a:p>
          <a:p xmlns:a="http://schemas.openxmlformats.org/drawingml/2006/main">
            <a:r>
              <a:t/>
            </a:r>
          </a:p>
          <a:p xmlns:a="http://schemas.openxmlformats.org/drawingml/2006/main">
            <a:r>
              <a:t>출처</a:t>
            </a:r>
          </a:p>
          <a:p xmlns:a="http://schemas.openxmlformats.org/drawingml/2006/main">
            <a:r>
              <a:t>https://developers.google.com/edge/mediapipe/solutions/vision/hand_landmarker/python</a:t>
            </a:r>
          </a:p>
          <a:p xmlns:a="http://schemas.openxmlformats.org/drawingml/2006/main">
            <a:r>
              <a:t>https://arxiv.org/abs/2006.10214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HaGRID는 버전마다 규모가 다르므로 여기서는 현재 공식 저장소의 v2를 기준으로 표기했습니다. 정적 손모양과 동적 영상의 특성이 다르며, 어떤 데이터에도 우리 게임의 8개 공격/방어 라벨이 그대로 제공되지는 않습니다. EgoGesture는 촬영 시점이 달라 주 데이터로 선택하지 않습니다.</a:t>
            </a:r>
          </a:p>
          <a:p xmlns:a="http://schemas.openxmlformats.org/drawingml/2006/main">
            <a:r>
              <a:t/>
            </a:r>
          </a:p>
          <a:p xmlns:a="http://schemas.openxmlformats.org/drawingml/2006/main">
            <a:r>
              <a:t>출처</a:t>
            </a:r>
          </a:p>
          <a:p xmlns:a="http://schemas.openxmlformats.org/drawingml/2006/main">
            <a:r>
              <a:t>https://github.com/hukenovs/hagrid</a:t>
            </a:r>
          </a:p>
          <a:p xmlns:a="http://schemas.openxmlformats.org/drawingml/2006/main">
            <a:r>
              <a:t>https://www.qualcomm.com/developer/software/jester-dataset</a:t>
            </a:r>
          </a:p>
          <a:p xmlns:a="http://schemas.openxmlformats.org/drawingml/2006/main">
            <a:r>
              <a:t>https://ieeexplore.ieee.org/document/8299578/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동작을 먼저 확정한 뒤 수집합니다. 세 조건은 밝은 기준 거리, 밝은 먼 거리, 어두운 기준 거리입니다. 같은 사람의 영상 프레임을 섞어 학습과 테스트로 나누지 않습니다. 원본 영상을 기본 저장하지 않고 랜드마크 중심으로 기록하며, 전체 지연 측정용 영상은 별도 동의 후 수집합니다. 최종 테스트 참가자가 2명뿐이라는 한계도 보고합니다.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손모양은 손목 기준 좌표로 비교할 수 있지만 각 손을 독립적으로 정규화하면 양손 간 거리가 사라질 수 있습니다. 그래서 개별 손 특징과 양손의 상대 이동을 함께 보관하려 합니다. 누락 프레임을 삭제하면 성공한 구간만 남아 평가가 낙관적으로 바뀌므로 마스크로 기록합니다.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공식 노트북은 이미지 기반 Hand Landmarker 사용법의 근거이며 실시간 VIDEO 처리와 양손 규칙은 프로젝트에서 구현했습니다. kinivi 노트북의 정적 모델은 21개 좌표의 x/y 42차원을 입력받고 Dropout과 Dense 20, Dense 10을 거쳐 Softmax로 분류합니다. 동적 노트북의 기본값은 MLP이고 LSTM은 선택 경로입니다. 해당 예제는 이전 mp.solutions API를 사용하므로 Tasks API 호환 작업이 필요합니다. 이 분류기를 현재 코드에 통합하거나 학습한 것은 아닙니다.</a:t>
            </a:r>
          </a:p>
          <a:p xmlns:a="http://schemas.openxmlformats.org/drawingml/2006/main">
            <a:r>
              <a:t/>
            </a:r>
          </a:p>
          <a:p xmlns:a="http://schemas.openxmlformats.org/drawingml/2006/main">
            <a:r>
              <a:t>출처</a:t>
            </a:r>
          </a:p>
          <a:p xmlns:a="http://schemas.openxmlformats.org/drawingml/2006/main">
            <a:r>
              <a:t>https://github.com/google-ai-edge/mediapipe-samples/blob/main/examples/hand_landmarker/python/hand_landmarker.ipynb</a:t>
            </a:r>
          </a:p>
          <a:p xmlns:a="http://schemas.openxmlformats.org/drawingml/2006/main">
            <a:r>
              <a:t>https://github.com/kinivi/hand-gesture-recognition-mediapipe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V는 최종 8동작을 정하기 전의 예비 입력입니다. 현재는 공격/방어를 구별하지 않고 WATER라는 원소 결과를 보냅니다. Python은 제스처 지속 시간과 재무장을 검사하고 Unity는 중복 패킷과 게임 쿨다운을 검사합니다. 애니메이션과 상성 방어는 앞으로 원소와 action 필드를 나누어 연결할 예정입니다.</a:t>
            </a:r>
          </a:p>
          <a:p xmlns:a="http://schemas.openxmlformats.org/drawingml/2006/main">
            <a:r>
              <a:t/>
            </a:r>
          </a:p>
          <a:p xmlns:a="http://schemas.openxmlformats.org/drawingml/2006/main">
            <a:r>
              <a:t>출처</a:t>
            </a:r>
          </a:p>
          <a:p xmlns:a="http://schemas.openxmlformats.org/drawingml/2006/main">
            <a:r>
              <a:t>https://github.com/MonoTrace/elemental-bender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과제에서 요구하는 추가 구현은 단순히 예제를 실행하거나 Unity 화면을 붙이는 것으로 끝나지 않습니다. 두 손의 관계를 사용하고 게임 고유의 공격/방어를 구분하며 조건별 오인식을 측정하는 부분이 컴퓨터비전 확장입니다. 참조 코드도 동적 인식을 포함하므로 동적 인식 자체를 처음 추가한다고 주장하지 않습니다.</a:t>
            </a:r>
          </a:p>
          <a:p xmlns:a="http://schemas.openxmlformats.org/drawingml/2006/main">
            <a:r>
              <a:t/>
            </a:r>
          </a:p>
          <a:p xmlns:a="http://schemas.openxmlformats.org/drawingml/2006/main">
            <a:r>
              <a:t>출처</a:t>
            </a:r>
          </a:p>
          <a:p xmlns:a="http://schemas.openxmlformats.org/drawingml/2006/main">
            <a:r>
              <a:t>https://github.com/google-ai-edge/mediapipe-samples/blob/main/examples/hand_landmarker/python/hand_landmarker.ipynb</a:t>
            </a:r>
          </a:p>
          <a:p xmlns:a="http://schemas.openxmlformats.org/drawingml/2006/main">
            <a:r>
              <a:t>https://github.com/kinivi/hand-gesture-recognition-mediapipe</a:t>
            </a:r>
          </a:p>
          <a:p xmlns:a="http://schemas.openxmlformats.org/drawingml/2006/main">
            <a:r>
              <a:t>https://github.com/MonoTrace/elemental-bender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지금은 손 추정과 입력 연결이 작동하는 프로토타입입니다. 공개 데이터셋 학습과 8동작 분류, 상성 전투가 이미 완성됐다는 의미는 아닙니다. 자동 검사는 합성 입력과 통신 동작 확인이며 사용자 인식률을 의미하지 않습니다.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정확도만으로는 게임에서 아무 동작도 하지 않을 때 스킬이 나가는 문제를 알 수 없습니다. 그래서 NONE 구간의 오발동률과 미발동, 중복을 별도로 셉니다. 동작 수행에 걸린 시간과 완료 후 반응 지연도 나누어 측정합니다. 현재 평가기는 원소 라벨 단위이므로 9라벨 평가와 동작 완료 시점 기록을 먼저 확장해야 합니다. 목표 수치는 아직 달성 결과가 아닙니다.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동작과 상성표를 정하지 않은 상태에서 모델과 라벨을 고정하면 재수집이 필요하므로 정의를 먼저 확정합니다. 발표 후 단계는 작업 순서이며 최종 제출일은 별도 확인이 필요합니다. 시간 여유가 없으면 규칙 기반을 완성하고 정량 평가를 우선하며, 학습 기반 비교는 확장 단계로 진행합니다.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이러닝에는 PDF를 제출하고 참조 코드 링크를 함께 넣습니다. 원본 코드의 커밋과 라이선스는 GitHub에 보관했습니다. 현재 저장소가 비공개라면 평가자가 접근할 수 있도록 초대하거나 소유자가 공개 전환을 결정해야 합니다. 이러닝 제출은 조에서 한 명이 수행합니다. 이 자료의 공개 데이터는 조사 대상이며 아직 학습·평가에 사용하지 않았습니다.</a:t>
            </a:r>
          </a:p>
          <a:p xmlns:a="http://schemas.openxmlformats.org/drawingml/2006/main">
            <a:r>
              <a:t/>
            </a:r>
          </a:p>
          <a:p xmlns:a="http://schemas.openxmlformats.org/drawingml/2006/main">
            <a:r>
              <a:t>출처</a:t>
            </a:r>
          </a:p>
          <a:p xmlns:a="http://schemas.openxmlformats.org/drawingml/2006/main">
            <a:r>
              <a:t>https://developers.google.com/edge/mediapipe/solutions/vision/hand_landmarker/python</a:t>
            </a:r>
          </a:p>
          <a:p xmlns:a="http://schemas.openxmlformats.org/drawingml/2006/main">
            <a:r>
              <a:t>https://github.com/google-ai-edge/mediapipe-samples/blob/main/examples/hand_landmarker/python/hand_landmarker.ipynb</a:t>
            </a:r>
          </a:p>
          <a:p xmlns:a="http://schemas.openxmlformats.org/drawingml/2006/main">
            <a:r>
              <a:t>https://arxiv.org/abs/2006.10214</a:t>
            </a:r>
          </a:p>
          <a:p xmlns:a="http://schemas.openxmlformats.org/drawingml/2006/main">
            <a:r>
              <a:t>https://github.com/hukenovs/hagrid</a:t>
            </a:r>
          </a:p>
          <a:p xmlns:a="http://schemas.openxmlformats.org/drawingml/2006/main">
            <a:r>
              <a:t>https://www.qualcomm.com/developer/software/jester-dataset</a:t>
            </a:r>
          </a:p>
          <a:p xmlns:a="http://schemas.openxmlformats.org/drawingml/2006/main">
            <a:r>
              <a:t>https://ieeexplore.ieee.org/document/8299578/</a:t>
            </a:r>
          </a:p>
          <a:p xmlns:a="http://schemas.openxmlformats.org/drawingml/2006/main">
            <a:r>
              <a:t>https://github.com/kinivi/hand-gesture-recognition-mediapipe</a:t>
            </a:r>
          </a:p>
          <a:p xmlns:a="http://schemas.openxmlformats.org/drawingml/2006/main">
            <a:r>
              <a:t>https://github.com/MonoTrace/elemental-bender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8be47a89df492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5f0e5b7daf644e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77be5a468184d0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b2f0b5e35594e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f4b42b6e8549f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1cac930e0514e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4C7395-0B80-4A40-8362-A12A094FB09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F55ACEF-231B-4616-BF48-3067D8AA057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7EB862-90A9-4D4E-A53F-46BFCDCC4BF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7AE0ED-B41C-48C9-A51E-E0FE2A02C7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F30F21E-5883-4F4F-9DF4-D250D57C55C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4856C2A-76A9-49BA-93FA-4780C26DAE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1CBC1F-AC66-4781-9EFF-D0F77AC3A2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566E89E-99DE-4CCF-96D4-6031738D02E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D03EB2-012D-4E67-8871-39973785EA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D9FECE-4CE4-44FB-91A6-93E7639160E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3404f04790415a" /><Relationship Type="http://schemas.openxmlformats.org/officeDocument/2006/relationships/slideLayout" Target="/ppt/slideLayouts/slideLayout1.xml" Id="R505602a7ec0a4238" /><Relationship Type="http://schemas.openxmlformats.org/officeDocument/2006/relationships/slideLayout" Target="/ppt/slideLayouts/slideLayout2.xml" Id="R9ca5c61cbf5c446e" /><Relationship Type="http://schemas.openxmlformats.org/officeDocument/2006/relationships/slideLayout" Target="/ppt/slideLayouts/slideLayout3.xml" Id="Rcc7f015ba8c64134" /><Relationship Type="http://schemas.openxmlformats.org/officeDocument/2006/relationships/slideLayout" Target="/ppt/slideLayouts/slideLayout4.xml" Id="R2700fb09e17d4641" /><Relationship Type="http://schemas.openxmlformats.org/officeDocument/2006/relationships/slideLayout" Target="/ppt/slideLayouts/slideLayout5.xml" Id="R67cc2380f30f4179" /><Relationship Type="http://schemas.openxmlformats.org/officeDocument/2006/relationships/slideLayout" Target="/ppt/slideLayouts/slideLayout6.xml" Id="Red03a42ff06541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5602a7ec0a4238"/>
    <p:sldLayoutId xmlns:r="http://schemas.openxmlformats.org/officeDocument/2006/relationships" id="2147483650" r:id="R9ca5c61cbf5c446e"/>
    <p:sldLayoutId xmlns:r="http://schemas.openxmlformats.org/officeDocument/2006/relationships" id="2147483651" r:id="Rcc7f015ba8c64134"/>
    <p:sldLayoutId xmlns:r="http://schemas.openxmlformats.org/officeDocument/2006/relationships" id="2147483652" r:id="R2700fb09e17d4641"/>
    <p:sldLayoutId xmlns:r="http://schemas.openxmlformats.org/officeDocument/2006/relationships" id="2147483653" r:id="R67cc2380f30f4179"/>
    <p:sldLayoutId xmlns:r="http://schemas.openxmlformats.org/officeDocument/2006/relationships" id="2147483654" r:id="Red03a42ff06541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f580e427d7c4862" /><Relationship Type="http://schemas.openxmlformats.org/officeDocument/2006/relationships/notesSlide" Target="/ppt/notesSlides/notesSlide1.xml" Id="Rfb8c4641117e47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584bdbf0c6c47b4" /><Relationship Type="http://schemas.openxmlformats.org/officeDocument/2006/relationships/notesSlide" Target="/ppt/notesSlides/notesSlide2.xml" Id="Ra2392b70e2624d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646f868f9a846ff" /><Relationship Type="http://schemas.openxmlformats.org/officeDocument/2006/relationships/image" Target="/ppt/media/image.png" Id="Re3febbdefdf546fc" /><Relationship Type="http://schemas.openxmlformats.org/officeDocument/2006/relationships/notesSlide" Target="/ppt/notesSlides/notesSlide3.xml" Id="R581e6fcd0ab443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799e173f43c46ca" /><Relationship Type="http://schemas.openxmlformats.org/officeDocument/2006/relationships/notesSlide" Target="/ppt/notesSlides/notesSlide4.xml" Id="Rc470ec4ff27b44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74a1ebfb1934049" /><Relationship Type="http://schemas.openxmlformats.org/officeDocument/2006/relationships/notesSlide" Target="/ppt/notesSlides/notesSlide5.xml" Id="R88a71c0ebb744f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849e73c27a04365" /><Relationship Type="http://schemas.openxmlformats.org/officeDocument/2006/relationships/notesSlide" Target="/ppt/notesSlides/notesSlide6.xml" Id="R83c65b175a5f467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7aad56927054c11" /><Relationship Type="http://schemas.openxmlformats.org/officeDocument/2006/relationships/notesSlide" Target="/ppt/notesSlides/notesSlide7.xml" Id="Rc000682350e741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a1779e54fb74df1" /><Relationship Type="http://schemas.openxmlformats.org/officeDocument/2006/relationships/notesSlide" Target="/ppt/notesSlides/notesSlide8.xml" Id="Ra83336a308874f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cc4d634b3747fe" /><Relationship Type="http://schemas.openxmlformats.org/officeDocument/2006/relationships/notesSlide" Target="/ppt/notesSlides/notesSlide9.xml" Id="Rb81d556e3d5f40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a18c09e996549a9" /><Relationship Type="http://schemas.openxmlformats.org/officeDocument/2006/relationships/notesSlide" Target="/ppt/notesSlides/notesSlide10.xml" Id="R088bf44b312e41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3c4655b397949d2" /><Relationship Type="http://schemas.openxmlformats.org/officeDocument/2006/relationships/notesSlide" Target="/ppt/notesSlides/notesSlide11.xml" Id="R9bce2a54e7434d5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5b3f4147a0d4d10" /><Relationship Type="http://schemas.openxmlformats.org/officeDocument/2006/relationships/notesSlide" Target="/ppt/notesSlides/notesSlide12.xml" Id="Re346e481cd4f43c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87106f659744d90" /><Relationship Type="http://schemas.openxmlformats.org/officeDocument/2006/relationships/notesSlide" Target="/ppt/notesSlides/notesSlide13.xml" Id="Rf217415a51714c0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1c2828dbf274109" /><Relationship Type="http://schemas.openxmlformats.org/officeDocument/2006/relationships/notesSlide" Target="/ppt/notesSlides/notesSlide14.xml" Id="R63614fb792c641a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9140c0046514807" /><Relationship Type="http://schemas.openxmlformats.org/officeDocument/2006/relationships/hyperlink" Target="https://developers.google.com/edge/mediapipe/solutions/vision/hand_landmarker/python" TargetMode="External" Id="R9b52a127ee044801" /><Relationship Type="http://schemas.openxmlformats.org/officeDocument/2006/relationships/hyperlink" Target="https://arxiv.org/abs/2006.10214" TargetMode="External" Id="Rfbe94e7ec1d24657" /><Relationship Type="http://schemas.openxmlformats.org/officeDocument/2006/relationships/hyperlink" Target="https://github.com/hukenovs/hagrid" TargetMode="External" Id="R16034aa7e84542ac" /><Relationship Type="http://schemas.openxmlformats.org/officeDocument/2006/relationships/hyperlink" Target="https://github.com/kinivi/hand-gesture-recognition-mediapipe" TargetMode="External" Id="Rbec976bd5eca4885" /><Relationship Type="http://schemas.openxmlformats.org/officeDocument/2006/relationships/hyperlink" Target="https://github.com/MonoTrace/elemental-bender" TargetMode="External" Id="R7278210eb98e432b" /><Relationship Type="http://schemas.openxmlformats.org/officeDocument/2006/relationships/notesSlide" Target="/ppt/notesSlides/notesSlide15.xml" Id="Rc23e85acf82340a3" /></Relationships>
</file>

<file path=ppt/slides/slide1.xml><?xml version="1.0" encoding="utf-8"?>
<p:sld xmlns:p="http://schemas.openxmlformats.org/presentationml/2006/main">
  <p:cSld>
    <p:bg>
      <p:bgPr>
        <a:solidFill xmlns:a="http://schemas.openxmlformats.org/drawingml/2006/main">
          <a:srgbClr val="0D172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47AE7C4-44AE-4778-9398-29F8FEC817D7}"/>
              </a:ext>
            </a:extLst>
          </p:cNvPr>
          <p:cNvSpPr>
            <a:spLocks xmlns:a="http://schemas.openxmlformats.org/drawingml/2006/main" noGrp="1"/>
          </p:cNvSpPr>
          <p:nvPr/>
        </p:nvSpPr>
        <p:spPr>
          <a:xfrm xmlns:a="http://schemas.openxmlformats.org/drawingml/2006/main">
            <a:off x="590550" y="4953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A8B8CD"/>
                </a:solidFill>
                <a:latin typeface="Malgun Gothic"/>
                <a:ea typeface="Malgun Gothic"/>
                <a:cs typeface="Malgun Gothic"/>
              </a:defRPr>
            </a:defPPr>
          </a:lstStyle>
          <a:p xmlns:a="http://schemas.openxmlformats.org/drawingml/2006/main">
            <a:pPr>
              <a:defRPr sz="1800" b="0">
                <a:solidFill>
                  <a:srgbClr val="A8B8CD"/>
                </a:solidFill>
                <a:latin typeface="Malgun Gothic"/>
                <a:ea typeface="Malgun Gothic"/>
                <a:cs typeface="Malgun Gothic"/>
              </a:defRPr>
            </a:pPr>
            <a:r>
              <a:rPr sz="1800" b="0">
                <a:solidFill>
                  <a:srgbClr val="A8B8CD"/>
                </a:solidFill>
                <a:latin typeface="Malgun Gothic"/>
                <a:ea typeface="Malgun Gothic"/>
                <a:cs typeface="Malgun Gothic"/>
              </a:rPr>
              <a:t>컴퓨터비전 미니프로젝트 · 조사 및 구현 계획</a:t>
            </a:r>
          </a:p>
        </p:txBody>
      </p:sp>
      <p:sp>
        <p:nvSpPr>
          <p:cNvPr id="2" name="">
            <a:extLst xmlns:a="http://schemas.openxmlformats.org/drawingml/2006/main">
              <a:ext uri="{FF2B5EF4-FFF2-40B4-BE49-F238E27FC236}">
                <a16:creationId xmlns:a16="http://schemas.microsoft.com/office/drawing/2014/main" id="{013B412D-DDF6-4D17-A6CB-22261F265568}"/>
              </a:ext>
            </a:extLst>
          </p:cNvPr>
          <p:cNvSpPr>
            <a:spLocks xmlns:a="http://schemas.openxmlformats.org/drawingml/2006/main" noGrp="1"/>
          </p:cNvSpPr>
          <p:nvPr/>
        </p:nvSpPr>
        <p:spPr>
          <a:xfrm xmlns:a="http://schemas.openxmlformats.org/drawingml/2006/main">
            <a:off x="552450" y="1381125"/>
            <a:ext cx="11049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900" b="1">
                <a:solidFill>
                  <a:srgbClr val="F3F6FA"/>
                </a:solidFill>
                <a:latin typeface="Malgun Gothic"/>
                <a:ea typeface="Malgun Gothic"/>
                <a:cs typeface="Malgun Gothic"/>
              </a:defRPr>
            </a:defPPr>
          </a:lstStyle>
          <a:p xmlns:a="http://schemas.openxmlformats.org/drawingml/2006/main">
            <a:pPr>
              <a:defRPr sz="6900" b="1">
                <a:solidFill>
                  <a:srgbClr val="F3F6FA"/>
                </a:solidFill>
                <a:latin typeface="Malgun Gothic"/>
                <a:ea typeface="Malgun Gothic"/>
                <a:cs typeface="Malgun Gothic"/>
              </a:defRPr>
            </a:pPr>
            <a:r>
              <a:rPr sz="6900" b="1">
                <a:solidFill>
                  <a:srgbClr val="F3F6FA"/>
                </a:solidFill>
                <a:latin typeface="Malgun Gothic"/>
                <a:ea typeface="Malgun Gothic"/>
                <a:cs typeface="Malgun Gothic"/>
              </a:rPr>
              <a:t>ELEMENTAL</a:t>
            </a:r>
          </a:p>
          <a:p xmlns:a="http://schemas.openxmlformats.org/drawingml/2006/main">
            <a:pPr>
              <a:defRPr sz="6900" b="1">
                <a:solidFill>
                  <a:srgbClr val="F3F6FA"/>
                </a:solidFill>
                <a:latin typeface="Malgun Gothic"/>
                <a:ea typeface="Malgun Gothic"/>
                <a:cs typeface="Malgun Gothic"/>
              </a:defRPr>
            </a:pPr>
            <a:r>
              <a:rPr sz="6900" b="1">
                <a:solidFill>
                  <a:srgbClr val="F3F6FA"/>
                </a:solidFill>
                <a:latin typeface="Malgun Gothic"/>
                <a:ea typeface="Malgun Gothic"/>
                <a:cs typeface="Malgun Gothic"/>
              </a:rPr>
              <a:t>BENDER</a:t>
            </a:r>
          </a:p>
        </p:txBody>
      </p:sp>
      <p:sp>
        <p:nvSpPr>
          <p:cNvPr id="3" name="">
            <a:extLst xmlns:a="http://schemas.openxmlformats.org/drawingml/2006/main">
              <a:ext uri="{FF2B5EF4-FFF2-40B4-BE49-F238E27FC236}">
                <a16:creationId xmlns:a16="http://schemas.microsoft.com/office/drawing/2014/main" id="{305392E7-6619-4EE7-A5B7-288A7E4DB60C}"/>
              </a:ext>
            </a:extLst>
          </p:cNvPr>
          <p:cNvSpPr>
            <a:spLocks xmlns:a="http://schemas.openxmlformats.org/drawingml/2006/main" noGrp="1"/>
          </p:cNvSpPr>
          <p:nvPr/>
        </p:nvSpPr>
        <p:spPr>
          <a:xfrm xmlns:a="http://schemas.openxmlformats.org/drawingml/2006/main">
            <a:off x="590550" y="376237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73B8FF"/>
                </a:solidFill>
                <a:latin typeface="Malgun Gothic"/>
                <a:ea typeface="Malgun Gothic"/>
                <a:cs typeface="Malgun Gothic"/>
              </a:defRPr>
            </a:defPPr>
          </a:lstStyle>
          <a:p xmlns:a="http://schemas.openxmlformats.org/drawingml/2006/main">
            <a:pPr>
              <a:defRPr sz="2550" b="1">
                <a:solidFill>
                  <a:srgbClr val="73B8FF"/>
                </a:solidFill>
                <a:latin typeface="Malgun Gothic"/>
                <a:ea typeface="Malgun Gothic"/>
                <a:cs typeface="Malgun Gothic"/>
              </a:defRPr>
            </a:pPr>
            <a:r>
              <a:rPr sz="2550" b="1">
                <a:solidFill>
                  <a:srgbClr val="73B8FF"/>
                </a:solidFill>
                <a:latin typeface="Malgun Gothic"/>
                <a:ea typeface="Malgun Gothic"/>
                <a:cs typeface="Malgun Gothic"/>
              </a:rPr>
              <a:t>양손 제스처로 공격하고 방어하는 3D 원소 대결</a:t>
            </a:r>
          </a:p>
        </p:txBody>
      </p:sp>
      <p:sp>
        <p:nvSpPr>
          <p:cNvPr id="4" name="">
            <a:extLst xmlns:a="http://schemas.openxmlformats.org/drawingml/2006/main">
              <a:ext uri="{FF2B5EF4-FFF2-40B4-BE49-F238E27FC236}">
                <a16:creationId xmlns:a16="http://schemas.microsoft.com/office/drawing/2014/main" id="{D700287C-8C83-471E-9617-DA26AAFAC973}"/>
              </a:ext>
            </a:extLst>
          </p:cNvPr>
          <p:cNvSpPr>
            <a:spLocks xmlns:a="http://schemas.openxmlformats.org/drawingml/2006/main" noGrp="1"/>
          </p:cNvSpPr>
          <p:nvPr/>
        </p:nvSpPr>
        <p:spPr>
          <a:xfrm xmlns:a="http://schemas.openxmlformats.org/drawingml/2006/main">
            <a:off x="590550" y="48101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3F6FA"/>
                </a:solidFill>
                <a:latin typeface="Malgun Gothic"/>
                <a:ea typeface="Malgun Gothic"/>
                <a:cs typeface="Malgun Gothic"/>
              </a:defRPr>
            </a:defPPr>
          </a:lstStyle>
          <a:p xmlns:a="http://schemas.openxmlformats.org/drawingml/2006/main">
            <a:pPr>
              <a:defRPr sz="2250" b="0">
                <a:solidFill>
                  <a:srgbClr val="F3F6FA"/>
                </a:solidFill>
                <a:latin typeface="Malgun Gothic"/>
                <a:ea typeface="Malgun Gothic"/>
                <a:cs typeface="Malgun Gothic"/>
              </a:defRPr>
            </a:pPr>
            <a:r>
              <a:rPr sz="2250" b="0">
                <a:solidFill>
                  <a:srgbClr val="F3F6FA"/>
                </a:solidFill>
                <a:latin typeface="Malgun Gothic"/>
                <a:ea typeface="Malgun Gothic"/>
                <a:cs typeface="Malgun Gothic"/>
              </a:rPr>
              <a:t>2조  송기훈 · 최원제</a:t>
            </a:r>
          </a:p>
        </p:txBody>
      </p:sp>
      <p:sp>
        <p:nvSpPr>
          <p:cNvPr id="5" name="">
            <a:extLst xmlns:a="http://schemas.openxmlformats.org/drawingml/2006/main">
              <a:ext uri="{FF2B5EF4-FFF2-40B4-BE49-F238E27FC236}">
                <a16:creationId xmlns:a16="http://schemas.microsoft.com/office/drawing/2014/main" id="{A394241F-C3FA-40C6-8582-048E5ADEFEED}"/>
              </a:ext>
            </a:extLst>
          </p:cNvPr>
          <p:cNvSpPr>
            <a:spLocks xmlns:a="http://schemas.openxmlformats.org/drawingml/2006/main" noGrp="1"/>
          </p:cNvSpPr>
          <p:nvPr/>
        </p:nvSpPr>
        <p:spPr>
          <a:xfrm xmlns:a="http://schemas.openxmlformats.org/drawingml/2006/main">
            <a:off x="590550" y="540067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A8B8CD"/>
                </a:solidFill>
                <a:latin typeface="Malgun Gothic"/>
                <a:ea typeface="Malgun Gothic"/>
                <a:cs typeface="Malgun Gothic"/>
              </a:defRPr>
            </a:defPPr>
          </a:lstStyle>
          <a:p xmlns:a="http://schemas.openxmlformats.org/drawingml/2006/main">
            <a:pPr>
              <a:defRPr sz="1725" b="0">
                <a:solidFill>
                  <a:srgbClr val="A8B8CD"/>
                </a:solidFill>
                <a:latin typeface="Malgun Gothic"/>
                <a:ea typeface="Malgun Gothic"/>
                <a:cs typeface="Malgun Gothic"/>
              </a:defRPr>
            </a:pPr>
            <a:r>
              <a:rPr sz="1725" b="0">
                <a:solidFill>
                  <a:srgbClr val="A8B8CD"/>
                </a:solidFill>
                <a:latin typeface="Malgun Gothic"/>
                <a:ea typeface="Malgun Gothic"/>
                <a:cs typeface="Malgun Gothic"/>
              </a:rPr>
              <a:t>2026.10.16</a:t>
            </a:r>
          </a:p>
        </p:txBody>
      </p:sp>
      <p:sp>
        <p:nvSpPr>
          <p:cNvPr id="6" name="">
            <a:extLst xmlns:a="http://schemas.openxmlformats.org/drawingml/2006/main">
              <a:ext uri="{FF2B5EF4-FFF2-40B4-BE49-F238E27FC236}">
                <a16:creationId xmlns:a16="http://schemas.microsoft.com/office/drawing/2014/main" id="{27B64032-4A19-4531-848C-0399409C224F}"/>
              </a:ext>
            </a:extLst>
          </p:cNvPr>
          <p:cNvSpPr>
            <a:spLocks xmlns:a="http://schemas.openxmlformats.org/drawingml/2006/main" noGrp="1"/>
          </p:cNvSpPr>
          <p:nvPr/>
        </p:nvSpPr>
        <p:spPr>
          <a:xfrm xmlns:a="http://schemas.openxmlformats.org/drawingml/2006/main">
            <a:off x="590550" y="6191250"/>
            <a:ext cx="2543175" cy="66675"/>
          </a:xfrm>
          <a:prstGeom xmlns:a="http://schemas.openxmlformats.org/drawingml/2006/main" prst="rect">
            <a:avLst/>
          </a:prstGeom>
          <a:solidFill xmlns:a="http://schemas.openxmlformats.org/drawingml/2006/main">
            <a:srgbClr val="F5A67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6A43D89-3AC3-4C06-85CF-6F09C16A0697}"/>
              </a:ext>
            </a:extLst>
          </p:cNvPr>
          <p:cNvSpPr>
            <a:spLocks xmlns:a="http://schemas.openxmlformats.org/drawingml/2006/main" noGrp="1"/>
          </p:cNvSpPr>
          <p:nvPr/>
        </p:nvSpPr>
        <p:spPr>
          <a:xfrm xmlns:a="http://schemas.openxmlformats.org/drawingml/2006/main">
            <a:off x="590550" y="5743575"/>
            <a:ext cx="25431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F5A677"/>
                </a:solidFill>
                <a:latin typeface="Malgun Gothic"/>
                <a:ea typeface="Malgun Gothic"/>
                <a:cs typeface="Malgun Gothic"/>
              </a:defRPr>
            </a:defPPr>
          </a:lstStyle>
          <a:p xmlns:a="http://schemas.openxmlformats.org/drawingml/2006/main">
            <a:pPr>
              <a:defRPr sz="1425" b="1">
                <a:solidFill>
                  <a:srgbClr val="F5A677"/>
                </a:solidFill>
                <a:latin typeface="Malgun Gothic"/>
                <a:ea typeface="Malgun Gothic"/>
                <a:cs typeface="Malgun Gothic"/>
              </a:defRPr>
            </a:pPr>
            <a:r>
              <a:rPr sz="1425" b="1">
                <a:solidFill>
                  <a:srgbClr val="F5A677"/>
                </a:solidFill>
                <a:latin typeface="Malgun Gothic"/>
                <a:ea typeface="Malgun Gothic"/>
                <a:cs typeface="Malgun Gothic"/>
              </a:rPr>
              <a:t>FIRE</a:t>
            </a:r>
          </a:p>
        </p:txBody>
      </p:sp>
      <p:sp>
        <p:nvSpPr>
          <p:cNvPr id="8" name="">
            <a:extLst xmlns:a="http://schemas.openxmlformats.org/drawingml/2006/main">
              <a:ext uri="{FF2B5EF4-FFF2-40B4-BE49-F238E27FC236}">
                <a16:creationId xmlns:a16="http://schemas.microsoft.com/office/drawing/2014/main" id="{A1A2DF35-6FB5-4EDD-80EC-1FAFE8D7AB8F}"/>
              </a:ext>
            </a:extLst>
          </p:cNvPr>
          <p:cNvSpPr>
            <a:spLocks xmlns:a="http://schemas.openxmlformats.org/drawingml/2006/main" noGrp="1"/>
          </p:cNvSpPr>
          <p:nvPr/>
        </p:nvSpPr>
        <p:spPr>
          <a:xfrm xmlns:a="http://schemas.openxmlformats.org/drawingml/2006/main">
            <a:off x="3362325" y="6191250"/>
            <a:ext cx="2543175" cy="66675"/>
          </a:xfrm>
          <a:prstGeom xmlns:a="http://schemas.openxmlformats.org/drawingml/2006/main" prst="rect">
            <a:avLst/>
          </a:prstGeom>
          <a:solidFill xmlns:a="http://schemas.openxmlformats.org/drawingml/2006/main">
            <a:srgbClr val="73B8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3D93390-19A6-4E4A-86C5-17E0DDB83D8C}"/>
              </a:ext>
            </a:extLst>
          </p:cNvPr>
          <p:cNvSpPr>
            <a:spLocks xmlns:a="http://schemas.openxmlformats.org/drawingml/2006/main" noGrp="1"/>
          </p:cNvSpPr>
          <p:nvPr/>
        </p:nvSpPr>
        <p:spPr>
          <a:xfrm xmlns:a="http://schemas.openxmlformats.org/drawingml/2006/main">
            <a:off x="3362325" y="5743575"/>
            <a:ext cx="25431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73B8FF"/>
                </a:solidFill>
                <a:latin typeface="Malgun Gothic"/>
                <a:ea typeface="Malgun Gothic"/>
                <a:cs typeface="Malgun Gothic"/>
              </a:defRPr>
            </a:defPPr>
          </a:lstStyle>
          <a:p xmlns:a="http://schemas.openxmlformats.org/drawingml/2006/main">
            <a:pPr>
              <a:defRPr sz="1425" b="1">
                <a:solidFill>
                  <a:srgbClr val="73B8FF"/>
                </a:solidFill>
                <a:latin typeface="Malgun Gothic"/>
                <a:ea typeface="Malgun Gothic"/>
                <a:cs typeface="Malgun Gothic"/>
              </a:defRPr>
            </a:pPr>
            <a:r>
              <a:rPr sz="1425" b="1">
                <a:solidFill>
                  <a:srgbClr val="73B8FF"/>
                </a:solidFill>
                <a:latin typeface="Malgun Gothic"/>
                <a:ea typeface="Malgun Gothic"/>
                <a:cs typeface="Malgun Gothic"/>
              </a:rPr>
              <a:t>WATER</a:t>
            </a:r>
          </a:p>
        </p:txBody>
      </p:sp>
      <p:sp>
        <p:nvSpPr>
          <p:cNvPr id="10" name="">
            <a:extLst xmlns:a="http://schemas.openxmlformats.org/drawingml/2006/main">
              <a:ext uri="{FF2B5EF4-FFF2-40B4-BE49-F238E27FC236}">
                <a16:creationId xmlns:a16="http://schemas.microsoft.com/office/drawing/2014/main" id="{46A67B13-8BBD-498E-B843-6FE5B0F60032}"/>
              </a:ext>
            </a:extLst>
          </p:cNvPr>
          <p:cNvSpPr>
            <a:spLocks xmlns:a="http://schemas.openxmlformats.org/drawingml/2006/main" noGrp="1"/>
          </p:cNvSpPr>
          <p:nvPr/>
        </p:nvSpPr>
        <p:spPr>
          <a:xfrm xmlns:a="http://schemas.openxmlformats.org/drawingml/2006/main">
            <a:off x="6134100" y="6191250"/>
            <a:ext cx="2543175" cy="66675"/>
          </a:xfrm>
          <a:prstGeom xmlns:a="http://schemas.openxmlformats.org/drawingml/2006/main" prst="rect">
            <a:avLst/>
          </a:prstGeom>
          <a:solidFill xmlns:a="http://schemas.openxmlformats.org/drawingml/2006/main">
            <a:srgbClr val="C7D7E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B8771EF-C444-4415-81F8-1156D3FDC049}"/>
              </a:ext>
            </a:extLst>
          </p:cNvPr>
          <p:cNvSpPr>
            <a:spLocks xmlns:a="http://schemas.openxmlformats.org/drawingml/2006/main" noGrp="1"/>
          </p:cNvSpPr>
          <p:nvPr/>
        </p:nvSpPr>
        <p:spPr>
          <a:xfrm xmlns:a="http://schemas.openxmlformats.org/drawingml/2006/main">
            <a:off x="6134100" y="5743575"/>
            <a:ext cx="25431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C7D7E7"/>
                </a:solidFill>
                <a:latin typeface="Malgun Gothic"/>
                <a:ea typeface="Malgun Gothic"/>
                <a:cs typeface="Malgun Gothic"/>
              </a:defRPr>
            </a:defPPr>
          </a:lstStyle>
          <a:p xmlns:a="http://schemas.openxmlformats.org/drawingml/2006/main">
            <a:pPr>
              <a:defRPr sz="1425" b="1">
                <a:solidFill>
                  <a:srgbClr val="C7D7E7"/>
                </a:solidFill>
                <a:latin typeface="Malgun Gothic"/>
                <a:ea typeface="Malgun Gothic"/>
                <a:cs typeface="Malgun Gothic"/>
              </a:defRPr>
            </a:pPr>
            <a:r>
              <a:rPr sz="1425" b="1">
                <a:solidFill>
                  <a:srgbClr val="C7D7E7"/>
                </a:solidFill>
                <a:latin typeface="Malgun Gothic"/>
                <a:ea typeface="Malgun Gothic"/>
                <a:cs typeface="Malgun Gothic"/>
              </a:rPr>
              <a:t>AIR</a:t>
            </a:r>
          </a:p>
        </p:txBody>
      </p:sp>
      <p:sp>
        <p:nvSpPr>
          <p:cNvPr id="12" name="">
            <a:extLst xmlns:a="http://schemas.openxmlformats.org/drawingml/2006/main">
              <a:ext uri="{FF2B5EF4-FFF2-40B4-BE49-F238E27FC236}">
                <a16:creationId xmlns:a16="http://schemas.microsoft.com/office/drawing/2014/main" id="{73D55CEC-8426-47A1-B102-D102C3AA4422}"/>
              </a:ext>
            </a:extLst>
          </p:cNvPr>
          <p:cNvSpPr>
            <a:spLocks xmlns:a="http://schemas.openxmlformats.org/drawingml/2006/main" noGrp="1"/>
          </p:cNvSpPr>
          <p:nvPr/>
        </p:nvSpPr>
        <p:spPr>
          <a:xfrm xmlns:a="http://schemas.openxmlformats.org/drawingml/2006/main">
            <a:off x="8905875" y="6191250"/>
            <a:ext cx="2543175" cy="66675"/>
          </a:xfrm>
          <a:prstGeom xmlns:a="http://schemas.openxmlformats.org/drawingml/2006/main" prst="rect">
            <a:avLst/>
          </a:prstGeom>
          <a:solidFill xmlns:a="http://schemas.openxmlformats.org/drawingml/2006/main">
            <a:srgbClr val="BFCB8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D6E6F96-9A17-4797-AD91-FCBFA1D7EA40}"/>
              </a:ext>
            </a:extLst>
          </p:cNvPr>
          <p:cNvSpPr>
            <a:spLocks xmlns:a="http://schemas.openxmlformats.org/drawingml/2006/main" noGrp="1"/>
          </p:cNvSpPr>
          <p:nvPr/>
        </p:nvSpPr>
        <p:spPr>
          <a:xfrm xmlns:a="http://schemas.openxmlformats.org/drawingml/2006/main">
            <a:off x="8905875" y="5743575"/>
            <a:ext cx="25431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BFCB89"/>
                </a:solidFill>
                <a:latin typeface="Malgun Gothic"/>
                <a:ea typeface="Malgun Gothic"/>
                <a:cs typeface="Malgun Gothic"/>
              </a:defRPr>
            </a:defPPr>
          </a:lstStyle>
          <a:p xmlns:a="http://schemas.openxmlformats.org/drawingml/2006/main">
            <a:pPr>
              <a:defRPr sz="1425" b="1">
                <a:solidFill>
                  <a:srgbClr val="BFCB89"/>
                </a:solidFill>
                <a:latin typeface="Malgun Gothic"/>
                <a:ea typeface="Malgun Gothic"/>
                <a:cs typeface="Malgun Gothic"/>
              </a:defRPr>
            </a:pPr>
            <a:r>
              <a:rPr sz="1425" b="1">
                <a:solidFill>
                  <a:srgbClr val="BFCB89"/>
                </a:solidFill>
                <a:latin typeface="Malgun Gothic"/>
                <a:ea typeface="Malgun Gothic"/>
                <a:cs typeface="Malgun Gothic"/>
              </a:rPr>
              <a:t>EARTH</a:t>
            </a:r>
          </a:p>
        </p:txBody>
      </p:sp>
    </p:spTree>
    <p:extLst>
      <p:ext uri="{BB962C8B-B14F-4D97-AF65-F5344CB8AC3E}">
        <p14:creationId xmlns:p14="http://schemas.microsoft.com/office/powerpoint/2010/main" val="1047704292"/>
      </p:ext>
    </p:extLst>
  </p:cSld>
</p:sld>
</file>

<file path=ppt/slides/slide2.xml><?xml version="1.0" encoding="utf-8"?>
<p:sld xmlns:p="http://schemas.openxmlformats.org/presentationml/2006/main">
  <p:cSld>
    <p:bg>
      <p:bgPr>
        <a:solidFill xmlns:a="http://schemas.openxmlformats.org/drawingml/2006/main">
          <a:srgbClr val="0D172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0128245-DAA4-4E88-84EF-397DDC518FDA}"/>
              </a:ext>
            </a:extLst>
          </p:cNvPr>
          <p:cNvSpPr>
            <a:spLocks xmlns:a="http://schemas.openxmlformats.org/drawingml/2006/main" noGrp="1"/>
          </p:cNvSpPr>
          <p:nvPr/>
        </p:nvSpPr>
        <p:spPr>
          <a:xfrm xmlns:a="http://schemas.openxmlformats.org/drawingml/2006/main">
            <a:off x="533400" y="41910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F3F6FA"/>
                </a:solidFill>
                <a:latin typeface="Malgun Gothic"/>
                <a:ea typeface="Malgun Gothic"/>
                <a:cs typeface="Malgun Gothic"/>
              </a:defRPr>
            </a:defPPr>
          </a:lstStyle>
          <a:p xmlns:a="http://schemas.openxmlformats.org/drawingml/2006/main">
            <a:pPr>
              <a:defRPr sz="3150" b="1">
                <a:solidFill>
                  <a:srgbClr val="F3F6FA"/>
                </a:solidFill>
                <a:latin typeface="Malgun Gothic"/>
                <a:ea typeface="Malgun Gothic"/>
                <a:cs typeface="Malgun Gothic"/>
              </a:defRPr>
            </a:pPr>
            <a:r>
              <a:rPr sz="3150" b="1">
                <a:solidFill>
                  <a:srgbClr val="F3F6FA"/>
                </a:solidFill>
                <a:latin typeface="Malgun Gothic"/>
                <a:ea typeface="Malgun Gothic"/>
                <a:cs typeface="Malgun Gothic"/>
              </a:rPr>
              <a:t>주제: 손모양과 움직임을 게임 명령으로 해석</a:t>
            </a:r>
          </a:p>
        </p:txBody>
      </p:sp>
      <p:sp>
        <p:nvSpPr>
          <p:cNvPr id="2" name="">
            <a:extLst xmlns:a="http://schemas.openxmlformats.org/drawingml/2006/main">
              <a:ext uri="{FF2B5EF4-FFF2-40B4-BE49-F238E27FC236}">
                <a16:creationId xmlns:a16="http://schemas.microsoft.com/office/drawing/2014/main" id="{D60C1775-A24C-4C79-A9F4-59AFED7956AE}"/>
              </a:ext>
            </a:extLst>
          </p:cNvPr>
          <p:cNvSpPr>
            <a:spLocks xmlns:a="http://schemas.openxmlformats.org/drawingml/2006/main" noGrp="1"/>
          </p:cNvSpPr>
          <p:nvPr/>
        </p:nvSpPr>
        <p:spPr>
          <a:xfrm xmlns:a="http://schemas.openxmlformats.org/drawingml/2006/main">
            <a:off x="552450" y="11620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A8B8CD"/>
                </a:solidFill>
                <a:latin typeface="Malgun Gothic"/>
                <a:ea typeface="Malgun Gothic"/>
                <a:cs typeface="Malgun Gothic"/>
              </a:defRPr>
            </a:defPPr>
          </a:lstStyle>
          <a:p xmlns:a="http://schemas.openxmlformats.org/drawingml/2006/main">
            <a:pPr>
              <a:defRPr sz="1725" b="0">
                <a:solidFill>
                  <a:srgbClr val="A8B8CD"/>
                </a:solidFill>
                <a:latin typeface="Malgun Gothic"/>
                <a:ea typeface="Malgun Gothic"/>
                <a:cs typeface="Malgun Gothic"/>
              </a:defRPr>
            </a:pPr>
            <a:r>
              <a:rPr sz="1725" b="0">
                <a:solidFill>
                  <a:srgbClr val="A8B8CD"/>
                </a:solidFill>
                <a:latin typeface="Malgun Gothic"/>
                <a:ea typeface="Malgun Gothic"/>
                <a:cs typeface="Malgun Gothic"/>
              </a:rPr>
              <a:t>입력은 RGB 웹캠, 핵심 과제는 의도한 동작의 구분</a:t>
            </a:r>
          </a:p>
        </p:txBody>
      </p:sp>
      <p:sp>
        <p:nvSpPr>
          <p:cNvPr id="3" name="">
            <a:extLst xmlns:a="http://schemas.openxmlformats.org/drawingml/2006/main">
              <a:ext uri="{FF2B5EF4-FFF2-40B4-BE49-F238E27FC236}">
                <a16:creationId xmlns:a16="http://schemas.microsoft.com/office/drawing/2014/main" id="{B3311C9B-328A-4A22-9E0B-B3FD920B2D4E}"/>
              </a:ext>
            </a:extLst>
          </p:cNvPr>
          <p:cNvSpPr>
            <a:spLocks xmlns:a="http://schemas.openxmlformats.org/drawingml/2006/main" noGrp="1"/>
          </p:cNvSpPr>
          <p:nvPr/>
        </p:nvSpPr>
        <p:spPr>
          <a:xfrm xmlns:a="http://schemas.openxmlformats.org/drawingml/2006/main">
            <a:off x="533400" y="6191250"/>
            <a:ext cx="11125200" cy="19050"/>
          </a:xfrm>
          <a:prstGeom xmlns:a="http://schemas.openxmlformats.org/drawingml/2006/main" prst="rect">
            <a:avLst/>
          </a:prstGeom>
          <a:solidFill xmlns:a="http://schemas.openxmlformats.org/drawingml/2006/main">
            <a:srgbClr val="31415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9244788-4030-4B0F-AB76-7C577D1C0583}"/>
              </a:ext>
            </a:extLst>
          </p:cNvPr>
          <p:cNvSpPr>
            <a:spLocks xmlns:a="http://schemas.openxmlformats.org/drawingml/2006/main" noGrp="1"/>
          </p:cNvSpPr>
          <p:nvPr/>
        </p:nvSpPr>
        <p:spPr>
          <a:xfrm xmlns:a="http://schemas.openxmlformats.org/drawingml/2006/main">
            <a:off x="5524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A8B8CD"/>
                </a:solidFill>
                <a:latin typeface="Malgun Gothic"/>
                <a:ea typeface="Malgun Gothic"/>
                <a:cs typeface="Malgun Gothic"/>
              </a:defRPr>
            </a:defPPr>
          </a:lstStyle>
          <a:p xmlns:a="http://schemas.openxmlformats.org/drawingml/2006/main">
            <a:pPr>
              <a:defRPr sz="1050" b="0">
                <a:solidFill>
                  <a:srgbClr val="A8B8CD"/>
                </a:solidFill>
                <a:latin typeface="Malgun Gothic"/>
                <a:ea typeface="Malgun Gothic"/>
                <a:cs typeface="Malgun Gothic"/>
              </a:defRPr>
            </a:pPr>
            <a:r>
              <a:rPr sz="1050" b="0">
                <a:solidFill>
                  <a:srgbClr val="A8B8CD"/>
                </a:solidFill>
                <a:latin typeface="Malgun Gothic"/>
                <a:ea typeface="Malgun Gothic"/>
                <a:cs typeface="Malgun Gothic"/>
              </a:rPr>
              <a:t>ELEMENTAL BENDER · 2조 송기훈 · 최원제</a:t>
            </a:r>
          </a:p>
        </p:txBody>
      </p:sp>
      <p:sp>
        <p:nvSpPr>
          <p:cNvPr id="5" name="">
            <a:extLst xmlns:a="http://schemas.openxmlformats.org/drawingml/2006/main">
              <a:ext uri="{FF2B5EF4-FFF2-40B4-BE49-F238E27FC236}">
                <a16:creationId xmlns:a16="http://schemas.microsoft.com/office/drawing/2014/main" id="{5997EA61-B40B-49D7-BA01-471E9ED7D182}"/>
              </a:ext>
            </a:extLst>
          </p:cNvPr>
          <p:cNvSpPr>
            <a:spLocks xmlns:a="http://schemas.openxmlformats.org/drawingml/2006/main" noGrp="1"/>
          </p:cNvSpPr>
          <p:nvPr/>
        </p:nvSpPr>
        <p:spPr>
          <a:xfrm xmlns:a="http://schemas.openxmlformats.org/drawingml/2006/main">
            <a:off x="11144250" y="6334125"/>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A8B8CD"/>
                </a:solidFill>
                <a:latin typeface="Malgun Gothic"/>
                <a:ea typeface="Malgun Gothic"/>
                <a:cs typeface="Malgun Gothic"/>
              </a:defRPr>
            </a:defPPr>
          </a:lstStyle>
          <a:p xmlns:a="http://schemas.openxmlformats.org/drawingml/2006/main">
            <a:pPr>
              <a:defRPr sz="1350" b="0">
                <a:solidFill>
                  <a:srgbClr val="A8B8CD"/>
                </a:solidFill>
                <a:latin typeface="Malgun Gothic"/>
                <a:ea typeface="Malgun Gothic"/>
                <a:cs typeface="Malgun Gothic"/>
              </a:defRPr>
            </a:pPr>
            <a:r>
              <a:rPr sz="1350" b="0">
                <a:solidFill>
                  <a:srgbClr val="A8B8CD"/>
                </a:solidFill>
                <a:latin typeface="Malgun Gothic"/>
                <a:ea typeface="Malgun Gothic"/>
                <a:cs typeface="Malgun Gothic"/>
              </a:rPr>
              <a:t>02</a:t>
            </a:r>
          </a:p>
        </p:txBody>
      </p:sp>
      <p:sp>
        <p:nvSpPr>
          <p:cNvPr id="6" name="">
            <a:extLst xmlns:a="http://schemas.openxmlformats.org/drawingml/2006/main">
              <a:ext uri="{FF2B5EF4-FFF2-40B4-BE49-F238E27FC236}">
                <a16:creationId xmlns:a16="http://schemas.microsoft.com/office/drawing/2014/main" id="{CA991C9F-5F38-4BC2-9715-F19F25802AC6}"/>
              </a:ext>
            </a:extLst>
          </p:cNvPr>
          <p:cNvSpPr>
            <a:spLocks xmlns:a="http://schemas.openxmlformats.org/drawingml/2006/main" noGrp="1"/>
          </p:cNvSpPr>
          <p:nvPr/>
        </p:nvSpPr>
        <p:spPr>
          <a:xfrm xmlns:a="http://schemas.openxmlformats.org/drawingml/2006/main">
            <a:off x="552450" y="200025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73B8FF"/>
                </a:solidFill>
                <a:latin typeface="Malgun Gothic"/>
                <a:ea typeface="Malgun Gothic"/>
                <a:cs typeface="Malgun Gothic"/>
              </a:defRPr>
            </a:defPPr>
          </a:lstStyle>
          <a:p xmlns:a="http://schemas.openxmlformats.org/drawingml/2006/main">
            <a:pPr>
              <a:defRPr sz="2250" b="1">
                <a:solidFill>
                  <a:srgbClr val="73B8FF"/>
                </a:solidFill>
                <a:latin typeface="Malgun Gothic"/>
                <a:ea typeface="Malgun Gothic"/>
                <a:cs typeface="Malgun Gothic"/>
              </a:defRPr>
            </a:pPr>
            <a:r>
              <a:rPr sz="2250" b="1">
                <a:solidFill>
                  <a:srgbClr val="73B8FF"/>
                </a:solidFill>
                <a:latin typeface="Malgun Gothic"/>
                <a:ea typeface="Malgun Gothic"/>
                <a:cs typeface="Malgun Gothic"/>
              </a:rPr>
              <a:t>입력</a:t>
            </a:r>
          </a:p>
        </p:txBody>
      </p:sp>
      <p:sp>
        <p:nvSpPr>
          <p:cNvPr id="7" name="">
            <a:extLst xmlns:a="http://schemas.openxmlformats.org/drawingml/2006/main">
              <a:ext uri="{FF2B5EF4-FFF2-40B4-BE49-F238E27FC236}">
                <a16:creationId xmlns:a16="http://schemas.microsoft.com/office/drawing/2014/main" id="{D7665049-54EE-4757-9514-EAF9E972FABD}"/>
              </a:ext>
            </a:extLst>
          </p:cNvPr>
          <p:cNvSpPr>
            <a:spLocks xmlns:a="http://schemas.openxmlformats.org/drawingml/2006/main" noGrp="1"/>
          </p:cNvSpPr>
          <p:nvPr/>
        </p:nvSpPr>
        <p:spPr>
          <a:xfrm xmlns:a="http://schemas.openxmlformats.org/drawingml/2006/main">
            <a:off x="552450" y="2571750"/>
            <a:ext cx="3286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3F6FA"/>
                </a:solidFill>
                <a:latin typeface="Malgun Gothic"/>
                <a:ea typeface="Malgun Gothic"/>
                <a:cs typeface="Malgun Gothic"/>
              </a:defRPr>
            </a:defPPr>
          </a:lstStyle>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양손 관절 위치</a:t>
            </a:r>
          </a:p>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펼침·주먹·V 손모양</a:t>
            </a:r>
          </a:p>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시간에 따른 이동</a:t>
            </a:r>
          </a:p>
        </p:txBody>
      </p:sp>
      <p:sp>
        <p:nvSpPr>
          <p:cNvPr id="8" name="">
            <a:extLst xmlns:a="http://schemas.openxmlformats.org/drawingml/2006/main">
              <a:ext uri="{FF2B5EF4-FFF2-40B4-BE49-F238E27FC236}">
                <a16:creationId xmlns:a16="http://schemas.microsoft.com/office/drawing/2014/main" id="{58BC7C34-1C51-4E7E-8204-868DC1544558}"/>
              </a:ext>
            </a:extLst>
          </p:cNvPr>
          <p:cNvSpPr>
            <a:spLocks xmlns:a="http://schemas.openxmlformats.org/drawingml/2006/main" noGrp="1"/>
          </p:cNvSpPr>
          <p:nvPr/>
        </p:nvSpPr>
        <p:spPr>
          <a:xfrm xmlns:a="http://schemas.openxmlformats.org/drawingml/2006/main">
            <a:off x="4362450" y="2000250"/>
            <a:ext cx="3476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82D9B4"/>
                </a:solidFill>
                <a:latin typeface="Malgun Gothic"/>
                <a:ea typeface="Malgun Gothic"/>
                <a:cs typeface="Malgun Gothic"/>
              </a:defRPr>
            </a:defPPr>
          </a:lstStyle>
          <a:p xmlns:a="http://schemas.openxmlformats.org/drawingml/2006/main">
            <a:pPr>
              <a:defRPr sz="2250" b="1">
                <a:solidFill>
                  <a:srgbClr val="82D9B4"/>
                </a:solidFill>
                <a:latin typeface="Malgun Gothic"/>
                <a:ea typeface="Malgun Gothic"/>
                <a:cs typeface="Malgun Gothic"/>
              </a:defRPr>
            </a:pPr>
            <a:r>
              <a:rPr sz="2250" b="1">
                <a:solidFill>
                  <a:srgbClr val="82D9B4"/>
                </a:solidFill>
                <a:latin typeface="Malgun Gothic"/>
                <a:ea typeface="Malgun Gothic"/>
                <a:cs typeface="Malgun Gothic"/>
              </a:rPr>
              <a:t>컴퓨터비전 문제</a:t>
            </a:r>
          </a:p>
        </p:txBody>
      </p:sp>
      <p:sp>
        <p:nvSpPr>
          <p:cNvPr id="9" name="">
            <a:extLst xmlns:a="http://schemas.openxmlformats.org/drawingml/2006/main">
              <a:ext uri="{FF2B5EF4-FFF2-40B4-BE49-F238E27FC236}">
                <a16:creationId xmlns:a16="http://schemas.microsoft.com/office/drawing/2014/main" id="{D029EBA9-9C7B-4A99-AD55-564FA8F4671F}"/>
              </a:ext>
            </a:extLst>
          </p:cNvPr>
          <p:cNvSpPr>
            <a:spLocks xmlns:a="http://schemas.openxmlformats.org/drawingml/2006/main" noGrp="1"/>
          </p:cNvSpPr>
          <p:nvPr/>
        </p:nvSpPr>
        <p:spPr>
          <a:xfrm xmlns:a="http://schemas.openxmlformats.org/drawingml/2006/main">
            <a:off x="4362450" y="2571750"/>
            <a:ext cx="3476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3F6FA"/>
                </a:solidFill>
                <a:latin typeface="Malgun Gothic"/>
                <a:ea typeface="Malgun Gothic"/>
                <a:cs typeface="Malgun Gothic"/>
              </a:defRPr>
            </a:defPPr>
          </a:lstStyle>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정적 자세와 궤적 결합</a:t>
            </a:r>
          </a:p>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공격·방어 8동작 + NONE</a:t>
            </a:r>
          </a:p>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가림·거리·조명 대응</a:t>
            </a:r>
          </a:p>
        </p:txBody>
      </p:sp>
      <p:sp>
        <p:nvSpPr>
          <p:cNvPr id="10" name="">
            <a:extLst xmlns:a="http://schemas.openxmlformats.org/drawingml/2006/main">
              <a:ext uri="{FF2B5EF4-FFF2-40B4-BE49-F238E27FC236}">
                <a16:creationId xmlns:a16="http://schemas.microsoft.com/office/drawing/2014/main" id="{93E0742D-20FC-44BE-B38B-163376FC2EF9}"/>
              </a:ext>
            </a:extLst>
          </p:cNvPr>
          <p:cNvSpPr>
            <a:spLocks xmlns:a="http://schemas.openxmlformats.org/drawingml/2006/main" noGrp="1"/>
          </p:cNvSpPr>
          <p:nvPr/>
        </p:nvSpPr>
        <p:spPr>
          <a:xfrm xmlns:a="http://schemas.openxmlformats.org/drawingml/2006/main">
            <a:off x="8305800" y="200025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F5A677"/>
                </a:solidFill>
                <a:latin typeface="Malgun Gothic"/>
                <a:ea typeface="Malgun Gothic"/>
                <a:cs typeface="Malgun Gothic"/>
              </a:defRPr>
            </a:defPPr>
          </a:lstStyle>
          <a:p xmlns:a="http://schemas.openxmlformats.org/drawingml/2006/main">
            <a:pPr>
              <a:defRPr sz="2250" b="1">
                <a:solidFill>
                  <a:srgbClr val="F5A677"/>
                </a:solidFill>
                <a:latin typeface="Malgun Gothic"/>
                <a:ea typeface="Malgun Gothic"/>
                <a:cs typeface="Malgun Gothic"/>
              </a:defRPr>
            </a:pPr>
            <a:r>
              <a:rPr sz="2250" b="1">
                <a:solidFill>
                  <a:srgbClr val="F5A677"/>
                </a:solidFill>
                <a:latin typeface="Malgun Gothic"/>
                <a:ea typeface="Malgun Gothic"/>
                <a:cs typeface="Malgun Gothic"/>
              </a:rPr>
              <a:t>출력</a:t>
            </a:r>
          </a:p>
        </p:txBody>
      </p:sp>
      <p:sp>
        <p:nvSpPr>
          <p:cNvPr id="11" name="">
            <a:extLst xmlns:a="http://schemas.openxmlformats.org/drawingml/2006/main">
              <a:ext uri="{FF2B5EF4-FFF2-40B4-BE49-F238E27FC236}">
                <a16:creationId xmlns:a16="http://schemas.microsoft.com/office/drawing/2014/main" id="{E47AECF5-EBD2-4F1A-AE43-8AC313D73EBD}"/>
              </a:ext>
            </a:extLst>
          </p:cNvPr>
          <p:cNvSpPr>
            <a:spLocks xmlns:a="http://schemas.openxmlformats.org/drawingml/2006/main" noGrp="1"/>
          </p:cNvSpPr>
          <p:nvPr/>
        </p:nvSpPr>
        <p:spPr>
          <a:xfrm xmlns:a="http://schemas.openxmlformats.org/drawingml/2006/main">
            <a:off x="8305800" y="2571750"/>
            <a:ext cx="3333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3F6FA"/>
                </a:solidFill>
                <a:latin typeface="Malgun Gothic"/>
                <a:ea typeface="Malgun Gothic"/>
                <a:cs typeface="Malgun Gothic"/>
              </a:defRPr>
            </a:defPPr>
          </a:lstStyle>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원소·행동 결과 전달</a:t>
            </a:r>
          </a:p>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적과 고정 거리 대결</a:t>
            </a:r>
          </a:p>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상성 방어 후 반격</a:t>
            </a:r>
          </a:p>
        </p:txBody>
      </p:sp>
      <p:sp>
        <p:nvSpPr>
          <p:cNvPr id="12" name="">
            <a:extLst xmlns:a="http://schemas.openxmlformats.org/drawingml/2006/main">
              <a:ext uri="{FF2B5EF4-FFF2-40B4-BE49-F238E27FC236}">
                <a16:creationId xmlns:a16="http://schemas.microsoft.com/office/drawing/2014/main" id="{EDE7894A-4C9E-4667-9E6E-0D9F8EAF0F92}"/>
              </a:ext>
            </a:extLst>
          </p:cNvPr>
          <p:cNvSpPr>
            <a:spLocks xmlns:a="http://schemas.openxmlformats.org/drawingml/2006/main" noGrp="1"/>
          </p:cNvSpPr>
          <p:nvPr/>
        </p:nvSpPr>
        <p:spPr>
          <a:xfrm xmlns:a="http://schemas.openxmlformats.org/drawingml/2006/main">
            <a:off x="552450" y="50006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F3F6FA"/>
                </a:solidFill>
                <a:latin typeface="Malgun Gothic"/>
                <a:ea typeface="Malgun Gothic"/>
                <a:cs typeface="Malgun Gothic"/>
              </a:defRPr>
            </a:defPPr>
          </a:lstStyle>
          <a:p xmlns:a="http://schemas.openxmlformats.org/drawingml/2006/main">
            <a:pPr>
              <a:defRPr sz="2100" b="1">
                <a:solidFill>
                  <a:srgbClr val="F3F6FA"/>
                </a:solidFill>
                <a:latin typeface="Malgun Gothic"/>
                <a:ea typeface="Malgun Gothic"/>
                <a:cs typeface="Malgun Gothic"/>
              </a:defRPr>
            </a:pPr>
            <a:r>
              <a:rPr sz="2100" b="1">
                <a:solidFill>
                  <a:srgbClr val="F3F6FA"/>
                </a:solidFill>
                <a:latin typeface="Malgun Gothic"/>
                <a:ea typeface="Malgun Gothic"/>
                <a:cs typeface="Malgun Gothic"/>
              </a:rPr>
              <a:t>연구 질문  |  사용자별로 다른 손동작을 낮은 오발동률로 구분할 수 있는가?</a:t>
            </a:r>
          </a:p>
        </p:txBody>
      </p:sp>
    </p:spTree>
    <p:extLst>
      <p:ext uri="{BB962C8B-B14F-4D97-AF65-F5344CB8AC3E}">
        <p14:creationId xmlns:p14="http://schemas.microsoft.com/office/powerpoint/2010/main" val="982397552"/>
      </p:ext>
    </p:extLst>
  </p:cSld>
</p:sld>
</file>

<file path=ppt/slides/slide3.xml><?xml version="1.0" encoding="utf-8"?>
<p:sld xmlns:p="http://schemas.openxmlformats.org/presentationml/2006/main">
  <p:cSld>
    <p:bg>
      <p:bgPr>
        <a:solidFill xmlns:a="http://schemas.openxmlformats.org/drawingml/2006/main">
          <a:srgbClr val="0D172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A212B2C-1E80-49F1-BC85-1A87B71641AC}"/>
              </a:ext>
            </a:extLst>
          </p:cNvPr>
          <p:cNvSpPr>
            <a:spLocks xmlns:a="http://schemas.openxmlformats.org/drawingml/2006/main" noGrp="1"/>
          </p:cNvSpPr>
          <p:nvPr/>
        </p:nvSpPr>
        <p:spPr>
          <a:xfrm xmlns:a="http://schemas.openxmlformats.org/drawingml/2006/main">
            <a:off x="533400" y="41910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F3F6FA"/>
                </a:solidFill>
                <a:latin typeface="Malgun Gothic"/>
                <a:ea typeface="Malgun Gothic"/>
                <a:cs typeface="Malgun Gothic"/>
              </a:defRPr>
            </a:defPPr>
          </a:lstStyle>
          <a:p xmlns:a="http://schemas.openxmlformats.org/drawingml/2006/main">
            <a:pPr>
              <a:defRPr sz="3150" b="1">
                <a:solidFill>
                  <a:srgbClr val="F3F6FA"/>
                </a:solidFill>
                <a:latin typeface="Malgun Gothic"/>
                <a:ea typeface="Malgun Gothic"/>
                <a:cs typeface="Malgun Gothic"/>
              </a:defRPr>
            </a:pPr>
            <a:r>
              <a:rPr sz="3150" b="1">
                <a:solidFill>
                  <a:srgbClr val="F3F6FA"/>
                </a:solidFill>
                <a:latin typeface="Malgun Gothic"/>
                <a:ea typeface="Malgun Gothic"/>
                <a:cs typeface="Malgun Gothic"/>
              </a:rPr>
              <a:t>구현 예시: 적의 공격을 읽고 방어한 뒤 반격</a:t>
            </a:r>
          </a:p>
        </p:txBody>
      </p:sp>
      <p:sp>
        <p:nvSpPr>
          <p:cNvPr id="2" name="">
            <a:extLst xmlns:a="http://schemas.openxmlformats.org/drawingml/2006/main">
              <a:ext uri="{FF2B5EF4-FFF2-40B4-BE49-F238E27FC236}">
                <a16:creationId xmlns:a16="http://schemas.microsoft.com/office/drawing/2014/main" id="{CC408C73-CE53-4E02-860F-82A867CD6D54}"/>
              </a:ext>
            </a:extLst>
          </p:cNvPr>
          <p:cNvSpPr>
            <a:spLocks xmlns:a="http://schemas.openxmlformats.org/drawingml/2006/main" noGrp="1"/>
          </p:cNvSpPr>
          <p:nvPr/>
        </p:nvSpPr>
        <p:spPr>
          <a:xfrm xmlns:a="http://schemas.openxmlformats.org/drawingml/2006/main">
            <a:off x="552450" y="11620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A8B8CD"/>
                </a:solidFill>
                <a:latin typeface="Malgun Gothic"/>
                <a:ea typeface="Malgun Gothic"/>
                <a:cs typeface="Malgun Gothic"/>
              </a:defRPr>
            </a:defPPr>
          </a:lstStyle>
          <a:p xmlns:a="http://schemas.openxmlformats.org/drawingml/2006/main">
            <a:pPr>
              <a:defRPr sz="1725" b="0">
                <a:solidFill>
                  <a:srgbClr val="A8B8CD"/>
                </a:solidFill>
                <a:latin typeface="Malgun Gothic"/>
                <a:ea typeface="Malgun Gothic"/>
                <a:cs typeface="Malgun Gothic"/>
              </a:defRPr>
            </a:pPr>
            <a:r>
              <a:rPr sz="1725" b="0">
                <a:solidFill>
                  <a:srgbClr val="A8B8CD"/>
                </a:solidFill>
                <a:latin typeface="Malgun Gothic"/>
                <a:ea typeface="Malgun Gothic"/>
                <a:cs typeface="Malgun Gothic"/>
              </a:rPr>
              <a:t>이미 구현한 화면과 앞으로 연결할 전투 규칙을 구분</a:t>
            </a:r>
          </a:p>
        </p:txBody>
      </p:sp>
      <p:sp>
        <p:nvSpPr>
          <p:cNvPr id="3" name="">
            <a:extLst xmlns:a="http://schemas.openxmlformats.org/drawingml/2006/main">
              <a:ext uri="{FF2B5EF4-FFF2-40B4-BE49-F238E27FC236}">
                <a16:creationId xmlns:a16="http://schemas.microsoft.com/office/drawing/2014/main" id="{73374DD1-A5E8-4D72-9A1E-5AD2BC2886E0}"/>
              </a:ext>
            </a:extLst>
          </p:cNvPr>
          <p:cNvSpPr>
            <a:spLocks xmlns:a="http://schemas.openxmlformats.org/drawingml/2006/main" noGrp="1"/>
          </p:cNvSpPr>
          <p:nvPr/>
        </p:nvSpPr>
        <p:spPr>
          <a:xfrm xmlns:a="http://schemas.openxmlformats.org/drawingml/2006/main">
            <a:off x="533400" y="6191250"/>
            <a:ext cx="11125200" cy="19050"/>
          </a:xfrm>
          <a:prstGeom xmlns:a="http://schemas.openxmlformats.org/drawingml/2006/main" prst="rect">
            <a:avLst/>
          </a:prstGeom>
          <a:solidFill xmlns:a="http://schemas.openxmlformats.org/drawingml/2006/main">
            <a:srgbClr val="31415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CA5DD1D-7880-4DB2-971F-2CFB400E2779}"/>
              </a:ext>
            </a:extLst>
          </p:cNvPr>
          <p:cNvSpPr>
            <a:spLocks xmlns:a="http://schemas.openxmlformats.org/drawingml/2006/main" noGrp="1"/>
          </p:cNvSpPr>
          <p:nvPr/>
        </p:nvSpPr>
        <p:spPr>
          <a:xfrm xmlns:a="http://schemas.openxmlformats.org/drawingml/2006/main">
            <a:off x="5524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A8B8CD"/>
                </a:solidFill>
                <a:latin typeface="Malgun Gothic"/>
                <a:ea typeface="Malgun Gothic"/>
                <a:cs typeface="Malgun Gothic"/>
              </a:defRPr>
            </a:defPPr>
          </a:lstStyle>
          <a:p xmlns:a="http://schemas.openxmlformats.org/drawingml/2006/main">
            <a:pPr>
              <a:defRPr sz="1050" b="0">
                <a:solidFill>
                  <a:srgbClr val="A8B8CD"/>
                </a:solidFill>
                <a:latin typeface="Malgun Gothic"/>
                <a:ea typeface="Malgun Gothic"/>
                <a:cs typeface="Malgun Gothic"/>
              </a:defRPr>
            </a:pPr>
            <a:r>
              <a:rPr sz="1050" b="0">
                <a:solidFill>
                  <a:srgbClr val="A8B8CD"/>
                </a:solidFill>
                <a:latin typeface="Malgun Gothic"/>
                <a:ea typeface="Malgun Gothic"/>
                <a:cs typeface="Malgun Gothic"/>
              </a:rPr>
              <a:t>ELEMENTAL BENDER · 2조 송기훈 · 최원제</a:t>
            </a:r>
          </a:p>
        </p:txBody>
      </p:sp>
      <p:sp>
        <p:nvSpPr>
          <p:cNvPr id="5" name="">
            <a:extLst xmlns:a="http://schemas.openxmlformats.org/drawingml/2006/main">
              <a:ext uri="{FF2B5EF4-FFF2-40B4-BE49-F238E27FC236}">
                <a16:creationId xmlns:a16="http://schemas.microsoft.com/office/drawing/2014/main" id="{F65B65B0-EAB6-48D9-8466-ED26133F8975}"/>
              </a:ext>
            </a:extLst>
          </p:cNvPr>
          <p:cNvSpPr>
            <a:spLocks xmlns:a="http://schemas.openxmlformats.org/drawingml/2006/main" noGrp="1"/>
          </p:cNvSpPr>
          <p:nvPr/>
        </p:nvSpPr>
        <p:spPr>
          <a:xfrm xmlns:a="http://schemas.openxmlformats.org/drawingml/2006/main">
            <a:off x="11144250" y="6334125"/>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A8B8CD"/>
                </a:solidFill>
                <a:latin typeface="Malgun Gothic"/>
                <a:ea typeface="Malgun Gothic"/>
                <a:cs typeface="Malgun Gothic"/>
              </a:defRPr>
            </a:defPPr>
          </a:lstStyle>
          <a:p xmlns:a="http://schemas.openxmlformats.org/drawingml/2006/main">
            <a:pPr>
              <a:defRPr sz="1350" b="0">
                <a:solidFill>
                  <a:srgbClr val="A8B8CD"/>
                </a:solidFill>
                <a:latin typeface="Malgun Gothic"/>
                <a:ea typeface="Malgun Gothic"/>
                <a:cs typeface="Malgun Gothic"/>
              </a:defRPr>
            </a:pPr>
            <a:r>
              <a:rPr sz="1350" b="0">
                <a:solidFill>
                  <a:srgbClr val="A8B8CD"/>
                </a:solidFill>
                <a:latin typeface="Malgun Gothic"/>
                <a:ea typeface="Malgun Gothic"/>
                <a:cs typeface="Malgun Gothic"/>
              </a:rPr>
              <a:t>03</a:t>
            </a:r>
          </a:p>
        </p:txBody>
      </p:sp>
      <p:pic>
        <p:nvPicPr>
          <p:cNvPr id="6" name="">
            <a:extLst xmlns:a="http://schemas.openxmlformats.org/drawingml/2006/main">
              <a:ext uri="{FF2B5EF4-FFF2-40B4-BE49-F238E27FC236}">
                <a16:creationId xmlns:a16="http://schemas.microsoft.com/office/drawing/2014/main" id="{C229655E-B7A3-4376-92C6-0F77D13336F2}"/>
              </a:ext>
            </a:extLst>
          </p:cNvPr>
          <p:cNvPicPr>
            <a:picLocks xmlns:a="http://schemas.openxmlformats.org/drawingml/2006/main" noChangeAspect="1"/>
          </p:cNvPicPr>
          <p:nvPr/>
        </p:nvPicPr>
        <p:blipFill>
          <a:blip xmlns:r="http://schemas.openxmlformats.org/officeDocument/2006/relationships" xmlns:a="http://schemas.openxmlformats.org/drawingml/2006/main" r:embed="Re3febbdefdf546fc"/>
          <a:stretch xmlns:a="http://schemas.openxmlformats.org/drawingml/2006/main"/>
        </p:blipFill>
        <p:spPr>
          <a:xfrm xmlns:a="http://schemas.openxmlformats.org/drawingml/2006/main">
            <a:off x="533400" y="1888331"/>
            <a:ext cx="7239000" cy="407193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18B8917-8C34-4145-9840-83D59C077F16}"/>
              </a:ext>
            </a:extLst>
          </p:cNvPr>
          <p:cNvSpPr>
            <a:spLocks xmlns:a="http://schemas.openxmlformats.org/drawingml/2006/main" noGrp="1"/>
          </p:cNvSpPr>
          <p:nvPr/>
        </p:nvSpPr>
        <p:spPr>
          <a:xfrm xmlns:a="http://schemas.openxmlformats.org/drawingml/2006/main">
            <a:off x="8115300" y="1952625"/>
            <a:ext cx="3524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F5A677"/>
                </a:solidFill>
                <a:latin typeface="Malgun Gothic"/>
                <a:ea typeface="Malgun Gothic"/>
                <a:cs typeface="Malgun Gothic"/>
              </a:defRPr>
            </a:defPPr>
          </a:lstStyle>
          <a:p xmlns:a="http://schemas.openxmlformats.org/drawingml/2006/main">
            <a:pPr>
              <a:defRPr sz="2250" b="1">
                <a:solidFill>
                  <a:srgbClr val="F5A677"/>
                </a:solidFill>
                <a:latin typeface="Malgun Gothic"/>
                <a:ea typeface="Malgun Gothic"/>
                <a:cs typeface="Malgun Gothic"/>
              </a:defRPr>
            </a:pPr>
            <a:r>
              <a:rPr sz="2250" b="1">
                <a:solidFill>
                  <a:srgbClr val="F5A677"/>
                </a:solidFill>
                <a:latin typeface="Malgun Gothic"/>
                <a:ea typeface="Malgun Gothic"/>
                <a:cs typeface="Malgun Gothic"/>
              </a:rPr>
              <a:t>예정된 전투 흐름</a:t>
            </a:r>
          </a:p>
        </p:txBody>
      </p:sp>
      <p:sp>
        <p:nvSpPr>
          <p:cNvPr id="8" name="">
            <a:extLst xmlns:a="http://schemas.openxmlformats.org/drawingml/2006/main">
              <a:ext uri="{FF2B5EF4-FFF2-40B4-BE49-F238E27FC236}">
                <a16:creationId xmlns:a16="http://schemas.microsoft.com/office/drawing/2014/main" id="{ADB82F27-FDBE-4A1F-9BF0-2CBD7A8745CF}"/>
              </a:ext>
            </a:extLst>
          </p:cNvPr>
          <p:cNvSpPr>
            <a:spLocks xmlns:a="http://schemas.openxmlformats.org/drawingml/2006/main" noGrp="1"/>
          </p:cNvSpPr>
          <p:nvPr/>
        </p:nvSpPr>
        <p:spPr>
          <a:xfrm xmlns:a="http://schemas.openxmlformats.org/drawingml/2006/main">
            <a:off x="8115300" y="2524125"/>
            <a:ext cx="3524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3F6FA"/>
                </a:solidFill>
                <a:latin typeface="Malgun Gothic"/>
                <a:ea typeface="Malgun Gothic"/>
                <a:cs typeface="Malgun Gothic"/>
              </a:defRPr>
            </a:defPPr>
          </a:lstStyle>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적의 원소 공격 예고</a:t>
            </a:r>
          </a:p>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 상성에 맞는 방어 동작</a:t>
            </a:r>
          </a:p>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 성공·실패 판정</a:t>
            </a:r>
          </a:p>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 플레이어 원소 공격</a:t>
            </a:r>
          </a:p>
        </p:txBody>
      </p:sp>
      <p:sp>
        <p:nvSpPr>
          <p:cNvPr id="9" name="">
            <a:extLst xmlns:a="http://schemas.openxmlformats.org/drawingml/2006/main">
              <a:ext uri="{FF2B5EF4-FFF2-40B4-BE49-F238E27FC236}">
                <a16:creationId xmlns:a16="http://schemas.microsoft.com/office/drawing/2014/main" id="{54A657CB-FF9B-40EE-9781-853F7062509D}"/>
              </a:ext>
            </a:extLst>
          </p:cNvPr>
          <p:cNvSpPr>
            <a:spLocks xmlns:a="http://schemas.openxmlformats.org/drawingml/2006/main" noGrp="1"/>
          </p:cNvSpPr>
          <p:nvPr/>
        </p:nvSpPr>
        <p:spPr>
          <a:xfrm xmlns:a="http://schemas.openxmlformats.org/drawingml/2006/main">
            <a:off x="8115300" y="4810125"/>
            <a:ext cx="352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A8B8CD"/>
                </a:solidFill>
                <a:latin typeface="Malgun Gothic"/>
                <a:ea typeface="Malgun Gothic"/>
                <a:cs typeface="Malgun Gothic"/>
              </a:defRPr>
            </a:defPPr>
          </a:lstStyle>
          <a:p xmlns:a="http://schemas.openxmlformats.org/drawingml/2006/main">
            <a:pPr>
              <a:defRPr sz="1650" b="0">
                <a:solidFill>
                  <a:srgbClr val="A8B8CD"/>
                </a:solidFill>
                <a:latin typeface="Malgun Gothic"/>
                <a:ea typeface="Malgun Gothic"/>
                <a:cs typeface="Malgun Gothic"/>
              </a:defRPr>
            </a:pPr>
            <a:r>
              <a:rPr sz="1650" b="0">
                <a:solidFill>
                  <a:srgbClr val="A8B8CD"/>
                </a:solidFill>
                <a:latin typeface="Malgun Gothic"/>
                <a:ea typeface="Malgun Gothic"/>
                <a:cs typeface="Malgun Gothic"/>
              </a:rPr>
              <a:t>상성표·공격/방어 제스처·판정 시간은</a:t>
            </a:r>
          </a:p>
          <a:p xmlns:a="http://schemas.openxmlformats.org/drawingml/2006/main">
            <a:pPr>
              <a:defRPr sz="1650" b="0">
                <a:solidFill>
                  <a:srgbClr val="A8B8CD"/>
                </a:solidFill>
                <a:latin typeface="Malgun Gothic"/>
                <a:ea typeface="Malgun Gothic"/>
                <a:cs typeface="Malgun Gothic"/>
              </a:defRPr>
            </a:pPr>
            <a:r>
              <a:rPr sz="1650" b="0">
                <a:solidFill>
                  <a:srgbClr val="A8B8CD"/>
                </a:solidFill>
                <a:latin typeface="Malgun Gothic"/>
                <a:ea typeface="Malgun Gothic"/>
                <a:cs typeface="Malgun Gothic"/>
              </a:rPr>
              <a:t>아직 미정이며 이후 확정합니다</a:t>
            </a:r>
          </a:p>
        </p:txBody>
      </p:sp>
    </p:spTree>
    <p:extLst>
      <p:ext uri="{BB962C8B-B14F-4D97-AF65-F5344CB8AC3E}">
        <p14:creationId xmlns:p14="http://schemas.microsoft.com/office/powerpoint/2010/main" val="982901884"/>
      </p:ext>
    </p:extLst>
  </p:cSld>
</p:sld>
</file>

<file path=ppt/slides/slide4.xml><?xml version="1.0" encoding="utf-8"?>
<p:sld xmlns:p="http://schemas.openxmlformats.org/presentationml/2006/main">
  <p:cSld>
    <p:bg>
      <p:bgPr>
        <a:solidFill xmlns:a="http://schemas.openxmlformats.org/drawingml/2006/main">
          <a:srgbClr val="0D172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A74C7D9-1752-4035-A138-55D632824D84}"/>
              </a:ext>
            </a:extLst>
          </p:cNvPr>
          <p:cNvSpPr>
            <a:spLocks xmlns:a="http://schemas.openxmlformats.org/drawingml/2006/main" noGrp="1"/>
          </p:cNvSpPr>
          <p:nvPr/>
        </p:nvSpPr>
        <p:spPr>
          <a:xfrm xmlns:a="http://schemas.openxmlformats.org/drawingml/2006/main">
            <a:off x="533400" y="41910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F3F6FA"/>
                </a:solidFill>
                <a:latin typeface="Malgun Gothic"/>
                <a:ea typeface="Malgun Gothic"/>
                <a:cs typeface="Malgun Gothic"/>
              </a:defRPr>
            </a:defPPr>
          </a:lstStyle>
          <a:p xmlns:a="http://schemas.openxmlformats.org/drawingml/2006/main">
            <a:pPr>
              <a:defRPr sz="3150" b="1">
                <a:solidFill>
                  <a:srgbClr val="F3F6FA"/>
                </a:solidFill>
                <a:latin typeface="Malgun Gothic"/>
                <a:ea typeface="Malgun Gothic"/>
                <a:cs typeface="Malgun Gothic"/>
              </a:defRPr>
            </a:pPr>
            <a:r>
              <a:rPr sz="3150" b="1">
                <a:solidFill>
                  <a:srgbClr val="F3F6FA"/>
                </a:solidFill>
                <a:latin typeface="Malgun Gothic"/>
                <a:ea typeface="Malgun Gothic"/>
                <a:cs typeface="Malgun Gothic"/>
              </a:rPr>
              <a:t>시스템 구조: 인식 결과와 미리보기 영상을 분리</a:t>
            </a:r>
          </a:p>
        </p:txBody>
      </p:sp>
      <p:sp>
        <p:nvSpPr>
          <p:cNvPr id="2" name="">
            <a:extLst xmlns:a="http://schemas.openxmlformats.org/drawingml/2006/main">
              <a:ext uri="{FF2B5EF4-FFF2-40B4-BE49-F238E27FC236}">
                <a16:creationId xmlns:a16="http://schemas.microsoft.com/office/drawing/2014/main" id="{7E3AB2B1-701A-4D38-9191-7BC0F8116D1C}"/>
              </a:ext>
            </a:extLst>
          </p:cNvPr>
          <p:cNvSpPr>
            <a:spLocks xmlns:a="http://schemas.openxmlformats.org/drawingml/2006/main" noGrp="1"/>
          </p:cNvSpPr>
          <p:nvPr/>
        </p:nvSpPr>
        <p:spPr>
          <a:xfrm xmlns:a="http://schemas.openxmlformats.org/drawingml/2006/main">
            <a:off x="552450" y="11620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A8B8CD"/>
                </a:solidFill>
                <a:latin typeface="Malgun Gothic"/>
                <a:ea typeface="Malgun Gothic"/>
                <a:cs typeface="Malgun Gothic"/>
              </a:defRPr>
            </a:defPPr>
          </a:lstStyle>
          <a:p xmlns:a="http://schemas.openxmlformats.org/drawingml/2006/main">
            <a:pPr>
              <a:defRPr sz="1725" b="0">
                <a:solidFill>
                  <a:srgbClr val="A8B8CD"/>
                </a:solidFill>
                <a:latin typeface="Malgun Gothic"/>
                <a:ea typeface="Malgun Gothic"/>
                <a:cs typeface="Malgun Gothic"/>
              </a:defRPr>
            </a:pPr>
            <a:r>
              <a:rPr sz="1725" b="0">
                <a:solidFill>
                  <a:srgbClr val="A8B8CD"/>
                </a:solidFill>
                <a:latin typeface="Malgun Gothic"/>
                <a:ea typeface="Malgun Gothic"/>
                <a:cs typeface="Malgun Gothic"/>
              </a:rPr>
              <a:t>Python은 인식, Unity는 전투 판정과 화면 표시</a:t>
            </a:r>
          </a:p>
        </p:txBody>
      </p:sp>
      <p:sp>
        <p:nvSpPr>
          <p:cNvPr id="3" name="">
            <a:extLst xmlns:a="http://schemas.openxmlformats.org/drawingml/2006/main">
              <a:ext uri="{FF2B5EF4-FFF2-40B4-BE49-F238E27FC236}">
                <a16:creationId xmlns:a16="http://schemas.microsoft.com/office/drawing/2014/main" id="{462DB84E-AEE0-428D-98E3-7C8761A8BFB0}"/>
              </a:ext>
            </a:extLst>
          </p:cNvPr>
          <p:cNvSpPr>
            <a:spLocks xmlns:a="http://schemas.openxmlformats.org/drawingml/2006/main" noGrp="1"/>
          </p:cNvSpPr>
          <p:nvPr/>
        </p:nvSpPr>
        <p:spPr>
          <a:xfrm xmlns:a="http://schemas.openxmlformats.org/drawingml/2006/main">
            <a:off x="533400" y="6191250"/>
            <a:ext cx="11125200" cy="19050"/>
          </a:xfrm>
          <a:prstGeom xmlns:a="http://schemas.openxmlformats.org/drawingml/2006/main" prst="rect">
            <a:avLst/>
          </a:prstGeom>
          <a:solidFill xmlns:a="http://schemas.openxmlformats.org/drawingml/2006/main">
            <a:srgbClr val="31415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73B27FA-3F88-4460-AABA-DD14C2777A0E}"/>
              </a:ext>
            </a:extLst>
          </p:cNvPr>
          <p:cNvSpPr>
            <a:spLocks xmlns:a="http://schemas.openxmlformats.org/drawingml/2006/main" noGrp="1"/>
          </p:cNvSpPr>
          <p:nvPr/>
        </p:nvSpPr>
        <p:spPr>
          <a:xfrm xmlns:a="http://schemas.openxmlformats.org/drawingml/2006/main">
            <a:off x="5524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A8B8CD"/>
                </a:solidFill>
                <a:latin typeface="Malgun Gothic"/>
                <a:ea typeface="Malgun Gothic"/>
                <a:cs typeface="Malgun Gothic"/>
              </a:defRPr>
            </a:defPPr>
          </a:lstStyle>
          <a:p xmlns:a="http://schemas.openxmlformats.org/drawingml/2006/main">
            <a:pPr>
              <a:defRPr sz="1050" b="0">
                <a:solidFill>
                  <a:srgbClr val="A8B8CD"/>
                </a:solidFill>
                <a:latin typeface="Malgun Gothic"/>
                <a:ea typeface="Malgun Gothic"/>
                <a:cs typeface="Malgun Gothic"/>
              </a:defRPr>
            </a:pPr>
            <a:r>
              <a:rPr sz="1050" b="0">
                <a:solidFill>
                  <a:srgbClr val="A8B8CD"/>
                </a:solidFill>
                <a:latin typeface="Malgun Gothic"/>
                <a:ea typeface="Malgun Gothic"/>
                <a:cs typeface="Malgun Gothic"/>
              </a:rPr>
              <a:t>ELEMENTAL BENDER · 2조 송기훈 · 최원제</a:t>
            </a:r>
          </a:p>
        </p:txBody>
      </p:sp>
      <p:sp>
        <p:nvSpPr>
          <p:cNvPr id="5" name="">
            <a:extLst xmlns:a="http://schemas.openxmlformats.org/drawingml/2006/main">
              <a:ext uri="{FF2B5EF4-FFF2-40B4-BE49-F238E27FC236}">
                <a16:creationId xmlns:a16="http://schemas.microsoft.com/office/drawing/2014/main" id="{AE6C247C-F99D-416B-B000-F6748D9F29A2}"/>
              </a:ext>
            </a:extLst>
          </p:cNvPr>
          <p:cNvSpPr>
            <a:spLocks xmlns:a="http://schemas.openxmlformats.org/drawingml/2006/main" noGrp="1"/>
          </p:cNvSpPr>
          <p:nvPr/>
        </p:nvSpPr>
        <p:spPr>
          <a:xfrm xmlns:a="http://schemas.openxmlformats.org/drawingml/2006/main">
            <a:off x="11144250" y="6334125"/>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A8B8CD"/>
                </a:solidFill>
                <a:latin typeface="Malgun Gothic"/>
                <a:ea typeface="Malgun Gothic"/>
                <a:cs typeface="Malgun Gothic"/>
              </a:defRPr>
            </a:defPPr>
          </a:lstStyle>
          <a:p xmlns:a="http://schemas.openxmlformats.org/drawingml/2006/main">
            <a:pPr>
              <a:defRPr sz="1350" b="0">
                <a:solidFill>
                  <a:srgbClr val="A8B8CD"/>
                </a:solidFill>
                <a:latin typeface="Malgun Gothic"/>
                <a:ea typeface="Malgun Gothic"/>
                <a:cs typeface="Malgun Gothic"/>
              </a:defRPr>
            </a:pPr>
            <a:r>
              <a:rPr sz="1350" b="0">
                <a:solidFill>
                  <a:srgbClr val="A8B8CD"/>
                </a:solidFill>
                <a:latin typeface="Malgun Gothic"/>
                <a:ea typeface="Malgun Gothic"/>
                <a:cs typeface="Malgun Gothic"/>
              </a:rPr>
              <a:t>04</a:t>
            </a:r>
          </a:p>
        </p:txBody>
      </p:sp>
      <p:sp>
        <p:nvSpPr>
          <p:cNvPr id="6" name="">
            <a:extLst xmlns:a="http://schemas.openxmlformats.org/drawingml/2006/main">
              <a:ext uri="{FF2B5EF4-FFF2-40B4-BE49-F238E27FC236}">
                <a16:creationId xmlns:a16="http://schemas.microsoft.com/office/drawing/2014/main" id="{94FAD220-5EC5-4DA9-A0D9-B710755CC646}"/>
              </a:ext>
            </a:extLst>
          </p:cNvPr>
          <p:cNvSpPr>
            <a:spLocks xmlns:a="http://schemas.openxmlformats.org/drawingml/2006/main" noGrp="1"/>
          </p:cNvSpPr>
          <p:nvPr/>
        </p:nvSpPr>
        <p:spPr>
          <a:xfrm xmlns:a="http://schemas.openxmlformats.org/drawingml/2006/main">
            <a:off x="552450" y="2076450"/>
            <a:ext cx="2524125" cy="19050"/>
          </a:xfrm>
          <a:prstGeom xmlns:a="http://schemas.openxmlformats.org/drawingml/2006/main" prst="rect">
            <a:avLst/>
          </a:prstGeom>
          <a:solidFill xmlns:a="http://schemas.openxmlformats.org/drawingml/2006/main">
            <a:srgbClr val="73B8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2366711-7994-45D3-A34B-94563ED52C39}"/>
              </a:ext>
            </a:extLst>
          </p:cNvPr>
          <p:cNvSpPr>
            <a:spLocks xmlns:a="http://schemas.openxmlformats.org/drawingml/2006/main" noGrp="1"/>
          </p:cNvSpPr>
          <p:nvPr/>
        </p:nvSpPr>
        <p:spPr>
          <a:xfrm xmlns:a="http://schemas.openxmlformats.org/drawingml/2006/main">
            <a:off x="552450" y="2247900"/>
            <a:ext cx="252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73B8FF"/>
                </a:solidFill>
                <a:latin typeface="Malgun Gothic"/>
                <a:ea typeface="Malgun Gothic"/>
                <a:cs typeface="Malgun Gothic"/>
              </a:defRPr>
            </a:defPPr>
          </a:lstStyle>
          <a:p xmlns:a="http://schemas.openxmlformats.org/drawingml/2006/main">
            <a:pPr>
              <a:defRPr sz="2175" b="1">
                <a:solidFill>
                  <a:srgbClr val="73B8FF"/>
                </a:solidFill>
                <a:latin typeface="Malgun Gothic"/>
                <a:ea typeface="Malgun Gothic"/>
                <a:cs typeface="Malgun Gothic"/>
              </a:defRPr>
            </a:pPr>
            <a:r>
              <a:rPr sz="2175" b="1">
                <a:solidFill>
                  <a:srgbClr val="73B8FF"/>
                </a:solidFill>
                <a:latin typeface="Malgun Gothic"/>
                <a:ea typeface="Malgun Gothic"/>
                <a:cs typeface="Malgun Gothic"/>
              </a:rPr>
              <a:t>RGB 웹캠</a:t>
            </a:r>
          </a:p>
        </p:txBody>
      </p:sp>
      <p:sp>
        <p:nvSpPr>
          <p:cNvPr id="8" name="">
            <a:extLst xmlns:a="http://schemas.openxmlformats.org/drawingml/2006/main">
              <a:ext uri="{FF2B5EF4-FFF2-40B4-BE49-F238E27FC236}">
                <a16:creationId xmlns:a16="http://schemas.microsoft.com/office/drawing/2014/main" id="{41B1245B-EDF2-4C43-9E1E-B779830262A4}"/>
              </a:ext>
            </a:extLst>
          </p:cNvPr>
          <p:cNvSpPr>
            <a:spLocks xmlns:a="http://schemas.openxmlformats.org/drawingml/2006/main" noGrp="1"/>
          </p:cNvSpPr>
          <p:nvPr/>
        </p:nvSpPr>
        <p:spPr>
          <a:xfrm xmlns:a="http://schemas.openxmlformats.org/drawingml/2006/main">
            <a:off x="552450" y="2838450"/>
            <a:ext cx="2524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F3F6FA"/>
                </a:solidFill>
                <a:latin typeface="Malgun Gothic"/>
                <a:ea typeface="Malgun Gothic"/>
                <a:cs typeface="Malgun Gothic"/>
              </a:defRPr>
            </a:defPPr>
          </a:lstStyle>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프레임 읽기</a:t>
            </a:r>
          </a:p>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BGR → RGB</a:t>
            </a:r>
          </a:p>
        </p:txBody>
      </p:sp>
      <p:sp>
        <p:nvSpPr>
          <p:cNvPr id="9" name="">
            <a:extLst xmlns:a="http://schemas.openxmlformats.org/drawingml/2006/main">
              <a:ext uri="{FF2B5EF4-FFF2-40B4-BE49-F238E27FC236}">
                <a16:creationId xmlns:a16="http://schemas.microsoft.com/office/drawing/2014/main" id="{1B518535-995C-43CE-8929-2439226107A0}"/>
              </a:ext>
            </a:extLst>
          </p:cNvPr>
          <p:cNvSpPr>
            <a:spLocks xmlns:a="http://schemas.openxmlformats.org/drawingml/2006/main" noGrp="1"/>
          </p:cNvSpPr>
          <p:nvPr/>
        </p:nvSpPr>
        <p:spPr>
          <a:xfrm xmlns:a="http://schemas.openxmlformats.org/drawingml/2006/main">
            <a:off x="3390900" y="2076450"/>
            <a:ext cx="2524125" cy="19050"/>
          </a:xfrm>
          <a:prstGeom xmlns:a="http://schemas.openxmlformats.org/drawingml/2006/main" prst="rect">
            <a:avLst/>
          </a:prstGeom>
          <a:solidFill xmlns:a="http://schemas.openxmlformats.org/drawingml/2006/main">
            <a:srgbClr val="73B8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A19E506-D62A-4F33-9335-60AD5910F3B8}"/>
              </a:ext>
            </a:extLst>
          </p:cNvPr>
          <p:cNvSpPr>
            <a:spLocks xmlns:a="http://schemas.openxmlformats.org/drawingml/2006/main" noGrp="1"/>
          </p:cNvSpPr>
          <p:nvPr/>
        </p:nvSpPr>
        <p:spPr>
          <a:xfrm xmlns:a="http://schemas.openxmlformats.org/drawingml/2006/main">
            <a:off x="3390900" y="2247900"/>
            <a:ext cx="252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73B8FF"/>
                </a:solidFill>
                <a:latin typeface="Malgun Gothic"/>
                <a:ea typeface="Malgun Gothic"/>
                <a:cs typeface="Malgun Gothic"/>
              </a:defRPr>
            </a:defPPr>
          </a:lstStyle>
          <a:p xmlns:a="http://schemas.openxmlformats.org/drawingml/2006/main">
            <a:pPr>
              <a:defRPr sz="2175" b="1">
                <a:solidFill>
                  <a:srgbClr val="73B8FF"/>
                </a:solidFill>
                <a:latin typeface="Malgun Gothic"/>
                <a:ea typeface="Malgun Gothic"/>
                <a:cs typeface="Malgun Gothic"/>
              </a:defRPr>
            </a:pPr>
            <a:r>
              <a:rPr sz="2175" b="1">
                <a:solidFill>
                  <a:srgbClr val="73B8FF"/>
                </a:solidFill>
                <a:latin typeface="Malgun Gothic"/>
                <a:ea typeface="Malgun Gothic"/>
                <a:cs typeface="Malgun Gothic"/>
              </a:rPr>
              <a:t>MediaPipe</a:t>
            </a:r>
          </a:p>
        </p:txBody>
      </p:sp>
      <p:sp>
        <p:nvSpPr>
          <p:cNvPr id="11" name="">
            <a:extLst xmlns:a="http://schemas.openxmlformats.org/drawingml/2006/main">
              <a:ext uri="{FF2B5EF4-FFF2-40B4-BE49-F238E27FC236}">
                <a16:creationId xmlns:a16="http://schemas.microsoft.com/office/drawing/2014/main" id="{9061BA97-9724-4FFF-8DC4-15CE0752633D}"/>
              </a:ext>
            </a:extLst>
          </p:cNvPr>
          <p:cNvSpPr>
            <a:spLocks xmlns:a="http://schemas.openxmlformats.org/drawingml/2006/main" noGrp="1"/>
          </p:cNvSpPr>
          <p:nvPr/>
        </p:nvSpPr>
        <p:spPr>
          <a:xfrm xmlns:a="http://schemas.openxmlformats.org/drawingml/2006/main">
            <a:off x="3390900" y="2838450"/>
            <a:ext cx="2524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F3F6FA"/>
                </a:solidFill>
                <a:latin typeface="Malgun Gothic"/>
                <a:ea typeface="Malgun Gothic"/>
                <a:cs typeface="Malgun Gothic"/>
              </a:defRPr>
            </a:defPPr>
          </a:lstStyle>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양손 21점씩</a:t>
            </a:r>
          </a:p>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좌표와 추적 결과</a:t>
            </a:r>
          </a:p>
        </p:txBody>
      </p:sp>
      <p:sp>
        <p:nvSpPr>
          <p:cNvPr id="12" name="">
            <a:extLst xmlns:a="http://schemas.openxmlformats.org/drawingml/2006/main">
              <a:ext uri="{FF2B5EF4-FFF2-40B4-BE49-F238E27FC236}">
                <a16:creationId xmlns:a16="http://schemas.microsoft.com/office/drawing/2014/main" id="{F2F54018-2558-4C37-940E-14ED7DBB8864}"/>
              </a:ext>
            </a:extLst>
          </p:cNvPr>
          <p:cNvSpPr>
            <a:spLocks xmlns:a="http://schemas.openxmlformats.org/drawingml/2006/main" noGrp="1"/>
          </p:cNvSpPr>
          <p:nvPr/>
        </p:nvSpPr>
        <p:spPr>
          <a:xfrm xmlns:a="http://schemas.openxmlformats.org/drawingml/2006/main">
            <a:off x="6229350" y="2076450"/>
            <a:ext cx="2524125" cy="19050"/>
          </a:xfrm>
          <a:prstGeom xmlns:a="http://schemas.openxmlformats.org/drawingml/2006/main" prst="rect">
            <a:avLst/>
          </a:prstGeom>
          <a:solidFill xmlns:a="http://schemas.openxmlformats.org/drawingml/2006/main">
            <a:srgbClr val="73B8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7BB0556-D887-41A6-9A09-39691793D3C8}"/>
              </a:ext>
            </a:extLst>
          </p:cNvPr>
          <p:cNvSpPr>
            <a:spLocks xmlns:a="http://schemas.openxmlformats.org/drawingml/2006/main" noGrp="1"/>
          </p:cNvSpPr>
          <p:nvPr/>
        </p:nvSpPr>
        <p:spPr>
          <a:xfrm xmlns:a="http://schemas.openxmlformats.org/drawingml/2006/main">
            <a:off x="6229350" y="2247900"/>
            <a:ext cx="252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73B8FF"/>
                </a:solidFill>
                <a:latin typeface="Malgun Gothic"/>
                <a:ea typeface="Malgun Gothic"/>
                <a:cs typeface="Malgun Gothic"/>
              </a:defRPr>
            </a:defPPr>
          </a:lstStyle>
          <a:p xmlns:a="http://schemas.openxmlformats.org/drawingml/2006/main">
            <a:pPr>
              <a:defRPr sz="2175" b="1">
                <a:solidFill>
                  <a:srgbClr val="73B8FF"/>
                </a:solidFill>
                <a:latin typeface="Malgun Gothic"/>
                <a:ea typeface="Malgun Gothic"/>
                <a:cs typeface="Malgun Gothic"/>
              </a:defRPr>
            </a:pPr>
            <a:r>
              <a:rPr sz="2175" b="1">
                <a:solidFill>
                  <a:srgbClr val="73B8FF"/>
                </a:solidFill>
                <a:latin typeface="Malgun Gothic"/>
                <a:ea typeface="Malgun Gothic"/>
                <a:cs typeface="Malgun Gothic"/>
              </a:rPr>
              <a:t>제스처 판정</a:t>
            </a:r>
          </a:p>
        </p:txBody>
      </p:sp>
      <p:sp>
        <p:nvSpPr>
          <p:cNvPr id="14" name="">
            <a:extLst xmlns:a="http://schemas.openxmlformats.org/drawingml/2006/main">
              <a:ext uri="{FF2B5EF4-FFF2-40B4-BE49-F238E27FC236}">
                <a16:creationId xmlns:a16="http://schemas.microsoft.com/office/drawing/2014/main" id="{CBE23364-84F8-468B-AB4F-90FE4F46965D}"/>
              </a:ext>
            </a:extLst>
          </p:cNvPr>
          <p:cNvSpPr>
            <a:spLocks xmlns:a="http://schemas.openxmlformats.org/drawingml/2006/main" noGrp="1"/>
          </p:cNvSpPr>
          <p:nvPr/>
        </p:nvSpPr>
        <p:spPr>
          <a:xfrm xmlns:a="http://schemas.openxmlformats.org/drawingml/2006/main">
            <a:off x="6229350" y="2838450"/>
            <a:ext cx="2524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F3F6FA"/>
                </a:solidFill>
                <a:latin typeface="Malgun Gothic"/>
                <a:ea typeface="Malgun Gothic"/>
                <a:cs typeface="Malgun Gothic"/>
              </a:defRPr>
            </a:defPPr>
          </a:lstStyle>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손모양·상대 이동</a:t>
            </a:r>
          </a:p>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시간창·중립 복귀</a:t>
            </a:r>
          </a:p>
        </p:txBody>
      </p:sp>
      <p:sp>
        <p:nvSpPr>
          <p:cNvPr id="15" name="">
            <a:extLst xmlns:a="http://schemas.openxmlformats.org/drawingml/2006/main">
              <a:ext uri="{FF2B5EF4-FFF2-40B4-BE49-F238E27FC236}">
                <a16:creationId xmlns:a16="http://schemas.microsoft.com/office/drawing/2014/main" id="{04639682-E3C7-4FDF-AF3D-FB5F266CC947}"/>
              </a:ext>
            </a:extLst>
          </p:cNvPr>
          <p:cNvSpPr>
            <a:spLocks xmlns:a="http://schemas.openxmlformats.org/drawingml/2006/main" noGrp="1"/>
          </p:cNvSpPr>
          <p:nvPr/>
        </p:nvSpPr>
        <p:spPr>
          <a:xfrm xmlns:a="http://schemas.openxmlformats.org/drawingml/2006/main">
            <a:off x="9067800" y="2076450"/>
            <a:ext cx="2524125" cy="19050"/>
          </a:xfrm>
          <a:prstGeom xmlns:a="http://schemas.openxmlformats.org/drawingml/2006/main" prst="rect">
            <a:avLst/>
          </a:prstGeom>
          <a:solidFill xmlns:a="http://schemas.openxmlformats.org/drawingml/2006/main">
            <a:srgbClr val="F5A67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0486CDC-2744-4820-A6B3-1B68A30412E5}"/>
              </a:ext>
            </a:extLst>
          </p:cNvPr>
          <p:cNvSpPr>
            <a:spLocks xmlns:a="http://schemas.openxmlformats.org/drawingml/2006/main" noGrp="1"/>
          </p:cNvSpPr>
          <p:nvPr/>
        </p:nvSpPr>
        <p:spPr>
          <a:xfrm xmlns:a="http://schemas.openxmlformats.org/drawingml/2006/main">
            <a:off x="9067800" y="2247900"/>
            <a:ext cx="252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5A677"/>
                </a:solidFill>
                <a:latin typeface="Malgun Gothic"/>
                <a:ea typeface="Malgun Gothic"/>
                <a:cs typeface="Malgun Gothic"/>
              </a:defRPr>
            </a:defPPr>
          </a:lstStyle>
          <a:p xmlns:a="http://schemas.openxmlformats.org/drawingml/2006/main">
            <a:pPr>
              <a:defRPr sz="2175" b="1">
                <a:solidFill>
                  <a:srgbClr val="F5A677"/>
                </a:solidFill>
                <a:latin typeface="Malgun Gothic"/>
                <a:ea typeface="Malgun Gothic"/>
                <a:cs typeface="Malgun Gothic"/>
              </a:defRPr>
            </a:pPr>
            <a:r>
              <a:rPr sz="2175" b="1">
                <a:solidFill>
                  <a:srgbClr val="F5A677"/>
                </a:solidFill>
                <a:latin typeface="Malgun Gothic"/>
                <a:ea typeface="Malgun Gothic"/>
                <a:cs typeface="Malgun Gothic"/>
              </a:rPr>
              <a:t>Unity 전투</a:t>
            </a:r>
          </a:p>
        </p:txBody>
      </p:sp>
      <p:sp>
        <p:nvSpPr>
          <p:cNvPr id="17" name="">
            <a:extLst xmlns:a="http://schemas.openxmlformats.org/drawingml/2006/main">
              <a:ext uri="{FF2B5EF4-FFF2-40B4-BE49-F238E27FC236}">
                <a16:creationId xmlns:a16="http://schemas.microsoft.com/office/drawing/2014/main" id="{3F97057E-1ACB-4D6D-9138-20A2FC39F4C4}"/>
              </a:ext>
            </a:extLst>
          </p:cNvPr>
          <p:cNvSpPr>
            <a:spLocks xmlns:a="http://schemas.openxmlformats.org/drawingml/2006/main" noGrp="1"/>
          </p:cNvSpPr>
          <p:nvPr/>
        </p:nvSpPr>
        <p:spPr>
          <a:xfrm xmlns:a="http://schemas.openxmlformats.org/drawingml/2006/main">
            <a:off x="9067800" y="2838450"/>
            <a:ext cx="2524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F3F6FA"/>
                </a:solidFill>
                <a:latin typeface="Malgun Gothic"/>
                <a:ea typeface="Malgun Gothic"/>
                <a:cs typeface="Malgun Gothic"/>
              </a:defRPr>
            </a:defPPr>
          </a:lstStyle>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원소 이벤트 수신</a:t>
            </a:r>
          </a:p>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쿨다운·피해·효과</a:t>
            </a:r>
          </a:p>
        </p:txBody>
      </p:sp>
      <p:sp>
        <p:nvSpPr>
          <p:cNvPr id="18" name="">
            <a:extLst xmlns:a="http://schemas.openxmlformats.org/drawingml/2006/main">
              <a:ext uri="{FF2B5EF4-FFF2-40B4-BE49-F238E27FC236}">
                <a16:creationId xmlns:a16="http://schemas.microsoft.com/office/drawing/2014/main" id="{BE0A6ADB-D2B6-4E2C-A842-54D52BF8D42A}"/>
              </a:ext>
            </a:extLst>
          </p:cNvPr>
          <p:cNvSpPr>
            <a:spLocks xmlns:a="http://schemas.openxmlformats.org/drawingml/2006/main" noGrp="1"/>
          </p:cNvSpPr>
          <p:nvPr/>
        </p:nvSpPr>
        <p:spPr>
          <a:xfrm xmlns:a="http://schemas.openxmlformats.org/drawingml/2006/main">
            <a:off x="3086100" y="2409825"/>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A8B8CD"/>
                </a:solidFill>
                <a:latin typeface="Malgun Gothic"/>
                <a:ea typeface="Malgun Gothic"/>
                <a:cs typeface="Malgun Gothic"/>
              </a:defRPr>
            </a:defPPr>
          </a:lstStyle>
          <a:p xmlns:a="http://schemas.openxmlformats.org/drawingml/2006/main">
            <a:pPr>
              <a:defRPr sz="2025" b="0">
                <a:solidFill>
                  <a:srgbClr val="A8B8CD"/>
                </a:solidFill>
                <a:latin typeface="Malgun Gothic"/>
                <a:ea typeface="Malgun Gothic"/>
                <a:cs typeface="Malgun Gothic"/>
              </a:defRPr>
            </a:pPr>
            <a:r>
              <a:rPr sz="2025" b="0">
                <a:solidFill>
                  <a:srgbClr val="A8B8CD"/>
                </a:solidFill>
                <a:latin typeface="Malgun Gothic"/>
                <a:ea typeface="Malgun Gothic"/>
                <a:cs typeface="Malgun Gothic"/>
              </a:rPr>
              <a:t>→</a:t>
            </a:r>
          </a:p>
        </p:txBody>
      </p:sp>
      <p:sp>
        <p:nvSpPr>
          <p:cNvPr id="19" name="">
            <a:extLst xmlns:a="http://schemas.openxmlformats.org/drawingml/2006/main">
              <a:ext uri="{FF2B5EF4-FFF2-40B4-BE49-F238E27FC236}">
                <a16:creationId xmlns:a16="http://schemas.microsoft.com/office/drawing/2014/main" id="{DDA639A8-73B2-42D4-BA0C-EF4AE359512A}"/>
              </a:ext>
            </a:extLst>
          </p:cNvPr>
          <p:cNvSpPr>
            <a:spLocks xmlns:a="http://schemas.openxmlformats.org/drawingml/2006/main" noGrp="1"/>
          </p:cNvSpPr>
          <p:nvPr/>
        </p:nvSpPr>
        <p:spPr>
          <a:xfrm xmlns:a="http://schemas.openxmlformats.org/drawingml/2006/main">
            <a:off x="5924550" y="2409825"/>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A8B8CD"/>
                </a:solidFill>
                <a:latin typeface="Malgun Gothic"/>
                <a:ea typeface="Malgun Gothic"/>
                <a:cs typeface="Malgun Gothic"/>
              </a:defRPr>
            </a:defPPr>
          </a:lstStyle>
          <a:p xmlns:a="http://schemas.openxmlformats.org/drawingml/2006/main">
            <a:pPr>
              <a:defRPr sz="2025" b="0">
                <a:solidFill>
                  <a:srgbClr val="A8B8CD"/>
                </a:solidFill>
                <a:latin typeface="Malgun Gothic"/>
                <a:ea typeface="Malgun Gothic"/>
                <a:cs typeface="Malgun Gothic"/>
              </a:defRPr>
            </a:pPr>
            <a:r>
              <a:rPr sz="2025" b="0">
                <a:solidFill>
                  <a:srgbClr val="A8B8CD"/>
                </a:solidFill>
                <a:latin typeface="Malgun Gothic"/>
                <a:ea typeface="Malgun Gothic"/>
                <a:cs typeface="Malgun Gothic"/>
              </a:rPr>
              <a:t>→</a:t>
            </a:r>
          </a:p>
        </p:txBody>
      </p:sp>
      <p:sp>
        <p:nvSpPr>
          <p:cNvPr id="20" name="">
            <a:extLst xmlns:a="http://schemas.openxmlformats.org/drawingml/2006/main">
              <a:ext uri="{FF2B5EF4-FFF2-40B4-BE49-F238E27FC236}">
                <a16:creationId xmlns:a16="http://schemas.microsoft.com/office/drawing/2014/main" id="{5279E042-A12C-4325-BFFB-C2DCD54FD4C0}"/>
              </a:ext>
            </a:extLst>
          </p:cNvPr>
          <p:cNvSpPr>
            <a:spLocks xmlns:a="http://schemas.openxmlformats.org/drawingml/2006/main" noGrp="1"/>
          </p:cNvSpPr>
          <p:nvPr/>
        </p:nvSpPr>
        <p:spPr>
          <a:xfrm xmlns:a="http://schemas.openxmlformats.org/drawingml/2006/main">
            <a:off x="8763000" y="2409825"/>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A8B8CD"/>
                </a:solidFill>
                <a:latin typeface="Malgun Gothic"/>
                <a:ea typeface="Malgun Gothic"/>
                <a:cs typeface="Malgun Gothic"/>
              </a:defRPr>
            </a:defPPr>
          </a:lstStyle>
          <a:p xmlns:a="http://schemas.openxmlformats.org/drawingml/2006/main">
            <a:pPr>
              <a:defRPr sz="2025" b="0">
                <a:solidFill>
                  <a:srgbClr val="A8B8CD"/>
                </a:solidFill>
                <a:latin typeface="Malgun Gothic"/>
                <a:ea typeface="Malgun Gothic"/>
                <a:cs typeface="Malgun Gothic"/>
              </a:defRPr>
            </a:pPr>
            <a:r>
              <a:rPr sz="2025" b="0">
                <a:solidFill>
                  <a:srgbClr val="A8B8CD"/>
                </a:solidFill>
                <a:latin typeface="Malgun Gothic"/>
                <a:ea typeface="Malgun Gothic"/>
                <a:cs typeface="Malgun Gothic"/>
              </a:rPr>
              <a:t>→</a:t>
            </a:r>
          </a:p>
        </p:txBody>
      </p:sp>
      <p:sp>
        <p:nvSpPr>
          <p:cNvPr id="21" name="">
            <a:extLst xmlns:a="http://schemas.openxmlformats.org/drawingml/2006/main">
              <a:ext uri="{FF2B5EF4-FFF2-40B4-BE49-F238E27FC236}">
                <a16:creationId xmlns:a16="http://schemas.microsoft.com/office/drawing/2014/main" id="{85ECB796-3B67-41DC-9607-E00929D9B2E0}"/>
              </a:ext>
            </a:extLst>
          </p:cNvPr>
          <p:cNvSpPr>
            <a:spLocks xmlns:a="http://schemas.openxmlformats.org/drawingml/2006/main" noGrp="1"/>
          </p:cNvSpPr>
          <p:nvPr/>
        </p:nvSpPr>
        <p:spPr>
          <a:xfrm xmlns:a="http://schemas.openxmlformats.org/drawingml/2006/main">
            <a:off x="571500" y="447675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82D9B4"/>
                </a:solidFill>
                <a:latin typeface="Malgun Gothic"/>
                <a:ea typeface="Malgun Gothic"/>
                <a:cs typeface="Malgun Gothic"/>
              </a:defRPr>
            </a:defPPr>
          </a:lstStyle>
          <a:p xmlns:a="http://schemas.openxmlformats.org/drawingml/2006/main">
            <a:pPr>
              <a:defRPr sz="2100" b="1">
                <a:solidFill>
                  <a:srgbClr val="82D9B4"/>
                </a:solidFill>
                <a:latin typeface="Malgun Gothic"/>
                <a:ea typeface="Malgun Gothic"/>
                <a:cs typeface="Malgun Gothic"/>
              </a:defRPr>
            </a:pPr>
            <a:r>
              <a:rPr sz="2100" b="1">
                <a:solidFill>
                  <a:srgbClr val="82D9B4"/>
                </a:solidFill>
                <a:latin typeface="Malgun Gothic"/>
                <a:ea typeface="Malgun Gothic"/>
                <a:cs typeface="Malgun Gothic"/>
              </a:rPr>
              <a:t>동작 결과  JSON / UDP :5055</a:t>
            </a:r>
          </a:p>
        </p:txBody>
      </p:sp>
      <p:sp>
        <p:nvSpPr>
          <p:cNvPr id="22" name="">
            <a:extLst xmlns:a="http://schemas.openxmlformats.org/drawingml/2006/main">
              <a:ext uri="{FF2B5EF4-FFF2-40B4-BE49-F238E27FC236}">
                <a16:creationId xmlns:a16="http://schemas.microsoft.com/office/drawing/2014/main" id="{830A0FC9-F709-430C-8F75-B4DE6646E8C5}"/>
              </a:ext>
            </a:extLst>
          </p:cNvPr>
          <p:cNvSpPr>
            <a:spLocks xmlns:a="http://schemas.openxmlformats.org/drawingml/2006/main" noGrp="1"/>
          </p:cNvSpPr>
          <p:nvPr/>
        </p:nvSpPr>
        <p:spPr>
          <a:xfrm xmlns:a="http://schemas.openxmlformats.org/drawingml/2006/main">
            <a:off x="571500" y="51625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A8B8CD"/>
                </a:solidFill>
                <a:latin typeface="Malgun Gothic"/>
                <a:ea typeface="Malgun Gothic"/>
                <a:cs typeface="Malgun Gothic"/>
              </a:defRPr>
            </a:defPPr>
          </a:lstStyle>
          <a:p xmlns:a="http://schemas.openxmlformats.org/drawingml/2006/main">
            <a:pPr>
              <a:defRPr sz="1875" b="0">
                <a:solidFill>
                  <a:srgbClr val="A8B8CD"/>
                </a:solidFill>
                <a:latin typeface="Malgun Gothic"/>
                <a:ea typeface="Malgun Gothic"/>
                <a:cs typeface="Malgun Gothic"/>
              </a:defRPr>
            </a:pPr>
            <a:r>
              <a:rPr sz="1875" b="0">
                <a:solidFill>
                  <a:srgbClr val="A8B8CD"/>
                </a:solidFill>
                <a:latin typeface="Malgun Gothic"/>
                <a:ea typeface="Malgun Gothic"/>
                <a:cs typeface="Malgun Gothic"/>
              </a:rPr>
              <a:t>별도 경로  좌우 반전 영상 → JPEG → 로컬 HTTP :5056 → Unity RawImage</a:t>
            </a:r>
          </a:p>
        </p:txBody>
      </p:sp>
    </p:spTree>
    <p:extLst>
      <p:ext uri="{BB962C8B-B14F-4D97-AF65-F5344CB8AC3E}">
        <p14:creationId xmlns:p14="http://schemas.microsoft.com/office/powerpoint/2010/main" val="774379868"/>
      </p:ext>
    </p:extLst>
  </p:cSld>
</p:sld>
</file>

<file path=ppt/slides/slide5.xml><?xml version="1.0" encoding="utf-8"?>
<p:sld xmlns:p="http://schemas.openxmlformats.org/presentationml/2006/main">
  <p:cSld>
    <p:bg>
      <p:bgPr>
        <a:solidFill xmlns:a="http://schemas.openxmlformats.org/drawingml/2006/main">
          <a:srgbClr val="0D172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D6AC7B8-7778-4F7F-A8BE-099A9A5185F6}"/>
              </a:ext>
            </a:extLst>
          </p:cNvPr>
          <p:cNvSpPr>
            <a:spLocks xmlns:a="http://schemas.openxmlformats.org/drawingml/2006/main" noGrp="1"/>
          </p:cNvSpPr>
          <p:nvPr/>
        </p:nvSpPr>
        <p:spPr>
          <a:xfrm xmlns:a="http://schemas.openxmlformats.org/drawingml/2006/main">
            <a:off x="533400" y="41910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F3F6FA"/>
                </a:solidFill>
                <a:latin typeface="Malgun Gothic"/>
                <a:ea typeface="Malgun Gothic"/>
                <a:cs typeface="Malgun Gothic"/>
              </a:defRPr>
            </a:defPPr>
          </a:lstStyle>
          <a:p xmlns:a="http://schemas.openxmlformats.org/drawingml/2006/main">
            <a:pPr>
              <a:defRPr sz="3150" b="1">
                <a:solidFill>
                  <a:srgbClr val="F3F6FA"/>
                </a:solidFill>
                <a:latin typeface="Malgun Gothic"/>
                <a:ea typeface="Malgun Gothic"/>
                <a:cs typeface="Malgun Gothic"/>
              </a:defRPr>
            </a:pPr>
            <a:r>
              <a:rPr sz="3150" b="1">
                <a:solidFill>
                  <a:srgbClr val="F3F6FA"/>
                </a:solidFill>
                <a:latin typeface="Malgun Gothic"/>
                <a:ea typeface="Malgun Gothic"/>
                <a:cs typeface="Malgun Gothic"/>
              </a:rPr>
              <a:t>사용 AI 모델: MediaPipe Hand Landmarker</a:t>
            </a:r>
          </a:p>
        </p:txBody>
      </p:sp>
      <p:sp>
        <p:nvSpPr>
          <p:cNvPr id="2" name="">
            <a:extLst xmlns:a="http://schemas.openxmlformats.org/drawingml/2006/main">
              <a:ext uri="{FF2B5EF4-FFF2-40B4-BE49-F238E27FC236}">
                <a16:creationId xmlns:a16="http://schemas.microsoft.com/office/drawing/2014/main" id="{9A4A75BC-8044-4A8E-8E7E-FDC8666AF98F}"/>
              </a:ext>
            </a:extLst>
          </p:cNvPr>
          <p:cNvSpPr>
            <a:spLocks xmlns:a="http://schemas.openxmlformats.org/drawingml/2006/main" noGrp="1"/>
          </p:cNvSpPr>
          <p:nvPr/>
        </p:nvSpPr>
        <p:spPr>
          <a:xfrm xmlns:a="http://schemas.openxmlformats.org/drawingml/2006/main">
            <a:off x="552450" y="11620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A8B8CD"/>
                </a:solidFill>
                <a:latin typeface="Malgun Gothic"/>
                <a:ea typeface="Malgun Gothic"/>
                <a:cs typeface="Malgun Gothic"/>
              </a:defRPr>
            </a:defPPr>
          </a:lstStyle>
          <a:p xmlns:a="http://schemas.openxmlformats.org/drawingml/2006/main">
            <a:pPr>
              <a:defRPr sz="1725" b="0">
                <a:solidFill>
                  <a:srgbClr val="A8B8CD"/>
                </a:solidFill>
                <a:latin typeface="Malgun Gothic"/>
                <a:ea typeface="Malgun Gothic"/>
                <a:cs typeface="Malgun Gothic"/>
              </a:defRPr>
            </a:pPr>
            <a:r>
              <a:rPr sz="1725" b="0">
                <a:solidFill>
                  <a:srgbClr val="A8B8CD"/>
                </a:solidFill>
                <a:latin typeface="Malgun Gothic"/>
                <a:ea typeface="Malgun Gothic"/>
                <a:cs typeface="Malgun Gothic"/>
              </a:rPr>
              <a:t>사전학습 손 추정 모델과 직접 작성한 원소 분류 규칙</a:t>
            </a:r>
          </a:p>
        </p:txBody>
      </p:sp>
      <p:sp>
        <p:nvSpPr>
          <p:cNvPr id="3" name="">
            <a:extLst xmlns:a="http://schemas.openxmlformats.org/drawingml/2006/main">
              <a:ext uri="{FF2B5EF4-FFF2-40B4-BE49-F238E27FC236}">
                <a16:creationId xmlns:a16="http://schemas.microsoft.com/office/drawing/2014/main" id="{D3A5751C-5764-4AE6-8439-6E9F863AE9E4}"/>
              </a:ext>
            </a:extLst>
          </p:cNvPr>
          <p:cNvSpPr>
            <a:spLocks xmlns:a="http://schemas.openxmlformats.org/drawingml/2006/main" noGrp="1"/>
          </p:cNvSpPr>
          <p:nvPr/>
        </p:nvSpPr>
        <p:spPr>
          <a:xfrm xmlns:a="http://schemas.openxmlformats.org/drawingml/2006/main">
            <a:off x="533400" y="6191250"/>
            <a:ext cx="11125200" cy="19050"/>
          </a:xfrm>
          <a:prstGeom xmlns:a="http://schemas.openxmlformats.org/drawingml/2006/main" prst="rect">
            <a:avLst/>
          </a:prstGeom>
          <a:solidFill xmlns:a="http://schemas.openxmlformats.org/drawingml/2006/main">
            <a:srgbClr val="31415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CA8DF28-EBFF-4FE3-9186-5DE4A878B375}"/>
              </a:ext>
            </a:extLst>
          </p:cNvPr>
          <p:cNvSpPr>
            <a:spLocks xmlns:a="http://schemas.openxmlformats.org/drawingml/2006/main" noGrp="1"/>
          </p:cNvSpPr>
          <p:nvPr/>
        </p:nvSpPr>
        <p:spPr>
          <a:xfrm xmlns:a="http://schemas.openxmlformats.org/drawingml/2006/main">
            <a:off x="5524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A8B8CD"/>
                </a:solidFill>
                <a:latin typeface="Malgun Gothic"/>
                <a:ea typeface="Malgun Gothic"/>
                <a:cs typeface="Malgun Gothic"/>
              </a:defRPr>
            </a:defPPr>
          </a:lstStyle>
          <a:p xmlns:a="http://schemas.openxmlformats.org/drawingml/2006/main">
            <a:pPr>
              <a:defRPr sz="1050" b="0">
                <a:solidFill>
                  <a:srgbClr val="A8B8CD"/>
                </a:solidFill>
                <a:latin typeface="Malgun Gothic"/>
                <a:ea typeface="Malgun Gothic"/>
                <a:cs typeface="Malgun Gothic"/>
              </a:defRPr>
            </a:pPr>
            <a:r>
              <a:rPr sz="1050" b="0">
                <a:solidFill>
                  <a:srgbClr val="A8B8CD"/>
                </a:solidFill>
                <a:latin typeface="Malgun Gothic"/>
                <a:ea typeface="Malgun Gothic"/>
                <a:cs typeface="Malgun Gothic"/>
              </a:rPr>
              <a:t>ELEMENTAL BENDER · 2조 송기훈 · 최원제</a:t>
            </a:r>
          </a:p>
        </p:txBody>
      </p:sp>
      <p:sp>
        <p:nvSpPr>
          <p:cNvPr id="5" name="">
            <a:extLst xmlns:a="http://schemas.openxmlformats.org/drawingml/2006/main">
              <a:ext uri="{FF2B5EF4-FFF2-40B4-BE49-F238E27FC236}">
                <a16:creationId xmlns:a16="http://schemas.microsoft.com/office/drawing/2014/main" id="{F1806937-A5CE-477F-B6A1-B9CED52A5485}"/>
              </a:ext>
            </a:extLst>
          </p:cNvPr>
          <p:cNvSpPr>
            <a:spLocks xmlns:a="http://schemas.openxmlformats.org/drawingml/2006/main" noGrp="1"/>
          </p:cNvSpPr>
          <p:nvPr/>
        </p:nvSpPr>
        <p:spPr>
          <a:xfrm xmlns:a="http://schemas.openxmlformats.org/drawingml/2006/main">
            <a:off x="11144250" y="6334125"/>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A8B8CD"/>
                </a:solidFill>
                <a:latin typeface="Malgun Gothic"/>
                <a:ea typeface="Malgun Gothic"/>
                <a:cs typeface="Malgun Gothic"/>
              </a:defRPr>
            </a:defPPr>
          </a:lstStyle>
          <a:p xmlns:a="http://schemas.openxmlformats.org/drawingml/2006/main">
            <a:pPr>
              <a:defRPr sz="1350" b="0">
                <a:solidFill>
                  <a:srgbClr val="A8B8CD"/>
                </a:solidFill>
                <a:latin typeface="Malgun Gothic"/>
                <a:ea typeface="Malgun Gothic"/>
                <a:cs typeface="Malgun Gothic"/>
              </a:defRPr>
            </a:pPr>
            <a:r>
              <a:rPr sz="1350" b="0">
                <a:solidFill>
                  <a:srgbClr val="A8B8CD"/>
                </a:solidFill>
                <a:latin typeface="Malgun Gothic"/>
                <a:ea typeface="Malgun Gothic"/>
                <a:cs typeface="Malgun Gothic"/>
              </a:rPr>
              <a:t>05</a:t>
            </a:r>
          </a:p>
        </p:txBody>
      </p:sp>
      <p:sp>
        <p:nvSpPr>
          <p:cNvPr id="6" name="">
            <a:extLst xmlns:a="http://schemas.openxmlformats.org/drawingml/2006/main">
              <a:ext uri="{FF2B5EF4-FFF2-40B4-BE49-F238E27FC236}">
                <a16:creationId xmlns:a16="http://schemas.microsoft.com/office/drawing/2014/main" id="{55FFD580-7E2A-477B-9C7B-4E3574331566}"/>
              </a:ext>
            </a:extLst>
          </p:cNvPr>
          <p:cNvSpPr>
            <a:spLocks xmlns:a="http://schemas.openxmlformats.org/drawingml/2006/main" noGrp="1"/>
          </p:cNvSpPr>
          <p:nvPr/>
        </p:nvSpPr>
        <p:spPr>
          <a:xfrm xmlns:a="http://schemas.openxmlformats.org/drawingml/2006/main">
            <a:off x="552450" y="1952625"/>
            <a:ext cx="3238500" cy="19050"/>
          </a:xfrm>
          <a:prstGeom xmlns:a="http://schemas.openxmlformats.org/drawingml/2006/main" prst="rect">
            <a:avLst/>
          </a:prstGeom>
          <a:solidFill xmlns:a="http://schemas.openxmlformats.org/drawingml/2006/main">
            <a:srgbClr val="73B8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6591EEF-E3C1-405A-9FEF-9AC5A7B5CF17}"/>
              </a:ext>
            </a:extLst>
          </p:cNvPr>
          <p:cNvSpPr>
            <a:spLocks xmlns:a="http://schemas.openxmlformats.org/drawingml/2006/main" noGrp="1"/>
          </p:cNvSpPr>
          <p:nvPr/>
        </p:nvSpPr>
        <p:spPr>
          <a:xfrm xmlns:a="http://schemas.openxmlformats.org/drawingml/2006/main">
            <a:off x="552450" y="21240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73B8FF"/>
                </a:solidFill>
                <a:latin typeface="Malgun Gothic"/>
                <a:ea typeface="Malgun Gothic"/>
                <a:cs typeface="Malgun Gothic"/>
              </a:defRPr>
            </a:defPPr>
          </a:lstStyle>
          <a:p xmlns:a="http://schemas.openxmlformats.org/drawingml/2006/main">
            <a:pPr>
              <a:defRPr sz="2175" b="1">
                <a:solidFill>
                  <a:srgbClr val="73B8FF"/>
                </a:solidFill>
                <a:latin typeface="Malgun Gothic"/>
                <a:ea typeface="Malgun Gothic"/>
                <a:cs typeface="Malgun Gothic"/>
              </a:defRPr>
            </a:pPr>
            <a:r>
              <a:rPr sz="2175" b="1">
                <a:solidFill>
                  <a:srgbClr val="73B8FF"/>
                </a:solidFill>
                <a:latin typeface="Malgun Gothic"/>
                <a:ea typeface="Malgun Gothic"/>
                <a:cs typeface="Malgun Gothic"/>
              </a:rPr>
              <a:t>손바닥 검출</a:t>
            </a:r>
          </a:p>
        </p:txBody>
      </p:sp>
      <p:sp>
        <p:nvSpPr>
          <p:cNvPr id="8" name="">
            <a:extLst xmlns:a="http://schemas.openxmlformats.org/drawingml/2006/main">
              <a:ext uri="{FF2B5EF4-FFF2-40B4-BE49-F238E27FC236}">
                <a16:creationId xmlns:a16="http://schemas.microsoft.com/office/drawing/2014/main" id="{DA67D164-5BBF-4166-9E09-2CE4664FCFFF}"/>
              </a:ext>
            </a:extLst>
          </p:cNvPr>
          <p:cNvSpPr>
            <a:spLocks xmlns:a="http://schemas.openxmlformats.org/drawingml/2006/main" noGrp="1"/>
          </p:cNvSpPr>
          <p:nvPr/>
        </p:nvSpPr>
        <p:spPr>
          <a:xfrm xmlns:a="http://schemas.openxmlformats.org/drawingml/2006/main">
            <a:off x="552450" y="2714625"/>
            <a:ext cx="323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F3F6FA"/>
                </a:solidFill>
                <a:latin typeface="Malgun Gothic"/>
                <a:ea typeface="Malgun Gothic"/>
                <a:cs typeface="Malgun Gothic"/>
              </a:defRPr>
            </a:defPPr>
          </a:lstStyle>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영상에서 손이 있는</a:t>
            </a:r>
          </a:p>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영역을 찾음</a:t>
            </a:r>
          </a:p>
        </p:txBody>
      </p:sp>
      <p:sp>
        <p:nvSpPr>
          <p:cNvPr id="9" name="">
            <a:extLst xmlns:a="http://schemas.openxmlformats.org/drawingml/2006/main">
              <a:ext uri="{FF2B5EF4-FFF2-40B4-BE49-F238E27FC236}">
                <a16:creationId xmlns:a16="http://schemas.microsoft.com/office/drawing/2014/main" id="{B07A6CDE-F44D-4F99-A4DE-B651A3B9ECAB}"/>
              </a:ext>
            </a:extLst>
          </p:cNvPr>
          <p:cNvSpPr>
            <a:spLocks xmlns:a="http://schemas.openxmlformats.org/drawingml/2006/main" noGrp="1"/>
          </p:cNvSpPr>
          <p:nvPr/>
        </p:nvSpPr>
        <p:spPr>
          <a:xfrm xmlns:a="http://schemas.openxmlformats.org/drawingml/2006/main">
            <a:off x="4362450" y="1952625"/>
            <a:ext cx="3238500" cy="19050"/>
          </a:xfrm>
          <a:prstGeom xmlns:a="http://schemas.openxmlformats.org/drawingml/2006/main" prst="rect">
            <a:avLst/>
          </a:prstGeom>
          <a:solidFill xmlns:a="http://schemas.openxmlformats.org/drawingml/2006/main">
            <a:srgbClr val="82D9B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1C2FAFF-440C-416D-B61E-FC63415B6C4A}"/>
              </a:ext>
            </a:extLst>
          </p:cNvPr>
          <p:cNvSpPr>
            <a:spLocks xmlns:a="http://schemas.openxmlformats.org/drawingml/2006/main" noGrp="1"/>
          </p:cNvSpPr>
          <p:nvPr/>
        </p:nvSpPr>
        <p:spPr>
          <a:xfrm xmlns:a="http://schemas.openxmlformats.org/drawingml/2006/main">
            <a:off x="4362450" y="21240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82D9B4"/>
                </a:solidFill>
                <a:latin typeface="Malgun Gothic"/>
                <a:ea typeface="Malgun Gothic"/>
                <a:cs typeface="Malgun Gothic"/>
              </a:defRPr>
            </a:defPPr>
          </a:lstStyle>
          <a:p xmlns:a="http://schemas.openxmlformats.org/drawingml/2006/main">
            <a:pPr>
              <a:defRPr sz="2175" b="1">
                <a:solidFill>
                  <a:srgbClr val="82D9B4"/>
                </a:solidFill>
                <a:latin typeface="Malgun Gothic"/>
                <a:ea typeface="Malgun Gothic"/>
                <a:cs typeface="Malgun Gothic"/>
              </a:defRPr>
            </a:pPr>
            <a:r>
              <a:rPr sz="2175" b="1">
                <a:solidFill>
                  <a:srgbClr val="82D9B4"/>
                </a:solidFill>
                <a:latin typeface="Malgun Gothic"/>
                <a:ea typeface="Malgun Gothic"/>
                <a:cs typeface="Malgun Gothic"/>
              </a:rPr>
              <a:t>랜드마크 추정</a:t>
            </a:r>
          </a:p>
        </p:txBody>
      </p:sp>
      <p:sp>
        <p:nvSpPr>
          <p:cNvPr id="11" name="">
            <a:extLst xmlns:a="http://schemas.openxmlformats.org/drawingml/2006/main">
              <a:ext uri="{FF2B5EF4-FFF2-40B4-BE49-F238E27FC236}">
                <a16:creationId xmlns:a16="http://schemas.microsoft.com/office/drawing/2014/main" id="{CAC32F6B-E204-46FD-8248-F7C02128722B}"/>
              </a:ext>
            </a:extLst>
          </p:cNvPr>
          <p:cNvSpPr>
            <a:spLocks xmlns:a="http://schemas.openxmlformats.org/drawingml/2006/main" noGrp="1"/>
          </p:cNvSpPr>
          <p:nvPr/>
        </p:nvSpPr>
        <p:spPr>
          <a:xfrm xmlns:a="http://schemas.openxmlformats.org/drawingml/2006/main">
            <a:off x="4362450" y="2714625"/>
            <a:ext cx="323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F3F6FA"/>
                </a:solidFill>
                <a:latin typeface="Malgun Gothic"/>
                <a:ea typeface="Malgun Gothic"/>
                <a:cs typeface="Malgun Gothic"/>
              </a:defRPr>
            </a:defPPr>
          </a:lstStyle>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손마다 21개 관절 좌표</a:t>
            </a:r>
          </a:p>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영상 모드에서 추적 활용</a:t>
            </a:r>
          </a:p>
        </p:txBody>
      </p:sp>
      <p:sp>
        <p:nvSpPr>
          <p:cNvPr id="12" name="">
            <a:extLst xmlns:a="http://schemas.openxmlformats.org/drawingml/2006/main">
              <a:ext uri="{FF2B5EF4-FFF2-40B4-BE49-F238E27FC236}">
                <a16:creationId xmlns:a16="http://schemas.microsoft.com/office/drawing/2014/main" id="{0F4FCDEB-52EE-401E-9A08-2AC68C957431}"/>
              </a:ext>
            </a:extLst>
          </p:cNvPr>
          <p:cNvSpPr>
            <a:spLocks xmlns:a="http://schemas.openxmlformats.org/drawingml/2006/main" noGrp="1"/>
          </p:cNvSpPr>
          <p:nvPr/>
        </p:nvSpPr>
        <p:spPr>
          <a:xfrm xmlns:a="http://schemas.openxmlformats.org/drawingml/2006/main">
            <a:off x="8172450" y="1952625"/>
            <a:ext cx="3476625" cy="19050"/>
          </a:xfrm>
          <a:prstGeom xmlns:a="http://schemas.openxmlformats.org/drawingml/2006/main" prst="rect">
            <a:avLst/>
          </a:prstGeom>
          <a:solidFill xmlns:a="http://schemas.openxmlformats.org/drawingml/2006/main">
            <a:srgbClr val="F5A67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6D920D9-1B82-47B6-848E-30FEA1B6A222}"/>
              </a:ext>
            </a:extLst>
          </p:cNvPr>
          <p:cNvSpPr>
            <a:spLocks xmlns:a="http://schemas.openxmlformats.org/drawingml/2006/main" noGrp="1"/>
          </p:cNvSpPr>
          <p:nvPr/>
        </p:nvSpPr>
        <p:spPr>
          <a:xfrm xmlns:a="http://schemas.openxmlformats.org/drawingml/2006/main">
            <a:off x="8172450" y="21240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5A677"/>
                </a:solidFill>
                <a:latin typeface="Malgun Gothic"/>
                <a:ea typeface="Malgun Gothic"/>
                <a:cs typeface="Malgun Gothic"/>
              </a:defRPr>
            </a:defPPr>
          </a:lstStyle>
          <a:p xmlns:a="http://schemas.openxmlformats.org/drawingml/2006/main">
            <a:pPr>
              <a:defRPr sz="2175" b="1">
                <a:solidFill>
                  <a:srgbClr val="F5A677"/>
                </a:solidFill>
                <a:latin typeface="Malgun Gothic"/>
                <a:ea typeface="Malgun Gothic"/>
                <a:cs typeface="Malgun Gothic"/>
              </a:defRPr>
            </a:pPr>
            <a:r>
              <a:rPr sz="2175" b="1">
                <a:solidFill>
                  <a:srgbClr val="F5A677"/>
                </a:solidFill>
                <a:latin typeface="Malgun Gothic"/>
                <a:ea typeface="Malgun Gothic"/>
                <a:cs typeface="Malgun Gothic"/>
              </a:rPr>
              <a:t>현재 분류기</a:t>
            </a:r>
          </a:p>
        </p:txBody>
      </p:sp>
      <p:sp>
        <p:nvSpPr>
          <p:cNvPr id="14" name="">
            <a:extLst xmlns:a="http://schemas.openxmlformats.org/drawingml/2006/main">
              <a:ext uri="{FF2B5EF4-FFF2-40B4-BE49-F238E27FC236}">
                <a16:creationId xmlns:a16="http://schemas.microsoft.com/office/drawing/2014/main" id="{F7F70F32-72D5-40EE-97CD-8DB9FE52FDD2}"/>
              </a:ext>
            </a:extLst>
          </p:cNvPr>
          <p:cNvSpPr>
            <a:spLocks xmlns:a="http://schemas.openxmlformats.org/drawingml/2006/main" noGrp="1"/>
          </p:cNvSpPr>
          <p:nvPr/>
        </p:nvSpPr>
        <p:spPr>
          <a:xfrm xmlns:a="http://schemas.openxmlformats.org/drawingml/2006/main">
            <a:off x="8172450" y="2714625"/>
            <a:ext cx="3476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F3F6FA"/>
                </a:solidFill>
                <a:latin typeface="Malgun Gothic"/>
                <a:ea typeface="Malgun Gothic"/>
                <a:cs typeface="Malgun Gothic"/>
              </a:defRPr>
            </a:defPPr>
          </a:lstStyle>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좌표로 손모양·궤적 계산</a:t>
            </a:r>
          </a:p>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규칙으로 원소 결정</a:t>
            </a:r>
          </a:p>
        </p:txBody>
      </p:sp>
      <p:sp>
        <p:nvSpPr>
          <p:cNvPr id="15" name="">
            <a:extLst xmlns:a="http://schemas.openxmlformats.org/drawingml/2006/main">
              <a:ext uri="{FF2B5EF4-FFF2-40B4-BE49-F238E27FC236}">
                <a16:creationId xmlns:a16="http://schemas.microsoft.com/office/drawing/2014/main" id="{391DF6A2-82EC-44D5-A2A4-B9290F33A32B}"/>
              </a:ext>
            </a:extLst>
          </p:cNvPr>
          <p:cNvSpPr>
            <a:spLocks xmlns:a="http://schemas.openxmlformats.org/drawingml/2006/main" noGrp="1"/>
          </p:cNvSpPr>
          <p:nvPr/>
        </p:nvSpPr>
        <p:spPr>
          <a:xfrm xmlns:a="http://schemas.openxmlformats.org/drawingml/2006/main">
            <a:off x="552450" y="447675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73B8FF"/>
                </a:solidFill>
                <a:latin typeface="Malgun Gothic"/>
                <a:ea typeface="Malgun Gothic"/>
                <a:cs typeface="Malgun Gothic"/>
              </a:defRPr>
            </a:defPPr>
          </a:lstStyle>
          <a:p xmlns:a="http://schemas.openxmlformats.org/drawingml/2006/main">
            <a:pPr>
              <a:defRPr sz="1875" b="1">
                <a:solidFill>
                  <a:srgbClr val="73B8FF"/>
                </a:solidFill>
                <a:latin typeface="Malgun Gothic"/>
                <a:ea typeface="Malgun Gothic"/>
                <a:cs typeface="Malgun Gothic"/>
              </a:defRPr>
            </a:pPr>
            <a:r>
              <a:rPr sz="1875" b="1">
                <a:solidFill>
                  <a:srgbClr val="73B8FF"/>
                </a:solidFill>
                <a:latin typeface="Malgun Gothic"/>
                <a:ea typeface="Malgun Gothic"/>
                <a:cs typeface="Malgun Gothic"/>
              </a:rPr>
              <a:t>현재 코드</a:t>
            </a:r>
          </a:p>
        </p:txBody>
      </p:sp>
      <p:sp>
        <p:nvSpPr>
          <p:cNvPr id="16" name="">
            <a:extLst xmlns:a="http://schemas.openxmlformats.org/drawingml/2006/main">
              <a:ext uri="{FF2B5EF4-FFF2-40B4-BE49-F238E27FC236}">
                <a16:creationId xmlns:a16="http://schemas.microsoft.com/office/drawing/2014/main" id="{8FCC9B5F-B868-4B48-860A-5CA26B929C71}"/>
              </a:ext>
            </a:extLst>
          </p:cNvPr>
          <p:cNvSpPr>
            <a:spLocks xmlns:a="http://schemas.openxmlformats.org/drawingml/2006/main" noGrp="1"/>
          </p:cNvSpPr>
          <p:nvPr/>
        </p:nvSpPr>
        <p:spPr>
          <a:xfrm xmlns:a="http://schemas.openxmlformats.org/drawingml/2006/main">
            <a:off x="552450" y="49720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3F6FA"/>
                </a:solidFill>
                <a:latin typeface="Malgun Gothic"/>
                <a:ea typeface="Malgun Gothic"/>
                <a:cs typeface="Malgun Gothic"/>
              </a:defRPr>
            </a:defPPr>
          </a:lstStyle>
          <a:p xmlns:a="http://schemas.openxmlformats.org/drawingml/2006/main">
            <a:pPr>
              <a:defRPr sz="2100" b="0">
                <a:solidFill>
                  <a:srgbClr val="F3F6FA"/>
                </a:solidFill>
                <a:latin typeface="Malgun Gothic"/>
                <a:ea typeface="Malgun Gothic"/>
                <a:cs typeface="Malgun Gothic"/>
              </a:defRPr>
            </a:pPr>
            <a:r>
              <a:rPr sz="2100" b="0">
                <a:solidFill>
                  <a:srgbClr val="F3F6FA"/>
                </a:solidFill>
                <a:latin typeface="Malgun Gothic"/>
                <a:ea typeface="Malgun Gothic"/>
                <a:cs typeface="Malgun Gothic"/>
              </a:rPr>
              <a:t>num_hands=2  /  VIDEO 모드  /  증가하는 timestamp</a:t>
            </a:r>
          </a:p>
        </p:txBody>
      </p:sp>
      <p:sp>
        <p:nvSpPr>
          <p:cNvPr id="17" name="">
            <a:extLst xmlns:a="http://schemas.openxmlformats.org/drawingml/2006/main">
              <a:ext uri="{FF2B5EF4-FFF2-40B4-BE49-F238E27FC236}">
                <a16:creationId xmlns:a16="http://schemas.microsoft.com/office/drawing/2014/main" id="{845A7152-3415-4A6F-9E76-AF821EE44F24}"/>
              </a:ext>
            </a:extLst>
          </p:cNvPr>
          <p:cNvSpPr>
            <a:spLocks xmlns:a="http://schemas.openxmlformats.org/drawingml/2006/main" noGrp="1"/>
          </p:cNvSpPr>
          <p:nvPr/>
        </p:nvSpPr>
        <p:spPr>
          <a:xfrm xmlns:a="http://schemas.openxmlformats.org/drawingml/2006/main">
            <a:off x="552450" y="5619750"/>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A8B8CD"/>
                </a:solidFill>
                <a:latin typeface="Malgun Gothic"/>
                <a:ea typeface="Malgun Gothic"/>
                <a:cs typeface="Malgun Gothic"/>
              </a:defRPr>
            </a:defPPr>
          </a:lstStyle>
          <a:p xmlns:a="http://schemas.openxmlformats.org/drawingml/2006/main">
            <a:pPr>
              <a:defRPr sz="1650" b="0">
                <a:solidFill>
                  <a:srgbClr val="A8B8CD"/>
                </a:solidFill>
                <a:latin typeface="Malgun Gothic"/>
                <a:ea typeface="Malgun Gothic"/>
                <a:cs typeface="Malgun Gothic"/>
              </a:defRPr>
            </a:pPr>
            <a:r>
              <a:rPr sz="1650" b="0">
                <a:solidFill>
                  <a:srgbClr val="A8B8CD"/>
                </a:solidFill>
                <a:latin typeface="Malgun Gothic"/>
                <a:ea typeface="Malgun Gothic"/>
                <a:cs typeface="Malgun Gothic"/>
              </a:rPr>
              <a:t>한계: 가림·손 교차·손바닥 회전에 취약  ·  손 크기 증가는 실제 깊이 측정이 아님</a:t>
            </a:r>
          </a:p>
        </p:txBody>
      </p:sp>
    </p:spTree>
    <p:extLst>
      <p:ext uri="{BB962C8B-B14F-4D97-AF65-F5344CB8AC3E}">
        <p14:creationId xmlns:p14="http://schemas.microsoft.com/office/powerpoint/2010/main" val="1722794211"/>
      </p:ext>
    </p:extLst>
  </p:cSld>
</p:sld>
</file>

<file path=ppt/slides/slide6.xml><?xml version="1.0" encoding="utf-8"?>
<p:sld xmlns:p="http://schemas.openxmlformats.org/presentationml/2006/main">
  <p:cSld>
    <p:bg>
      <p:bgPr>
        <a:solidFill xmlns:a="http://schemas.openxmlformats.org/drawingml/2006/main">
          <a:srgbClr val="0D172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CD0EDDA-D401-46E1-922D-A77CDAA1EF13}"/>
              </a:ext>
            </a:extLst>
          </p:cNvPr>
          <p:cNvSpPr>
            <a:spLocks xmlns:a="http://schemas.openxmlformats.org/drawingml/2006/main" noGrp="1"/>
          </p:cNvSpPr>
          <p:nvPr/>
        </p:nvSpPr>
        <p:spPr>
          <a:xfrm xmlns:a="http://schemas.openxmlformats.org/drawingml/2006/main">
            <a:off x="533400" y="41910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F3F6FA"/>
                </a:solidFill>
                <a:latin typeface="Malgun Gothic"/>
                <a:ea typeface="Malgun Gothic"/>
                <a:cs typeface="Malgun Gothic"/>
              </a:defRPr>
            </a:defPPr>
          </a:lstStyle>
          <a:p xmlns:a="http://schemas.openxmlformats.org/drawingml/2006/main">
            <a:pPr>
              <a:defRPr sz="3150" b="1">
                <a:solidFill>
                  <a:srgbClr val="F3F6FA"/>
                </a:solidFill>
                <a:latin typeface="Malgun Gothic"/>
                <a:ea typeface="Malgun Gothic"/>
                <a:cs typeface="Malgun Gothic"/>
              </a:defRPr>
            </a:pPr>
            <a:r>
              <a:rPr sz="3150" b="1">
                <a:solidFill>
                  <a:srgbClr val="F3F6FA"/>
                </a:solidFill>
                <a:latin typeface="Malgun Gothic"/>
                <a:ea typeface="Malgun Gothic"/>
                <a:cs typeface="Malgun Gothic"/>
              </a:rPr>
              <a:t>데이터셋 조사: 정적 손모양과 동적 영상 비교</a:t>
            </a:r>
          </a:p>
        </p:txBody>
      </p:sp>
      <p:sp>
        <p:nvSpPr>
          <p:cNvPr id="2" name="">
            <a:extLst xmlns:a="http://schemas.openxmlformats.org/drawingml/2006/main">
              <a:ext uri="{FF2B5EF4-FFF2-40B4-BE49-F238E27FC236}">
                <a16:creationId xmlns:a16="http://schemas.microsoft.com/office/drawing/2014/main" id="{26E2971B-91CD-46B0-8693-7D498193AEDA}"/>
              </a:ext>
            </a:extLst>
          </p:cNvPr>
          <p:cNvSpPr>
            <a:spLocks xmlns:a="http://schemas.openxmlformats.org/drawingml/2006/main" noGrp="1"/>
          </p:cNvSpPr>
          <p:nvPr/>
        </p:nvSpPr>
        <p:spPr>
          <a:xfrm xmlns:a="http://schemas.openxmlformats.org/drawingml/2006/main">
            <a:off x="552450" y="11620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A8B8CD"/>
                </a:solidFill>
                <a:latin typeface="Malgun Gothic"/>
                <a:ea typeface="Malgun Gothic"/>
                <a:cs typeface="Malgun Gothic"/>
              </a:defRPr>
            </a:defPPr>
          </a:lstStyle>
          <a:p xmlns:a="http://schemas.openxmlformats.org/drawingml/2006/main">
            <a:pPr>
              <a:defRPr sz="1725" b="0">
                <a:solidFill>
                  <a:srgbClr val="A8B8CD"/>
                </a:solidFill>
                <a:latin typeface="Malgun Gothic"/>
                <a:ea typeface="Malgun Gothic"/>
                <a:cs typeface="Malgun Gothic"/>
              </a:defRPr>
            </a:pPr>
            <a:r>
              <a:rPr sz="1725" b="0">
                <a:solidFill>
                  <a:srgbClr val="A8B8CD"/>
                </a:solidFill>
                <a:latin typeface="Malgun Gothic"/>
                <a:ea typeface="Malgun Gothic"/>
                <a:cs typeface="Malgun Gothic"/>
              </a:rPr>
              <a:t>공개 데이터는 조사 단계이며 아직 다운로드·학습·평가하지 않음</a:t>
            </a:r>
          </a:p>
        </p:txBody>
      </p:sp>
      <p:sp>
        <p:nvSpPr>
          <p:cNvPr id="3" name="">
            <a:extLst xmlns:a="http://schemas.openxmlformats.org/drawingml/2006/main">
              <a:ext uri="{FF2B5EF4-FFF2-40B4-BE49-F238E27FC236}">
                <a16:creationId xmlns:a16="http://schemas.microsoft.com/office/drawing/2014/main" id="{1A806488-BE88-4646-A87D-1FD5E9118DD8}"/>
              </a:ext>
            </a:extLst>
          </p:cNvPr>
          <p:cNvSpPr>
            <a:spLocks xmlns:a="http://schemas.openxmlformats.org/drawingml/2006/main" noGrp="1"/>
          </p:cNvSpPr>
          <p:nvPr/>
        </p:nvSpPr>
        <p:spPr>
          <a:xfrm xmlns:a="http://schemas.openxmlformats.org/drawingml/2006/main">
            <a:off x="533400" y="6191250"/>
            <a:ext cx="11125200" cy="19050"/>
          </a:xfrm>
          <a:prstGeom xmlns:a="http://schemas.openxmlformats.org/drawingml/2006/main" prst="rect">
            <a:avLst/>
          </a:prstGeom>
          <a:solidFill xmlns:a="http://schemas.openxmlformats.org/drawingml/2006/main">
            <a:srgbClr val="31415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26BDEB2-CAB2-48CD-804A-C538E5E0C7B4}"/>
              </a:ext>
            </a:extLst>
          </p:cNvPr>
          <p:cNvSpPr>
            <a:spLocks xmlns:a="http://schemas.openxmlformats.org/drawingml/2006/main" noGrp="1"/>
          </p:cNvSpPr>
          <p:nvPr/>
        </p:nvSpPr>
        <p:spPr>
          <a:xfrm xmlns:a="http://schemas.openxmlformats.org/drawingml/2006/main">
            <a:off x="5524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A8B8CD"/>
                </a:solidFill>
                <a:latin typeface="Malgun Gothic"/>
                <a:ea typeface="Malgun Gothic"/>
                <a:cs typeface="Malgun Gothic"/>
              </a:defRPr>
            </a:defPPr>
          </a:lstStyle>
          <a:p xmlns:a="http://schemas.openxmlformats.org/drawingml/2006/main">
            <a:pPr>
              <a:defRPr sz="1050" b="0">
                <a:solidFill>
                  <a:srgbClr val="A8B8CD"/>
                </a:solidFill>
                <a:latin typeface="Malgun Gothic"/>
                <a:ea typeface="Malgun Gothic"/>
                <a:cs typeface="Malgun Gothic"/>
              </a:defRPr>
            </a:pPr>
            <a:r>
              <a:rPr sz="1050" b="0">
                <a:solidFill>
                  <a:srgbClr val="A8B8CD"/>
                </a:solidFill>
                <a:latin typeface="Malgun Gothic"/>
                <a:ea typeface="Malgun Gothic"/>
                <a:cs typeface="Malgun Gothic"/>
              </a:rPr>
              <a:t>출처: HaGRID 공식 저장소 / Qualcomm Jester / EgoGesture 논문</a:t>
            </a:r>
          </a:p>
        </p:txBody>
      </p:sp>
      <p:sp>
        <p:nvSpPr>
          <p:cNvPr id="5" name="">
            <a:extLst xmlns:a="http://schemas.openxmlformats.org/drawingml/2006/main">
              <a:ext uri="{FF2B5EF4-FFF2-40B4-BE49-F238E27FC236}">
                <a16:creationId xmlns:a16="http://schemas.microsoft.com/office/drawing/2014/main" id="{DF62A556-89FE-4053-9972-225E3E356325}"/>
              </a:ext>
            </a:extLst>
          </p:cNvPr>
          <p:cNvSpPr>
            <a:spLocks xmlns:a="http://schemas.openxmlformats.org/drawingml/2006/main" noGrp="1"/>
          </p:cNvSpPr>
          <p:nvPr/>
        </p:nvSpPr>
        <p:spPr>
          <a:xfrm xmlns:a="http://schemas.openxmlformats.org/drawingml/2006/main">
            <a:off x="11144250" y="6334125"/>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A8B8CD"/>
                </a:solidFill>
                <a:latin typeface="Malgun Gothic"/>
                <a:ea typeface="Malgun Gothic"/>
                <a:cs typeface="Malgun Gothic"/>
              </a:defRPr>
            </a:defPPr>
          </a:lstStyle>
          <a:p xmlns:a="http://schemas.openxmlformats.org/drawingml/2006/main">
            <a:pPr>
              <a:defRPr sz="1350" b="0">
                <a:solidFill>
                  <a:srgbClr val="A8B8CD"/>
                </a:solidFill>
                <a:latin typeface="Malgun Gothic"/>
                <a:ea typeface="Malgun Gothic"/>
                <a:cs typeface="Malgun Gothic"/>
              </a:defRPr>
            </a:pPr>
            <a:r>
              <a:rPr sz="1350" b="0">
                <a:solidFill>
                  <a:srgbClr val="A8B8CD"/>
                </a:solidFill>
                <a:latin typeface="Malgun Gothic"/>
                <a:ea typeface="Malgun Gothic"/>
                <a:cs typeface="Malgun Gothic"/>
              </a:rPr>
              <a:t>06</a:t>
            </a:r>
          </a:p>
        </p:txBody>
      </p:sp>
      <p:graphicFrame>
        <p:nvGraphicFramePr>
          <p:cNvPr id="6" name="">
            <a:extLst xmlns:a="http://schemas.openxmlformats.org/drawingml/2006/main">
              <a:ext uri="{FF2B5EF4-FFF2-40B4-BE49-F238E27FC236}">
                <a16:creationId xmlns:a16="http://schemas.microsoft.com/office/drawing/2014/main" id="{12F9574B-6105-413D-8DD1-21E8DB7EA53E}"/>
              </a:ext>
            </a:extLst>
          </p:cNvPr>
          <p:cNvGraphicFramePr/>
          <p:nvPr/>
        </p:nvGraphicFramePr>
        <p:xfrm>
          <a:off xmlns:a="http://schemas.openxmlformats.org/drawingml/2006/main" x="533400" y="1943100"/>
          <a:ext xmlns:a="http://schemas.openxmlformats.org/drawingml/2006/main" cx="11125200" cy="3333750"/>
        </p:xfrm>
        <a:graphic xmlns:a="http://schemas.openxmlformats.org/drawingml/2006/main">
          <a:graphicData uri="http://schemas.openxmlformats.org/drawingml/2006/table">
            <a:tbl>
              <a:tblPr/>
              <a:tblGrid>
                <a:gridCol w="2000250"/>
                <a:gridCol w="3009900"/>
                <a:gridCol w="3124200"/>
                <a:gridCol w="2990850"/>
              </a:tblGrid>
              <a:tr h="833438">
                <a:tc>
                  <a:txBody>
                    <a:bodyPr/>
                    <a:lstStyle/>
                    <a:p>
                      <a:r>
                        <a:rPr sz="1650" b="1">
                          <a:solidFill>
                            <a:srgbClr val="73B8FF"/>
                          </a:solidFill>
                          <a:latin typeface="Malgun Gothic"/>
                          <a:ea typeface="Malgun Gothic"/>
                          <a:cs typeface="Malgun Gothic"/>
                        </a:rPr>
                        <a:t>데이터셋</a:t>
                      </a:r>
                    </a:p>
                  </a:txBody>
                  <a:tcPr marL="133350" marR="114300" marT="114300" marB="95250">
                    <a:lnL w="9525">
                      <a:solidFill>
                        <a:srgbClr val="314158"/>
                      </a:solidFill>
                      <a:prstDash val="solid"/>
                    </a:lnL>
                    <a:lnR w="9525">
                      <a:solidFill>
                        <a:srgbClr val="314158"/>
                      </a:solidFill>
                      <a:prstDash val="solid"/>
                    </a:lnR>
                    <a:lnT w="9525">
                      <a:solidFill>
                        <a:srgbClr val="314158"/>
                      </a:solidFill>
                      <a:prstDash val="solid"/>
                    </a:lnT>
                    <a:lnB w="9525">
                      <a:solidFill>
                        <a:srgbClr val="314158"/>
                      </a:solidFill>
                      <a:prstDash val="solid"/>
                    </a:lnB>
                    <a:solidFill>
                      <a:srgbClr val="23374F"/>
                    </a:solidFill>
                  </a:tcPr>
                </a:tc>
                <a:tc>
                  <a:txBody>
                    <a:bodyPr/>
                    <a:lstStyle/>
                    <a:p>
                      <a:r>
                        <a:rPr sz="1650" b="1">
                          <a:solidFill>
                            <a:srgbClr val="73B8FF"/>
                          </a:solidFill>
                          <a:latin typeface="Malgun Gothic"/>
                          <a:ea typeface="Malgun Gothic"/>
                          <a:cs typeface="Malgun Gothic"/>
                        </a:rPr>
                        <a:t>공식 구성</a:t>
                      </a:r>
                    </a:p>
                  </a:txBody>
                  <a:tcPr marL="133350" marR="114300" marT="114300" marB="95250">
                    <a:lnR w="9525">
                      <a:solidFill>
                        <a:srgbClr val="314158"/>
                      </a:solidFill>
                      <a:prstDash val="solid"/>
                    </a:lnR>
                    <a:lnT w="9525">
                      <a:solidFill>
                        <a:srgbClr val="314158"/>
                      </a:solidFill>
                      <a:prstDash val="solid"/>
                    </a:lnT>
                    <a:lnB w="9525">
                      <a:solidFill>
                        <a:srgbClr val="314158"/>
                      </a:solidFill>
                      <a:prstDash val="solid"/>
                    </a:lnB>
                    <a:solidFill>
                      <a:srgbClr val="23374F"/>
                    </a:solidFill>
                  </a:tcPr>
                </a:tc>
                <a:tc>
                  <a:txBody>
                    <a:bodyPr/>
                    <a:lstStyle/>
                    <a:p>
                      <a:r>
                        <a:rPr sz="1650" b="1">
                          <a:solidFill>
                            <a:srgbClr val="73B8FF"/>
                          </a:solidFill>
                          <a:latin typeface="Malgun Gothic"/>
                          <a:ea typeface="Malgun Gothic"/>
                          <a:cs typeface="Malgun Gothic"/>
                        </a:rPr>
                        <a:t>활용할 부분</a:t>
                      </a:r>
                    </a:p>
                  </a:txBody>
                  <a:tcPr marL="133350" marR="114300" marT="114300" marB="95250">
                    <a:lnR w="9525">
                      <a:solidFill>
                        <a:srgbClr val="314158"/>
                      </a:solidFill>
                      <a:prstDash val="solid"/>
                    </a:lnR>
                    <a:lnT w="9525">
                      <a:solidFill>
                        <a:srgbClr val="314158"/>
                      </a:solidFill>
                      <a:prstDash val="solid"/>
                    </a:lnT>
                    <a:lnB w="9525">
                      <a:solidFill>
                        <a:srgbClr val="314158"/>
                      </a:solidFill>
                      <a:prstDash val="solid"/>
                    </a:lnB>
                    <a:solidFill>
                      <a:srgbClr val="23374F"/>
                    </a:solidFill>
                  </a:tcPr>
                </a:tc>
                <a:tc>
                  <a:txBody>
                    <a:bodyPr/>
                    <a:lstStyle/>
                    <a:p>
                      <a:r>
                        <a:rPr sz="1650" b="1">
                          <a:solidFill>
                            <a:srgbClr val="73B8FF"/>
                          </a:solidFill>
                          <a:latin typeface="Malgun Gothic"/>
                          <a:ea typeface="Malgun Gothic"/>
                          <a:cs typeface="Malgun Gothic"/>
                        </a:rPr>
                        <a:t>우리 과제와의 차이</a:t>
                      </a:r>
                    </a:p>
                  </a:txBody>
                  <a:tcPr marL="133350" marR="114300" marT="114300" marB="95250">
                    <a:lnR w="9525">
                      <a:solidFill>
                        <a:srgbClr val="314158"/>
                      </a:solidFill>
                      <a:prstDash val="solid"/>
                    </a:lnR>
                    <a:lnT w="9525">
                      <a:solidFill>
                        <a:srgbClr val="314158"/>
                      </a:solidFill>
                      <a:prstDash val="solid"/>
                    </a:lnT>
                    <a:lnB w="9525">
                      <a:solidFill>
                        <a:srgbClr val="314158"/>
                      </a:solidFill>
                      <a:prstDash val="solid"/>
                    </a:lnB>
                    <a:solidFill>
                      <a:srgbClr val="23374F"/>
                    </a:solidFill>
                  </a:tcPr>
                </a:tc>
              </a:tr>
              <a:tr h="833438">
                <a:tc>
                  <a:txBody>
                    <a:bodyPr/>
                    <a:lstStyle/>
                    <a:p>
                      <a:r>
                        <a:rPr sz="1650">
                          <a:solidFill>
                            <a:srgbClr val="F3F6FA"/>
                          </a:solidFill>
                          <a:latin typeface="Malgun Gothic"/>
                          <a:ea typeface="Malgun Gothic"/>
                          <a:cs typeface="Malgun Gothic"/>
                        </a:rPr>
                        <a:t>HaGRIDv2</a:t>
                      </a:r>
                    </a:p>
                  </a:txBody>
                  <a:tcPr marL="133350" marR="114300" marT="114300" marB="95250">
                    <a:lnL w="9525">
                      <a:solidFill>
                        <a:srgbClr val="314158"/>
                      </a:solidFill>
                      <a:prstDash val="solid"/>
                    </a:lnL>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1,086,158 RGB 이미지</a:t>
                      </a:r>
                    </a:p>
                    <a:p>
                      <a:r>
                        <a:rPr sz="1650">
                          <a:solidFill>
                            <a:srgbClr val="F3F6FA"/>
                          </a:solidFill>
                          <a:latin typeface="Malgun Gothic"/>
                          <a:ea typeface="Malgun Gothic"/>
                          <a:cs typeface="Malgun Gothic"/>
                        </a:rPr>
                        <a:t>33종 + 별도 no_gesture</a:t>
                      </a:r>
                    </a:p>
                  </a:txBody>
                  <a:tcPr marL="133350" marR="114300" marT="114300" marB="95250">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V·주먹·펼침의</a:t>
                      </a:r>
                    </a:p>
                    <a:p>
                      <a:r>
                        <a:rPr sz="1650">
                          <a:solidFill>
                            <a:srgbClr val="F3F6FA"/>
                          </a:solidFill>
                          <a:latin typeface="Malgun Gothic"/>
                          <a:ea typeface="Malgun Gothic"/>
                          <a:cs typeface="Malgun Gothic"/>
                        </a:rPr>
                        <a:t>정적 손모양 비교</a:t>
                      </a:r>
                    </a:p>
                  </a:txBody>
                  <a:tcPr marL="133350" marR="114300" marT="114300" marB="95250">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공격/방어 시계열</a:t>
                      </a:r>
                    </a:p>
                    <a:p>
                      <a:r>
                        <a:rPr sz="1650">
                          <a:solidFill>
                            <a:srgbClr val="F3F6FA"/>
                          </a:solidFill>
                          <a:latin typeface="Malgun Gothic"/>
                          <a:ea typeface="Malgun Gothic"/>
                          <a:cs typeface="Malgun Gothic"/>
                        </a:rPr>
                        <a:t>라벨이 아님</a:t>
                      </a:r>
                    </a:p>
                  </a:txBody>
                  <a:tcPr marL="133350" marR="114300" marT="114300" marB="95250">
                    <a:lnR w="9525">
                      <a:solidFill>
                        <a:srgbClr val="314158"/>
                      </a:solidFill>
                      <a:prstDash val="solid"/>
                    </a:lnR>
                    <a:lnB w="9525">
                      <a:solidFill>
                        <a:srgbClr val="314158"/>
                      </a:solidFill>
                      <a:prstDash val="solid"/>
                    </a:lnB>
                    <a:solidFill>
                      <a:srgbClr val="0D1728"/>
                    </a:solidFill>
                  </a:tcPr>
                </a:tc>
              </a:tr>
              <a:tr h="833438">
                <a:tc>
                  <a:txBody>
                    <a:bodyPr/>
                    <a:lstStyle/>
                    <a:p>
                      <a:r>
                        <a:rPr sz="1650">
                          <a:solidFill>
                            <a:srgbClr val="F3F6FA"/>
                          </a:solidFill>
                          <a:latin typeface="Malgun Gothic"/>
                          <a:ea typeface="Malgun Gothic"/>
                          <a:cs typeface="Malgun Gothic"/>
                        </a:rPr>
                        <a:t>Jester</a:t>
                      </a:r>
                    </a:p>
                  </a:txBody>
                  <a:tcPr marL="133350" marR="114300" marT="114300" marB="95250">
                    <a:lnL w="9525">
                      <a:solidFill>
                        <a:srgbClr val="314158"/>
                      </a:solidFill>
                      <a:prstDash val="solid"/>
                    </a:lnL>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148,092 영상</a:t>
                      </a:r>
                    </a:p>
                    <a:p>
                      <a:r>
                        <a:rPr sz="1650">
                          <a:solidFill>
                            <a:srgbClr val="F3F6FA"/>
                          </a:solidFill>
                          <a:latin typeface="Malgun Gothic"/>
                          <a:ea typeface="Malgun Gothic"/>
                          <a:cs typeface="Malgun Gothic"/>
                        </a:rPr>
                        <a:t>27종 손동작</a:t>
                      </a:r>
                    </a:p>
                  </a:txBody>
                  <a:tcPr marL="133350" marR="114300" marT="114300" marB="95250">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시간에 따른 이동과</a:t>
                      </a:r>
                    </a:p>
                    <a:p>
                      <a:r>
                        <a:rPr sz="1650">
                          <a:solidFill>
                            <a:srgbClr val="F3F6FA"/>
                          </a:solidFill>
                          <a:latin typeface="Malgun Gothic"/>
                          <a:ea typeface="Malgun Gothic"/>
                          <a:cs typeface="Malgun Gothic"/>
                        </a:rPr>
                        <a:t>영상 평가 방식</a:t>
                      </a:r>
                    </a:p>
                  </a:txBody>
                  <a:tcPr marL="133350" marR="114300" marT="114300" marB="95250">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사용자 정의 양손</a:t>
                      </a:r>
                    </a:p>
                    <a:p>
                      <a:r>
                        <a:rPr sz="1650">
                          <a:solidFill>
                            <a:srgbClr val="F3F6FA"/>
                          </a:solidFill>
                          <a:latin typeface="Malgun Gothic"/>
                          <a:ea typeface="Malgun Gothic"/>
                          <a:cs typeface="Malgun Gothic"/>
                        </a:rPr>
                        <a:t>명령과 라벨 불일치</a:t>
                      </a:r>
                    </a:p>
                  </a:txBody>
                  <a:tcPr marL="133350" marR="114300" marT="114300" marB="95250">
                    <a:lnR w="9525">
                      <a:solidFill>
                        <a:srgbClr val="314158"/>
                      </a:solidFill>
                      <a:prstDash val="solid"/>
                    </a:lnR>
                    <a:lnB w="9525">
                      <a:solidFill>
                        <a:srgbClr val="314158"/>
                      </a:solidFill>
                      <a:prstDash val="solid"/>
                    </a:lnB>
                    <a:solidFill>
                      <a:srgbClr val="0D1728"/>
                    </a:solidFill>
                  </a:tcPr>
                </a:tc>
              </a:tr>
              <a:tr h="833438">
                <a:tc>
                  <a:txBody>
                    <a:bodyPr/>
                    <a:lstStyle/>
                    <a:p>
                      <a:r>
                        <a:rPr sz="1650">
                          <a:solidFill>
                            <a:srgbClr val="F3F6FA"/>
                          </a:solidFill>
                          <a:latin typeface="Malgun Gothic"/>
                          <a:ea typeface="Malgun Gothic"/>
                          <a:cs typeface="Malgun Gothic"/>
                        </a:rPr>
                        <a:t>EgoGesture</a:t>
                      </a:r>
                    </a:p>
                  </a:txBody>
                  <a:tcPr marL="133350" marR="114300" marT="114300" marB="95250">
                    <a:lnL w="9525">
                      <a:solidFill>
                        <a:srgbClr val="314158"/>
                      </a:solidFill>
                      <a:prstDash val="solid"/>
                    </a:lnL>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83종 제스처</a:t>
                      </a:r>
                    </a:p>
                    <a:p>
                      <a:r>
                        <a:rPr sz="1650">
                          <a:solidFill>
                            <a:srgbClr val="F3F6FA"/>
                          </a:solidFill>
                          <a:latin typeface="Malgun Gothic"/>
                          <a:ea typeface="Malgun Gothic"/>
                          <a:cs typeface="Malgun Gothic"/>
                        </a:rPr>
                        <a:t>RGB·깊이 영상</a:t>
                      </a:r>
                    </a:p>
                  </a:txBody>
                  <a:tcPr marL="133350" marR="114300" marT="114300" marB="95250">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촬영 조건·동작 분할</a:t>
                      </a:r>
                    </a:p>
                    <a:p>
                      <a:r>
                        <a:rPr sz="1650">
                          <a:solidFill>
                            <a:srgbClr val="F3F6FA"/>
                          </a:solidFill>
                          <a:latin typeface="Malgun Gothic"/>
                          <a:ea typeface="Malgun Gothic"/>
                          <a:cs typeface="Malgun Gothic"/>
                        </a:rPr>
                        <a:t>관련 연구</a:t>
                      </a:r>
                    </a:p>
                  </a:txBody>
                  <a:tcPr marL="133350" marR="114300" marT="114300" marB="95250">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1인칭 시점으로</a:t>
                      </a:r>
                    </a:p>
                    <a:p>
                      <a:r>
                        <a:rPr sz="1650">
                          <a:solidFill>
                            <a:srgbClr val="F3F6FA"/>
                          </a:solidFill>
                          <a:latin typeface="Malgun Gothic"/>
                          <a:ea typeface="Malgun Gothic"/>
                          <a:cs typeface="Malgun Gothic"/>
                        </a:rPr>
                        <a:t>정면 웹캠과 차이</a:t>
                      </a:r>
                    </a:p>
                  </a:txBody>
                  <a:tcPr marL="133350" marR="114300" marT="114300" marB="95250">
                    <a:lnR w="9525">
                      <a:solidFill>
                        <a:srgbClr val="314158"/>
                      </a:solidFill>
                      <a:prstDash val="solid"/>
                    </a:lnR>
                    <a:lnB w="9525">
                      <a:solidFill>
                        <a:srgbClr val="314158"/>
                      </a:solidFill>
                      <a:prstDash val="solid"/>
                    </a:lnB>
                    <a:solidFill>
                      <a:srgbClr val="0D1728"/>
                    </a:solidFill>
                  </a:tcPr>
                </a:tc>
              </a:tr>
            </a:tbl>
          </a:graphicData>
        </a:graphic>
      </p:graphicFrame>
      <p:sp>
        <p:nvSpPr>
          <p:cNvPr id="7" name="">
            <a:extLst xmlns:a="http://schemas.openxmlformats.org/drawingml/2006/main">
              <a:ext uri="{FF2B5EF4-FFF2-40B4-BE49-F238E27FC236}">
                <a16:creationId xmlns:a16="http://schemas.microsoft.com/office/drawing/2014/main" id="{7C487129-5EEC-4D10-8B20-474595EF8CA7}"/>
              </a:ext>
            </a:extLst>
          </p:cNvPr>
          <p:cNvSpPr>
            <a:spLocks xmlns:a="http://schemas.openxmlformats.org/drawingml/2006/main" noGrp="1"/>
          </p:cNvSpPr>
          <p:nvPr/>
        </p:nvSpPr>
        <p:spPr>
          <a:xfrm xmlns:a="http://schemas.openxmlformats.org/drawingml/2006/main">
            <a:off x="552450" y="558165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82D9B4"/>
                </a:solidFill>
                <a:latin typeface="Malgun Gothic"/>
                <a:ea typeface="Malgun Gothic"/>
                <a:cs typeface="Malgun Gothic"/>
              </a:defRPr>
            </a:defPPr>
          </a:lstStyle>
          <a:p xmlns:a="http://schemas.openxmlformats.org/drawingml/2006/main">
            <a:pPr>
              <a:defRPr sz="1875" b="1">
                <a:solidFill>
                  <a:srgbClr val="82D9B4"/>
                </a:solidFill>
                <a:latin typeface="Malgun Gothic"/>
                <a:ea typeface="Malgun Gothic"/>
                <a:cs typeface="Malgun Gothic"/>
              </a:defRPr>
            </a:pPr>
            <a:r>
              <a:rPr sz="1875" b="1">
                <a:solidFill>
                  <a:srgbClr val="82D9B4"/>
                </a:solidFill>
                <a:latin typeface="Malgun Gothic"/>
                <a:ea typeface="Malgun Gothic"/>
                <a:cs typeface="Malgun Gothic"/>
              </a:rPr>
              <a:t>선정 방향  |  HaGRID는 정적 비교, Jester는 동적 연구, 최종 성능은 자체 데이터로 평가</a:t>
            </a:r>
          </a:p>
        </p:txBody>
      </p:sp>
    </p:spTree>
    <p:extLst>
      <p:ext uri="{BB962C8B-B14F-4D97-AF65-F5344CB8AC3E}">
        <p14:creationId xmlns:p14="http://schemas.microsoft.com/office/powerpoint/2010/main" val="337651129"/>
      </p:ext>
    </p:extLst>
  </p:cSld>
</p:sld>
</file>

<file path=ppt/slides/slide7.xml><?xml version="1.0" encoding="utf-8"?>
<p:sld xmlns:p="http://schemas.openxmlformats.org/presentationml/2006/main">
  <p:cSld>
    <p:bg>
      <p:bgPr>
        <a:solidFill xmlns:a="http://schemas.openxmlformats.org/drawingml/2006/main">
          <a:srgbClr val="0D172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8B39817-0F7D-4753-93CC-F8E917EDF597}"/>
              </a:ext>
            </a:extLst>
          </p:cNvPr>
          <p:cNvSpPr>
            <a:spLocks xmlns:a="http://schemas.openxmlformats.org/drawingml/2006/main" noGrp="1"/>
          </p:cNvSpPr>
          <p:nvPr/>
        </p:nvSpPr>
        <p:spPr>
          <a:xfrm xmlns:a="http://schemas.openxmlformats.org/drawingml/2006/main">
            <a:off x="533400" y="41910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F3F6FA"/>
                </a:solidFill>
                <a:latin typeface="Malgun Gothic"/>
                <a:ea typeface="Malgun Gothic"/>
                <a:cs typeface="Malgun Gothic"/>
              </a:defRPr>
            </a:defPPr>
          </a:lstStyle>
          <a:p xmlns:a="http://schemas.openxmlformats.org/drawingml/2006/main">
            <a:pPr>
              <a:defRPr sz="3150" b="1">
                <a:solidFill>
                  <a:srgbClr val="F3F6FA"/>
                </a:solidFill>
                <a:latin typeface="Malgun Gothic"/>
                <a:ea typeface="Malgun Gothic"/>
                <a:cs typeface="Malgun Gothic"/>
              </a:defRPr>
            </a:pPr>
            <a:r>
              <a:rPr sz="3150" b="1">
                <a:solidFill>
                  <a:srgbClr val="F3F6FA"/>
                </a:solidFill>
                <a:latin typeface="Malgun Gothic"/>
                <a:ea typeface="Malgun Gothic"/>
                <a:cs typeface="Malgun Gothic"/>
              </a:rPr>
              <a:t>자체 데이터 계획: 8개 공격·방어 동작과 NONE</a:t>
            </a:r>
          </a:p>
        </p:txBody>
      </p:sp>
      <p:sp>
        <p:nvSpPr>
          <p:cNvPr id="2" name="">
            <a:extLst xmlns:a="http://schemas.openxmlformats.org/drawingml/2006/main">
              <a:ext uri="{FF2B5EF4-FFF2-40B4-BE49-F238E27FC236}">
                <a16:creationId xmlns:a16="http://schemas.microsoft.com/office/drawing/2014/main" id="{9AE4C0F6-3D26-4C06-977B-632D89D696C5}"/>
              </a:ext>
            </a:extLst>
          </p:cNvPr>
          <p:cNvSpPr>
            <a:spLocks xmlns:a="http://schemas.openxmlformats.org/drawingml/2006/main" noGrp="1"/>
          </p:cNvSpPr>
          <p:nvPr/>
        </p:nvSpPr>
        <p:spPr>
          <a:xfrm xmlns:a="http://schemas.openxmlformats.org/drawingml/2006/main">
            <a:off x="552450" y="11620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A8B8CD"/>
                </a:solidFill>
                <a:latin typeface="Malgun Gothic"/>
                <a:ea typeface="Malgun Gothic"/>
                <a:cs typeface="Malgun Gothic"/>
              </a:defRPr>
            </a:defPPr>
          </a:lstStyle>
          <a:p xmlns:a="http://schemas.openxmlformats.org/drawingml/2006/main">
            <a:pPr>
              <a:defRPr sz="1725" b="0">
                <a:solidFill>
                  <a:srgbClr val="A8B8CD"/>
                </a:solidFill>
                <a:latin typeface="Malgun Gothic"/>
                <a:ea typeface="Malgun Gothic"/>
                <a:cs typeface="Malgun Gothic"/>
              </a:defRPr>
            </a:pPr>
            <a:r>
              <a:rPr sz="1725" b="0">
                <a:solidFill>
                  <a:srgbClr val="A8B8CD"/>
                </a:solidFill>
                <a:latin typeface="Malgun Gothic"/>
                <a:ea typeface="Malgun Gothic"/>
                <a:cs typeface="Malgun Gothic"/>
              </a:rPr>
              <a:t>동작 정의 → 시험 단위 수집 → 참가자 기준 분할</a:t>
            </a:r>
          </a:p>
        </p:txBody>
      </p:sp>
      <p:sp>
        <p:nvSpPr>
          <p:cNvPr id="3" name="">
            <a:extLst xmlns:a="http://schemas.openxmlformats.org/drawingml/2006/main">
              <a:ext uri="{FF2B5EF4-FFF2-40B4-BE49-F238E27FC236}">
                <a16:creationId xmlns:a16="http://schemas.microsoft.com/office/drawing/2014/main" id="{167ECA68-5C9F-430D-BC7E-9D5E7160E626}"/>
              </a:ext>
            </a:extLst>
          </p:cNvPr>
          <p:cNvSpPr>
            <a:spLocks xmlns:a="http://schemas.openxmlformats.org/drawingml/2006/main" noGrp="1"/>
          </p:cNvSpPr>
          <p:nvPr/>
        </p:nvSpPr>
        <p:spPr>
          <a:xfrm xmlns:a="http://schemas.openxmlformats.org/drawingml/2006/main">
            <a:off x="533400" y="6191250"/>
            <a:ext cx="11125200" cy="19050"/>
          </a:xfrm>
          <a:prstGeom xmlns:a="http://schemas.openxmlformats.org/drawingml/2006/main" prst="rect">
            <a:avLst/>
          </a:prstGeom>
          <a:solidFill xmlns:a="http://schemas.openxmlformats.org/drawingml/2006/main">
            <a:srgbClr val="31415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8EAC1EC-E353-4295-BE9B-5A13E3A6E795}"/>
              </a:ext>
            </a:extLst>
          </p:cNvPr>
          <p:cNvSpPr>
            <a:spLocks xmlns:a="http://schemas.openxmlformats.org/drawingml/2006/main" noGrp="1"/>
          </p:cNvSpPr>
          <p:nvPr/>
        </p:nvSpPr>
        <p:spPr>
          <a:xfrm xmlns:a="http://schemas.openxmlformats.org/drawingml/2006/main">
            <a:off x="5524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A8B8CD"/>
                </a:solidFill>
                <a:latin typeface="Malgun Gothic"/>
                <a:ea typeface="Malgun Gothic"/>
                <a:cs typeface="Malgun Gothic"/>
              </a:defRPr>
            </a:defPPr>
          </a:lstStyle>
          <a:p xmlns:a="http://schemas.openxmlformats.org/drawingml/2006/main">
            <a:pPr>
              <a:defRPr sz="1050" b="0">
                <a:solidFill>
                  <a:srgbClr val="A8B8CD"/>
                </a:solidFill>
                <a:latin typeface="Malgun Gothic"/>
                <a:ea typeface="Malgun Gothic"/>
                <a:cs typeface="Malgun Gothic"/>
              </a:defRPr>
            </a:pPr>
            <a:r>
              <a:rPr sz="1050" b="0">
                <a:solidFill>
                  <a:srgbClr val="A8B8CD"/>
                </a:solidFill>
                <a:latin typeface="Malgun Gothic"/>
                <a:ea typeface="Malgun Gothic"/>
                <a:cs typeface="Malgun Gothic"/>
              </a:rPr>
              <a:t>ELEMENTAL BENDER · 2조 송기훈 · 최원제</a:t>
            </a:r>
          </a:p>
        </p:txBody>
      </p:sp>
      <p:sp>
        <p:nvSpPr>
          <p:cNvPr id="5" name="">
            <a:extLst xmlns:a="http://schemas.openxmlformats.org/drawingml/2006/main">
              <a:ext uri="{FF2B5EF4-FFF2-40B4-BE49-F238E27FC236}">
                <a16:creationId xmlns:a16="http://schemas.microsoft.com/office/drawing/2014/main" id="{87C70BEF-467C-4B5B-9542-DAE564B06ACA}"/>
              </a:ext>
            </a:extLst>
          </p:cNvPr>
          <p:cNvSpPr>
            <a:spLocks xmlns:a="http://schemas.openxmlformats.org/drawingml/2006/main" noGrp="1"/>
          </p:cNvSpPr>
          <p:nvPr/>
        </p:nvSpPr>
        <p:spPr>
          <a:xfrm xmlns:a="http://schemas.openxmlformats.org/drawingml/2006/main">
            <a:off x="11144250" y="6334125"/>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A8B8CD"/>
                </a:solidFill>
                <a:latin typeface="Malgun Gothic"/>
                <a:ea typeface="Malgun Gothic"/>
                <a:cs typeface="Malgun Gothic"/>
              </a:defRPr>
            </a:defPPr>
          </a:lstStyle>
          <a:p xmlns:a="http://schemas.openxmlformats.org/drawingml/2006/main">
            <a:pPr>
              <a:defRPr sz="1350" b="0">
                <a:solidFill>
                  <a:srgbClr val="A8B8CD"/>
                </a:solidFill>
                <a:latin typeface="Malgun Gothic"/>
                <a:ea typeface="Malgun Gothic"/>
                <a:cs typeface="Malgun Gothic"/>
              </a:defRPr>
            </a:pPr>
            <a:r>
              <a:rPr sz="1350" b="0">
                <a:solidFill>
                  <a:srgbClr val="A8B8CD"/>
                </a:solidFill>
                <a:latin typeface="Malgun Gothic"/>
                <a:ea typeface="Malgun Gothic"/>
                <a:cs typeface="Malgun Gothic"/>
              </a:rPr>
              <a:t>07</a:t>
            </a:r>
          </a:p>
        </p:txBody>
      </p:sp>
      <p:sp>
        <p:nvSpPr>
          <p:cNvPr id="6" name="">
            <a:extLst xmlns:a="http://schemas.openxmlformats.org/drawingml/2006/main">
              <a:ext uri="{FF2B5EF4-FFF2-40B4-BE49-F238E27FC236}">
                <a16:creationId xmlns:a16="http://schemas.microsoft.com/office/drawing/2014/main" id="{43C43E91-F0C9-4F10-A1D2-D2EE108421E3}"/>
              </a:ext>
            </a:extLst>
          </p:cNvPr>
          <p:cNvSpPr>
            <a:spLocks xmlns:a="http://schemas.openxmlformats.org/drawingml/2006/main" noGrp="1"/>
          </p:cNvSpPr>
          <p:nvPr/>
        </p:nvSpPr>
        <p:spPr>
          <a:xfrm xmlns:a="http://schemas.openxmlformats.org/drawingml/2006/main">
            <a:off x="552450" y="1981200"/>
            <a:ext cx="4381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300" b="1">
                <a:solidFill>
                  <a:srgbClr val="73B8FF"/>
                </a:solidFill>
                <a:latin typeface="Malgun Gothic"/>
                <a:ea typeface="Malgun Gothic"/>
                <a:cs typeface="Malgun Gothic"/>
              </a:defRPr>
            </a:defPPr>
          </a:lstStyle>
          <a:p xmlns:a="http://schemas.openxmlformats.org/drawingml/2006/main">
            <a:pPr>
              <a:defRPr sz="6300" b="1">
                <a:solidFill>
                  <a:srgbClr val="73B8FF"/>
                </a:solidFill>
                <a:latin typeface="Malgun Gothic"/>
                <a:ea typeface="Malgun Gothic"/>
                <a:cs typeface="Malgun Gothic"/>
              </a:defRPr>
            </a:pPr>
            <a:r>
              <a:rPr sz="6300" b="1">
                <a:solidFill>
                  <a:srgbClr val="73B8FF"/>
                </a:solidFill>
                <a:latin typeface="Malgun Gothic"/>
                <a:ea typeface="Malgun Gothic"/>
                <a:cs typeface="Malgun Gothic"/>
              </a:rPr>
              <a:t>1,440</a:t>
            </a:r>
          </a:p>
        </p:txBody>
      </p:sp>
      <p:sp>
        <p:nvSpPr>
          <p:cNvPr id="7" name="">
            <a:extLst xmlns:a="http://schemas.openxmlformats.org/drawingml/2006/main">
              <a:ext uri="{FF2B5EF4-FFF2-40B4-BE49-F238E27FC236}">
                <a16:creationId xmlns:a16="http://schemas.microsoft.com/office/drawing/2014/main" id="{A7E01395-3702-4A53-A5F8-1704A93D4C31}"/>
              </a:ext>
            </a:extLst>
          </p:cNvPr>
          <p:cNvSpPr>
            <a:spLocks xmlns:a="http://schemas.openxmlformats.org/drawingml/2006/main" noGrp="1"/>
          </p:cNvSpPr>
          <p:nvPr/>
        </p:nvSpPr>
        <p:spPr>
          <a:xfrm xmlns:a="http://schemas.openxmlformats.org/drawingml/2006/main">
            <a:off x="571500" y="3067050"/>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F3F6FA"/>
                </a:solidFill>
                <a:latin typeface="Malgun Gothic"/>
                <a:ea typeface="Malgun Gothic"/>
                <a:cs typeface="Malgun Gothic"/>
              </a:defRPr>
            </a:defPPr>
          </a:lstStyle>
          <a:p xmlns:a="http://schemas.openxmlformats.org/drawingml/2006/main">
            <a:pPr>
              <a:defRPr sz="2175" b="0">
                <a:solidFill>
                  <a:srgbClr val="F3F6FA"/>
                </a:solidFill>
                <a:latin typeface="Malgun Gothic"/>
                <a:ea typeface="Malgun Gothic"/>
                <a:cs typeface="Malgun Gothic"/>
              </a:defRPr>
            </a:pPr>
            <a:r>
              <a:rPr sz="2175" b="0">
                <a:solidFill>
                  <a:srgbClr val="F3F6FA"/>
                </a:solidFill>
                <a:latin typeface="Malgun Gothic"/>
                <a:ea typeface="Malgun Gothic"/>
                <a:cs typeface="Malgun Gothic"/>
              </a:rPr>
              <a:t>개 양성 시험 수집 예정</a:t>
            </a:r>
          </a:p>
        </p:txBody>
      </p:sp>
      <p:sp>
        <p:nvSpPr>
          <p:cNvPr id="8" name="">
            <a:extLst xmlns:a="http://schemas.openxmlformats.org/drawingml/2006/main">
              <a:ext uri="{FF2B5EF4-FFF2-40B4-BE49-F238E27FC236}">
                <a16:creationId xmlns:a16="http://schemas.microsoft.com/office/drawing/2014/main" id="{A0E6B1CA-99D7-452E-B288-AA43E146CDCF}"/>
              </a:ext>
            </a:extLst>
          </p:cNvPr>
          <p:cNvSpPr>
            <a:spLocks xmlns:a="http://schemas.openxmlformats.org/drawingml/2006/main" noGrp="1"/>
          </p:cNvSpPr>
          <p:nvPr/>
        </p:nvSpPr>
        <p:spPr>
          <a:xfrm xmlns:a="http://schemas.openxmlformats.org/drawingml/2006/main">
            <a:off x="571500" y="3695700"/>
            <a:ext cx="4810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A8B8CD"/>
                </a:solidFill>
                <a:latin typeface="Malgun Gothic"/>
                <a:ea typeface="Malgun Gothic"/>
                <a:cs typeface="Malgun Gothic"/>
              </a:defRPr>
            </a:defPPr>
          </a:lstStyle>
          <a:p xmlns:a="http://schemas.openxmlformats.org/drawingml/2006/main">
            <a:pPr>
              <a:defRPr sz="1950" b="0">
                <a:solidFill>
                  <a:srgbClr val="A8B8CD"/>
                </a:solidFill>
                <a:latin typeface="Malgun Gothic"/>
                <a:ea typeface="Malgun Gothic"/>
                <a:cs typeface="Malgun Gothic"/>
              </a:defRPr>
            </a:pPr>
            <a:r>
              <a:rPr sz="1950" b="0">
                <a:solidFill>
                  <a:srgbClr val="A8B8CD"/>
                </a:solidFill>
                <a:latin typeface="Malgun Gothic"/>
                <a:ea typeface="Malgun Gothic"/>
                <a:cs typeface="Malgun Gothic"/>
              </a:rPr>
              <a:t>6명 × 8동작 × 3조건 × 10회</a:t>
            </a:r>
          </a:p>
          <a:p xmlns:a="http://schemas.openxmlformats.org/drawingml/2006/main">
            <a:pPr>
              <a:defRPr sz="1950" b="0">
                <a:solidFill>
                  <a:srgbClr val="A8B8CD"/>
                </a:solidFill>
                <a:latin typeface="Malgun Gothic"/>
                <a:ea typeface="Malgun Gothic"/>
                <a:cs typeface="Malgun Gothic"/>
              </a:defRPr>
            </a:pPr>
            <a:r>
              <a:rPr sz="1950" b="0">
                <a:solidFill>
                  <a:srgbClr val="A8B8CD"/>
                </a:solidFill>
                <a:latin typeface="Malgun Gothic"/>
                <a:ea typeface="Malgun Gothic"/>
                <a:cs typeface="Malgun Gothic"/>
              </a:rPr>
              <a:t>시험당 4초 + NONE 구간 18분</a:t>
            </a:r>
          </a:p>
        </p:txBody>
      </p:sp>
      <p:sp>
        <p:nvSpPr>
          <p:cNvPr id="9" name="">
            <a:extLst xmlns:a="http://schemas.openxmlformats.org/drawingml/2006/main">
              <a:ext uri="{FF2B5EF4-FFF2-40B4-BE49-F238E27FC236}">
                <a16:creationId xmlns:a16="http://schemas.microsoft.com/office/drawing/2014/main" id="{586ED82C-AE38-4BED-9FE5-2DDA40D48CAC}"/>
              </a:ext>
            </a:extLst>
          </p:cNvPr>
          <p:cNvSpPr>
            <a:spLocks xmlns:a="http://schemas.openxmlformats.org/drawingml/2006/main" noGrp="1"/>
          </p:cNvSpPr>
          <p:nvPr/>
        </p:nvSpPr>
        <p:spPr>
          <a:xfrm xmlns:a="http://schemas.openxmlformats.org/drawingml/2006/main">
            <a:off x="6334125" y="198120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82D9B4"/>
                </a:solidFill>
                <a:latin typeface="Malgun Gothic"/>
                <a:ea typeface="Malgun Gothic"/>
                <a:cs typeface="Malgun Gothic"/>
              </a:defRPr>
            </a:defPPr>
          </a:lstStyle>
          <a:p xmlns:a="http://schemas.openxmlformats.org/drawingml/2006/main">
            <a:pPr>
              <a:defRPr sz="2250" b="1">
                <a:solidFill>
                  <a:srgbClr val="82D9B4"/>
                </a:solidFill>
                <a:latin typeface="Malgun Gothic"/>
                <a:ea typeface="Malgun Gothic"/>
                <a:cs typeface="Malgun Gothic"/>
              </a:defRPr>
            </a:pPr>
            <a:r>
              <a:rPr sz="2250" b="1">
                <a:solidFill>
                  <a:srgbClr val="82D9B4"/>
                </a:solidFill>
                <a:latin typeface="Malgun Gothic"/>
                <a:ea typeface="Malgun Gothic"/>
                <a:cs typeface="Malgun Gothic"/>
              </a:rPr>
              <a:t>수집할 정보</a:t>
            </a:r>
          </a:p>
        </p:txBody>
      </p:sp>
      <p:sp>
        <p:nvSpPr>
          <p:cNvPr id="10" name="">
            <a:extLst xmlns:a="http://schemas.openxmlformats.org/drawingml/2006/main">
              <a:ext uri="{FF2B5EF4-FFF2-40B4-BE49-F238E27FC236}">
                <a16:creationId xmlns:a16="http://schemas.microsoft.com/office/drawing/2014/main" id="{5CB17BC7-3CDF-4B8C-8EDD-AEFB3BC91019}"/>
              </a:ext>
            </a:extLst>
          </p:cNvPr>
          <p:cNvSpPr>
            <a:spLocks xmlns:a="http://schemas.openxmlformats.org/drawingml/2006/main" noGrp="1"/>
          </p:cNvSpPr>
          <p:nvPr/>
        </p:nvSpPr>
        <p:spPr>
          <a:xfrm xmlns:a="http://schemas.openxmlformats.org/drawingml/2006/main">
            <a:off x="6334125" y="2552700"/>
            <a:ext cx="5238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3F6FA"/>
                </a:solidFill>
                <a:latin typeface="Malgun Gothic"/>
                <a:ea typeface="Malgun Gothic"/>
                <a:cs typeface="Malgun Gothic"/>
              </a:defRPr>
            </a:defPPr>
          </a:lstStyle>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익명 참가자 ID · 정답 라벨</a:t>
            </a:r>
          </a:p>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시간 · 양손 관절 · 누락 마스크</a:t>
            </a:r>
          </a:p>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조명 · 거리 · 카메라 조건</a:t>
            </a:r>
          </a:p>
        </p:txBody>
      </p:sp>
      <p:sp>
        <p:nvSpPr>
          <p:cNvPr id="11" name="">
            <a:extLst xmlns:a="http://schemas.openxmlformats.org/drawingml/2006/main">
              <a:ext uri="{FF2B5EF4-FFF2-40B4-BE49-F238E27FC236}">
                <a16:creationId xmlns:a16="http://schemas.microsoft.com/office/drawing/2014/main" id="{BB1C1F84-9A61-477D-9778-45581591EBC3}"/>
              </a:ext>
            </a:extLst>
          </p:cNvPr>
          <p:cNvSpPr>
            <a:spLocks xmlns:a="http://schemas.openxmlformats.org/drawingml/2006/main" noGrp="1"/>
          </p:cNvSpPr>
          <p:nvPr/>
        </p:nvSpPr>
        <p:spPr>
          <a:xfrm xmlns:a="http://schemas.openxmlformats.org/drawingml/2006/main">
            <a:off x="571500" y="52006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3F6FA"/>
                </a:solidFill>
                <a:latin typeface="Malgun Gothic"/>
                <a:ea typeface="Malgun Gothic"/>
                <a:cs typeface="Malgun Gothic"/>
              </a:defRPr>
            </a:defPPr>
          </a:lstStyle>
          <a:p xmlns:a="http://schemas.openxmlformats.org/drawingml/2006/main">
            <a:pPr>
              <a:defRPr sz="2175" b="1">
                <a:solidFill>
                  <a:srgbClr val="F3F6FA"/>
                </a:solidFill>
                <a:latin typeface="Malgun Gothic"/>
                <a:ea typeface="Malgun Gothic"/>
                <a:cs typeface="Malgun Gothic"/>
              </a:defRPr>
            </a:pPr>
            <a:r>
              <a:rPr sz="2175" b="1">
                <a:solidFill>
                  <a:srgbClr val="F3F6FA"/>
                </a:solidFill>
                <a:latin typeface="Malgun Gothic"/>
                <a:ea typeface="Malgun Gothic"/>
                <a:cs typeface="Malgun Gothic"/>
              </a:rPr>
              <a:t>개발/학습 P01-P03   →   검증 P04   →   최종 테스트 P05-P06</a:t>
            </a:r>
          </a:p>
        </p:txBody>
      </p:sp>
      <p:sp>
        <p:nvSpPr>
          <p:cNvPr id="12" name="">
            <a:extLst xmlns:a="http://schemas.openxmlformats.org/drawingml/2006/main">
              <a:ext uri="{FF2B5EF4-FFF2-40B4-BE49-F238E27FC236}">
                <a16:creationId xmlns:a16="http://schemas.microsoft.com/office/drawing/2014/main" id="{DB69D1C8-D749-4F60-A4DF-AB5B4F32A3DD}"/>
              </a:ext>
            </a:extLst>
          </p:cNvPr>
          <p:cNvSpPr>
            <a:spLocks xmlns:a="http://schemas.openxmlformats.org/drawingml/2006/main" noGrp="1"/>
          </p:cNvSpPr>
          <p:nvPr/>
        </p:nvSpPr>
        <p:spPr>
          <a:xfrm xmlns:a="http://schemas.openxmlformats.org/drawingml/2006/main">
            <a:off x="571500" y="57531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A8B8CD"/>
                </a:solidFill>
                <a:latin typeface="Malgun Gothic"/>
                <a:ea typeface="Malgun Gothic"/>
                <a:cs typeface="Malgun Gothic"/>
              </a:defRPr>
            </a:defPPr>
          </a:lstStyle>
          <a:p xmlns:a="http://schemas.openxmlformats.org/drawingml/2006/main">
            <a:pPr>
              <a:defRPr sz="1575" b="0">
                <a:solidFill>
                  <a:srgbClr val="A8B8CD"/>
                </a:solidFill>
                <a:latin typeface="Malgun Gothic"/>
                <a:ea typeface="Malgun Gothic"/>
                <a:cs typeface="Malgun Gothic"/>
              </a:defRPr>
            </a:pPr>
            <a:r>
              <a:rPr sz="1575" b="0">
                <a:solidFill>
                  <a:srgbClr val="A8B8CD"/>
                </a:solidFill>
                <a:latin typeface="Malgun Gothic"/>
                <a:ea typeface="Malgun Gothic"/>
                <a:cs typeface="Malgun Gothic"/>
              </a:rPr>
              <a:t>현재는 계획 단계  ·  기존 기록기의 공격/방어 라벨 확장이 먼저 필요</a:t>
            </a:r>
          </a:p>
        </p:txBody>
      </p:sp>
    </p:spTree>
    <p:extLst>
      <p:ext uri="{BB962C8B-B14F-4D97-AF65-F5344CB8AC3E}">
        <p14:creationId xmlns:p14="http://schemas.microsoft.com/office/powerpoint/2010/main" val="842666113"/>
      </p:ext>
    </p:extLst>
  </p:cSld>
</p:sld>
</file>

<file path=ppt/slides/slide8.xml><?xml version="1.0" encoding="utf-8"?>
<p:sld xmlns:p="http://schemas.openxmlformats.org/presentationml/2006/main">
  <p:cSld>
    <p:bg>
      <p:bgPr>
        <a:solidFill xmlns:a="http://schemas.openxmlformats.org/drawingml/2006/main">
          <a:srgbClr val="0D172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B6B3990-ADAE-4B15-AA23-79E1C7B3F082}"/>
              </a:ext>
            </a:extLst>
          </p:cNvPr>
          <p:cNvSpPr>
            <a:spLocks xmlns:a="http://schemas.openxmlformats.org/drawingml/2006/main" noGrp="1"/>
          </p:cNvSpPr>
          <p:nvPr/>
        </p:nvSpPr>
        <p:spPr>
          <a:xfrm xmlns:a="http://schemas.openxmlformats.org/drawingml/2006/main">
            <a:off x="533400" y="41910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F3F6FA"/>
                </a:solidFill>
                <a:latin typeface="Malgun Gothic"/>
                <a:ea typeface="Malgun Gothic"/>
                <a:cs typeface="Malgun Gothic"/>
              </a:defRPr>
            </a:defPPr>
          </a:lstStyle>
          <a:p xmlns:a="http://schemas.openxmlformats.org/drawingml/2006/main">
            <a:pPr>
              <a:defRPr sz="3150" b="1">
                <a:solidFill>
                  <a:srgbClr val="F3F6FA"/>
                </a:solidFill>
                <a:latin typeface="Malgun Gothic"/>
                <a:ea typeface="Malgun Gothic"/>
                <a:cs typeface="Malgun Gothic"/>
              </a:defRPr>
            </a:pPr>
            <a:r>
              <a:rPr sz="3150" b="1">
                <a:solidFill>
                  <a:srgbClr val="F3F6FA"/>
                </a:solidFill>
                <a:latin typeface="Malgun Gothic"/>
                <a:ea typeface="Malgun Gothic"/>
                <a:cs typeface="Malgun Gothic"/>
              </a:rPr>
              <a:t>전처리: 손의 자세와 양손 관계를 함께 보존</a:t>
            </a:r>
          </a:p>
        </p:txBody>
      </p:sp>
      <p:sp>
        <p:nvSpPr>
          <p:cNvPr id="2" name="">
            <a:extLst xmlns:a="http://schemas.openxmlformats.org/drawingml/2006/main">
              <a:ext uri="{FF2B5EF4-FFF2-40B4-BE49-F238E27FC236}">
                <a16:creationId xmlns:a16="http://schemas.microsoft.com/office/drawing/2014/main" id="{08739B29-FFD8-4A1F-911A-F8B138B38226}"/>
              </a:ext>
            </a:extLst>
          </p:cNvPr>
          <p:cNvSpPr>
            <a:spLocks xmlns:a="http://schemas.openxmlformats.org/drawingml/2006/main" noGrp="1"/>
          </p:cNvSpPr>
          <p:nvPr/>
        </p:nvSpPr>
        <p:spPr>
          <a:xfrm xmlns:a="http://schemas.openxmlformats.org/drawingml/2006/main">
            <a:off x="552450" y="11620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A8B8CD"/>
                </a:solidFill>
                <a:latin typeface="Malgun Gothic"/>
                <a:ea typeface="Malgun Gothic"/>
                <a:cs typeface="Malgun Gothic"/>
              </a:defRPr>
            </a:defPPr>
          </a:lstStyle>
          <a:p xmlns:a="http://schemas.openxmlformats.org/drawingml/2006/main">
            <a:pPr>
              <a:defRPr sz="1725" b="0">
                <a:solidFill>
                  <a:srgbClr val="A8B8CD"/>
                </a:solidFill>
                <a:latin typeface="Malgun Gothic"/>
                <a:ea typeface="Malgun Gothic"/>
                <a:cs typeface="Malgun Gothic"/>
              </a:defRPr>
            </a:pPr>
            <a:r>
              <a:rPr sz="1725" b="0">
                <a:solidFill>
                  <a:srgbClr val="A8B8CD"/>
                </a:solidFill>
                <a:latin typeface="Malgun Gothic"/>
                <a:ea typeface="Malgun Gothic"/>
                <a:cs typeface="Malgun Gothic"/>
              </a:rPr>
              <a:t>현재 손 특징을 시계열 데이터로 확장할 계획</a:t>
            </a:r>
          </a:p>
        </p:txBody>
      </p:sp>
      <p:sp>
        <p:nvSpPr>
          <p:cNvPr id="3" name="">
            <a:extLst xmlns:a="http://schemas.openxmlformats.org/drawingml/2006/main">
              <a:ext uri="{FF2B5EF4-FFF2-40B4-BE49-F238E27FC236}">
                <a16:creationId xmlns:a16="http://schemas.microsoft.com/office/drawing/2014/main" id="{7262D6D4-2379-47E9-8007-D89D6D095BCF}"/>
              </a:ext>
            </a:extLst>
          </p:cNvPr>
          <p:cNvSpPr>
            <a:spLocks xmlns:a="http://schemas.openxmlformats.org/drawingml/2006/main" noGrp="1"/>
          </p:cNvSpPr>
          <p:nvPr/>
        </p:nvSpPr>
        <p:spPr>
          <a:xfrm xmlns:a="http://schemas.openxmlformats.org/drawingml/2006/main">
            <a:off x="533400" y="6191250"/>
            <a:ext cx="11125200" cy="19050"/>
          </a:xfrm>
          <a:prstGeom xmlns:a="http://schemas.openxmlformats.org/drawingml/2006/main" prst="rect">
            <a:avLst/>
          </a:prstGeom>
          <a:solidFill xmlns:a="http://schemas.openxmlformats.org/drawingml/2006/main">
            <a:srgbClr val="31415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EDC083C-CF13-45B7-B3A8-3851FD7EDC59}"/>
              </a:ext>
            </a:extLst>
          </p:cNvPr>
          <p:cNvSpPr>
            <a:spLocks xmlns:a="http://schemas.openxmlformats.org/drawingml/2006/main" noGrp="1"/>
          </p:cNvSpPr>
          <p:nvPr/>
        </p:nvSpPr>
        <p:spPr>
          <a:xfrm xmlns:a="http://schemas.openxmlformats.org/drawingml/2006/main">
            <a:off x="5524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A8B8CD"/>
                </a:solidFill>
                <a:latin typeface="Malgun Gothic"/>
                <a:ea typeface="Malgun Gothic"/>
                <a:cs typeface="Malgun Gothic"/>
              </a:defRPr>
            </a:defPPr>
          </a:lstStyle>
          <a:p xmlns:a="http://schemas.openxmlformats.org/drawingml/2006/main">
            <a:pPr>
              <a:defRPr sz="1050" b="0">
                <a:solidFill>
                  <a:srgbClr val="A8B8CD"/>
                </a:solidFill>
                <a:latin typeface="Malgun Gothic"/>
                <a:ea typeface="Malgun Gothic"/>
                <a:cs typeface="Malgun Gothic"/>
              </a:defRPr>
            </a:pPr>
            <a:r>
              <a:rPr sz="1050" b="0">
                <a:solidFill>
                  <a:srgbClr val="A8B8CD"/>
                </a:solidFill>
                <a:latin typeface="Malgun Gothic"/>
                <a:ea typeface="Malgun Gothic"/>
                <a:cs typeface="Malgun Gothic"/>
              </a:rPr>
              <a:t>ELEMENTAL BENDER · 2조 송기훈 · 최원제</a:t>
            </a:r>
          </a:p>
        </p:txBody>
      </p:sp>
      <p:sp>
        <p:nvSpPr>
          <p:cNvPr id="5" name="">
            <a:extLst xmlns:a="http://schemas.openxmlformats.org/drawingml/2006/main">
              <a:ext uri="{FF2B5EF4-FFF2-40B4-BE49-F238E27FC236}">
                <a16:creationId xmlns:a16="http://schemas.microsoft.com/office/drawing/2014/main" id="{ACD126F5-672E-41FC-9A18-B4CD32AD0010}"/>
              </a:ext>
            </a:extLst>
          </p:cNvPr>
          <p:cNvSpPr>
            <a:spLocks xmlns:a="http://schemas.openxmlformats.org/drawingml/2006/main" noGrp="1"/>
          </p:cNvSpPr>
          <p:nvPr/>
        </p:nvSpPr>
        <p:spPr>
          <a:xfrm xmlns:a="http://schemas.openxmlformats.org/drawingml/2006/main">
            <a:off x="11144250" y="6334125"/>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A8B8CD"/>
                </a:solidFill>
                <a:latin typeface="Malgun Gothic"/>
                <a:ea typeface="Malgun Gothic"/>
                <a:cs typeface="Malgun Gothic"/>
              </a:defRPr>
            </a:defPPr>
          </a:lstStyle>
          <a:p xmlns:a="http://schemas.openxmlformats.org/drawingml/2006/main">
            <a:pPr>
              <a:defRPr sz="1350" b="0">
                <a:solidFill>
                  <a:srgbClr val="A8B8CD"/>
                </a:solidFill>
                <a:latin typeface="Malgun Gothic"/>
                <a:ea typeface="Malgun Gothic"/>
                <a:cs typeface="Malgun Gothic"/>
              </a:defRPr>
            </a:pPr>
            <a:r>
              <a:rPr sz="1350" b="0">
                <a:solidFill>
                  <a:srgbClr val="A8B8CD"/>
                </a:solidFill>
                <a:latin typeface="Malgun Gothic"/>
                <a:ea typeface="Malgun Gothic"/>
                <a:cs typeface="Malgun Gothic"/>
              </a:rPr>
              <a:t>08</a:t>
            </a:r>
          </a:p>
        </p:txBody>
      </p:sp>
      <p:sp>
        <p:nvSpPr>
          <p:cNvPr id="6" name="">
            <a:extLst xmlns:a="http://schemas.openxmlformats.org/drawingml/2006/main">
              <a:ext uri="{FF2B5EF4-FFF2-40B4-BE49-F238E27FC236}">
                <a16:creationId xmlns:a16="http://schemas.microsoft.com/office/drawing/2014/main" id="{F5179F5C-C5A7-4E47-9FFF-A2B0FB272621}"/>
              </a:ext>
            </a:extLst>
          </p:cNvPr>
          <p:cNvSpPr>
            <a:spLocks xmlns:a="http://schemas.openxmlformats.org/drawingml/2006/main" noGrp="1"/>
          </p:cNvSpPr>
          <p:nvPr/>
        </p:nvSpPr>
        <p:spPr>
          <a:xfrm xmlns:a="http://schemas.openxmlformats.org/drawingml/2006/main">
            <a:off x="552450" y="1952625"/>
            <a:ext cx="3238500" cy="19050"/>
          </a:xfrm>
          <a:prstGeom xmlns:a="http://schemas.openxmlformats.org/drawingml/2006/main" prst="rect">
            <a:avLst/>
          </a:prstGeom>
          <a:solidFill xmlns:a="http://schemas.openxmlformats.org/drawingml/2006/main">
            <a:srgbClr val="73B8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591C264-3649-4E88-91FF-D38670FC26B9}"/>
              </a:ext>
            </a:extLst>
          </p:cNvPr>
          <p:cNvSpPr>
            <a:spLocks xmlns:a="http://schemas.openxmlformats.org/drawingml/2006/main" noGrp="1"/>
          </p:cNvSpPr>
          <p:nvPr/>
        </p:nvSpPr>
        <p:spPr>
          <a:xfrm xmlns:a="http://schemas.openxmlformats.org/drawingml/2006/main">
            <a:off x="552450" y="21240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73B8FF"/>
                </a:solidFill>
                <a:latin typeface="Malgun Gothic"/>
                <a:ea typeface="Malgun Gothic"/>
                <a:cs typeface="Malgun Gothic"/>
              </a:defRPr>
            </a:defPPr>
          </a:lstStyle>
          <a:p xmlns:a="http://schemas.openxmlformats.org/drawingml/2006/main">
            <a:pPr>
              <a:defRPr sz="2175" b="1">
                <a:solidFill>
                  <a:srgbClr val="73B8FF"/>
                </a:solidFill>
                <a:latin typeface="Malgun Gothic"/>
                <a:ea typeface="Malgun Gothic"/>
                <a:cs typeface="Malgun Gothic"/>
              </a:defRPr>
            </a:pPr>
            <a:r>
              <a:rPr sz="2175" b="1">
                <a:solidFill>
                  <a:srgbClr val="73B8FF"/>
                </a:solidFill>
                <a:latin typeface="Malgun Gothic"/>
                <a:ea typeface="Malgun Gothic"/>
                <a:cs typeface="Malgun Gothic"/>
              </a:rPr>
              <a:t>손별 특징</a:t>
            </a:r>
          </a:p>
        </p:txBody>
      </p:sp>
      <p:sp>
        <p:nvSpPr>
          <p:cNvPr id="8" name="">
            <a:extLst xmlns:a="http://schemas.openxmlformats.org/drawingml/2006/main">
              <a:ext uri="{FF2B5EF4-FFF2-40B4-BE49-F238E27FC236}">
                <a16:creationId xmlns:a16="http://schemas.microsoft.com/office/drawing/2014/main" id="{5204CCB9-A83E-478F-B9BE-B76211C07290}"/>
              </a:ext>
            </a:extLst>
          </p:cNvPr>
          <p:cNvSpPr>
            <a:spLocks xmlns:a="http://schemas.openxmlformats.org/drawingml/2006/main" noGrp="1"/>
          </p:cNvSpPr>
          <p:nvPr/>
        </p:nvSpPr>
        <p:spPr>
          <a:xfrm xmlns:a="http://schemas.openxmlformats.org/drawingml/2006/main">
            <a:off x="552450" y="2714625"/>
            <a:ext cx="323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F3F6FA"/>
                </a:solidFill>
                <a:latin typeface="Malgun Gothic"/>
                <a:ea typeface="Malgun Gothic"/>
                <a:cs typeface="Malgun Gothic"/>
              </a:defRPr>
            </a:defPPr>
          </a:lstStyle>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손목 기준 상대 좌표</a:t>
            </a:r>
          </a:p>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손 크기로 정규화</a:t>
            </a:r>
          </a:p>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손가락 각도·펴짐 상태</a:t>
            </a:r>
          </a:p>
        </p:txBody>
      </p:sp>
      <p:sp>
        <p:nvSpPr>
          <p:cNvPr id="9" name="">
            <a:extLst xmlns:a="http://schemas.openxmlformats.org/drawingml/2006/main">
              <a:ext uri="{FF2B5EF4-FFF2-40B4-BE49-F238E27FC236}">
                <a16:creationId xmlns:a16="http://schemas.microsoft.com/office/drawing/2014/main" id="{3D77ED36-2696-4CA7-AEC0-4D184549E18D}"/>
              </a:ext>
            </a:extLst>
          </p:cNvPr>
          <p:cNvSpPr>
            <a:spLocks xmlns:a="http://schemas.openxmlformats.org/drawingml/2006/main" noGrp="1"/>
          </p:cNvSpPr>
          <p:nvPr/>
        </p:nvSpPr>
        <p:spPr>
          <a:xfrm xmlns:a="http://schemas.openxmlformats.org/drawingml/2006/main">
            <a:off x="4362450" y="1952625"/>
            <a:ext cx="3238500" cy="19050"/>
          </a:xfrm>
          <a:prstGeom xmlns:a="http://schemas.openxmlformats.org/drawingml/2006/main" prst="rect">
            <a:avLst/>
          </a:prstGeom>
          <a:solidFill xmlns:a="http://schemas.openxmlformats.org/drawingml/2006/main">
            <a:srgbClr val="82D9B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84486C4-8236-4940-9C47-4450CE28C47C}"/>
              </a:ext>
            </a:extLst>
          </p:cNvPr>
          <p:cNvSpPr>
            <a:spLocks xmlns:a="http://schemas.openxmlformats.org/drawingml/2006/main" noGrp="1"/>
          </p:cNvSpPr>
          <p:nvPr/>
        </p:nvSpPr>
        <p:spPr>
          <a:xfrm xmlns:a="http://schemas.openxmlformats.org/drawingml/2006/main">
            <a:off x="4362450" y="21240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82D9B4"/>
                </a:solidFill>
                <a:latin typeface="Malgun Gothic"/>
                <a:ea typeface="Malgun Gothic"/>
                <a:cs typeface="Malgun Gothic"/>
              </a:defRPr>
            </a:defPPr>
          </a:lstStyle>
          <a:p xmlns:a="http://schemas.openxmlformats.org/drawingml/2006/main">
            <a:pPr>
              <a:defRPr sz="2175" b="1">
                <a:solidFill>
                  <a:srgbClr val="82D9B4"/>
                </a:solidFill>
                <a:latin typeface="Malgun Gothic"/>
                <a:ea typeface="Malgun Gothic"/>
                <a:cs typeface="Malgun Gothic"/>
              </a:defRPr>
            </a:pPr>
            <a:r>
              <a:rPr sz="2175" b="1">
                <a:solidFill>
                  <a:srgbClr val="82D9B4"/>
                </a:solidFill>
                <a:latin typeface="Malgun Gothic"/>
                <a:ea typeface="Malgun Gothic"/>
                <a:cs typeface="Malgun Gothic"/>
              </a:rPr>
              <a:t>양손 관계</a:t>
            </a:r>
          </a:p>
        </p:txBody>
      </p:sp>
      <p:sp>
        <p:nvSpPr>
          <p:cNvPr id="11" name="">
            <a:extLst xmlns:a="http://schemas.openxmlformats.org/drawingml/2006/main">
              <a:ext uri="{FF2B5EF4-FFF2-40B4-BE49-F238E27FC236}">
                <a16:creationId xmlns:a16="http://schemas.microsoft.com/office/drawing/2014/main" id="{1C94001A-59B9-4963-BD13-35DC26B1F7F9}"/>
              </a:ext>
            </a:extLst>
          </p:cNvPr>
          <p:cNvSpPr>
            <a:spLocks xmlns:a="http://schemas.openxmlformats.org/drawingml/2006/main" noGrp="1"/>
          </p:cNvSpPr>
          <p:nvPr/>
        </p:nvSpPr>
        <p:spPr>
          <a:xfrm xmlns:a="http://schemas.openxmlformats.org/drawingml/2006/main">
            <a:off x="4362450" y="2714625"/>
            <a:ext cx="323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F3F6FA"/>
                </a:solidFill>
                <a:latin typeface="Malgun Gothic"/>
                <a:ea typeface="Malgun Gothic"/>
                <a:cs typeface="Malgun Gothic"/>
              </a:defRPr>
            </a:defPPr>
          </a:lstStyle>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두 손 사이 거리</a:t>
            </a:r>
          </a:p>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상대 위치·이동 방향</a:t>
            </a:r>
          </a:p>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공통 움직임과 개별 움직임</a:t>
            </a:r>
          </a:p>
        </p:txBody>
      </p:sp>
      <p:sp>
        <p:nvSpPr>
          <p:cNvPr id="12" name="">
            <a:extLst xmlns:a="http://schemas.openxmlformats.org/drawingml/2006/main">
              <a:ext uri="{FF2B5EF4-FFF2-40B4-BE49-F238E27FC236}">
                <a16:creationId xmlns:a16="http://schemas.microsoft.com/office/drawing/2014/main" id="{538E7BA4-4BA4-44EA-9E7A-B625EEB4B4B8}"/>
              </a:ext>
            </a:extLst>
          </p:cNvPr>
          <p:cNvSpPr>
            <a:spLocks xmlns:a="http://schemas.openxmlformats.org/drawingml/2006/main" noGrp="1"/>
          </p:cNvSpPr>
          <p:nvPr/>
        </p:nvSpPr>
        <p:spPr>
          <a:xfrm xmlns:a="http://schemas.openxmlformats.org/drawingml/2006/main">
            <a:off x="8172450" y="1952625"/>
            <a:ext cx="3476625" cy="19050"/>
          </a:xfrm>
          <a:prstGeom xmlns:a="http://schemas.openxmlformats.org/drawingml/2006/main" prst="rect">
            <a:avLst/>
          </a:prstGeom>
          <a:solidFill xmlns:a="http://schemas.openxmlformats.org/drawingml/2006/main">
            <a:srgbClr val="F5A67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6459C16-269E-40E5-9605-53F5620EAEC3}"/>
              </a:ext>
            </a:extLst>
          </p:cNvPr>
          <p:cNvSpPr>
            <a:spLocks xmlns:a="http://schemas.openxmlformats.org/drawingml/2006/main" noGrp="1"/>
          </p:cNvSpPr>
          <p:nvPr/>
        </p:nvSpPr>
        <p:spPr>
          <a:xfrm xmlns:a="http://schemas.openxmlformats.org/drawingml/2006/main">
            <a:off x="8172450" y="21240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5A677"/>
                </a:solidFill>
                <a:latin typeface="Malgun Gothic"/>
                <a:ea typeface="Malgun Gothic"/>
                <a:cs typeface="Malgun Gothic"/>
              </a:defRPr>
            </a:defPPr>
          </a:lstStyle>
          <a:p xmlns:a="http://schemas.openxmlformats.org/drawingml/2006/main">
            <a:pPr>
              <a:defRPr sz="2175" b="1">
                <a:solidFill>
                  <a:srgbClr val="F5A677"/>
                </a:solidFill>
                <a:latin typeface="Malgun Gothic"/>
                <a:ea typeface="Malgun Gothic"/>
                <a:cs typeface="Malgun Gothic"/>
              </a:defRPr>
            </a:pPr>
            <a:r>
              <a:rPr sz="2175" b="1">
                <a:solidFill>
                  <a:srgbClr val="F5A677"/>
                </a:solidFill>
                <a:latin typeface="Malgun Gothic"/>
                <a:ea typeface="Malgun Gothic"/>
                <a:cs typeface="Malgun Gothic"/>
              </a:rPr>
              <a:t>시간 정보</a:t>
            </a:r>
          </a:p>
        </p:txBody>
      </p:sp>
      <p:sp>
        <p:nvSpPr>
          <p:cNvPr id="14" name="">
            <a:extLst xmlns:a="http://schemas.openxmlformats.org/drawingml/2006/main">
              <a:ext uri="{FF2B5EF4-FFF2-40B4-BE49-F238E27FC236}">
                <a16:creationId xmlns:a16="http://schemas.microsoft.com/office/drawing/2014/main" id="{45C22F12-6AD6-46AA-AF9B-D4AF36AFC836}"/>
              </a:ext>
            </a:extLst>
          </p:cNvPr>
          <p:cNvSpPr>
            <a:spLocks xmlns:a="http://schemas.openxmlformats.org/drawingml/2006/main" noGrp="1"/>
          </p:cNvSpPr>
          <p:nvPr/>
        </p:nvSpPr>
        <p:spPr>
          <a:xfrm xmlns:a="http://schemas.openxmlformats.org/drawingml/2006/main">
            <a:off x="8172450" y="2714625"/>
            <a:ext cx="3476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F3F6FA"/>
                </a:solidFill>
                <a:latin typeface="Malgun Gothic"/>
                <a:ea typeface="Malgun Gothic"/>
                <a:cs typeface="Malgun Gothic"/>
              </a:defRPr>
            </a:defPPr>
          </a:lstStyle>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시계열 길이 통일</a:t>
            </a:r>
          </a:p>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누락 마스크 유지</a:t>
            </a:r>
          </a:p>
          <a:p xmlns:a="http://schemas.openxmlformats.org/drawingml/2006/main">
            <a:pPr>
              <a:defRPr sz="1800" b="0">
                <a:solidFill>
                  <a:srgbClr val="F3F6FA"/>
                </a:solidFill>
                <a:latin typeface="Malgun Gothic"/>
                <a:ea typeface="Malgun Gothic"/>
                <a:cs typeface="Malgun Gothic"/>
              </a:defRPr>
            </a:pPr>
            <a:r>
              <a:rPr sz="1800" b="0">
                <a:solidFill>
                  <a:srgbClr val="F3F6FA"/>
                </a:solidFill>
                <a:latin typeface="Malgun Gothic"/>
                <a:ea typeface="Malgun Gothic"/>
                <a:cs typeface="Malgun Gothic"/>
              </a:rPr>
              <a:t>중립→동작→중립 구간</a:t>
            </a:r>
          </a:p>
        </p:txBody>
      </p:sp>
      <p:sp>
        <p:nvSpPr>
          <p:cNvPr id="15" name="">
            <a:extLst xmlns:a="http://schemas.openxmlformats.org/drawingml/2006/main">
              <a:ext uri="{FF2B5EF4-FFF2-40B4-BE49-F238E27FC236}">
                <a16:creationId xmlns:a16="http://schemas.microsoft.com/office/drawing/2014/main" id="{A274097B-B718-44E9-B3E1-C0DA45A3AE26}"/>
              </a:ext>
            </a:extLst>
          </p:cNvPr>
          <p:cNvSpPr>
            <a:spLocks xmlns:a="http://schemas.openxmlformats.org/drawingml/2006/main" noGrp="1"/>
          </p:cNvSpPr>
          <p:nvPr/>
        </p:nvSpPr>
        <p:spPr>
          <a:xfrm xmlns:a="http://schemas.openxmlformats.org/drawingml/2006/main">
            <a:off x="552450" y="466725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3F6FA"/>
                </a:solidFill>
                <a:latin typeface="Malgun Gothic"/>
                <a:ea typeface="Malgun Gothic"/>
                <a:cs typeface="Malgun Gothic"/>
              </a:defRPr>
            </a:defPPr>
          </a:lstStyle>
          <a:p xmlns:a="http://schemas.openxmlformats.org/drawingml/2006/main">
            <a:pPr>
              <a:defRPr sz="2175" b="1">
                <a:solidFill>
                  <a:srgbClr val="F3F6FA"/>
                </a:solidFill>
                <a:latin typeface="Malgun Gothic"/>
                <a:ea typeface="Malgun Gothic"/>
                <a:cs typeface="Malgun Gothic"/>
              </a:defRPr>
            </a:pPr>
            <a:r>
              <a:rPr sz="2175" b="1">
                <a:solidFill>
                  <a:srgbClr val="F3F6FA"/>
                </a:solidFill>
                <a:latin typeface="Malgun Gothic"/>
                <a:ea typeface="Malgun Gothic"/>
                <a:cs typeface="Malgun Gothic"/>
              </a:rPr>
              <a:t>각 손을 따로 정규화해도 두 손 사이의 거리·관계가 사라지지 않도록 별도 특징을 유지</a:t>
            </a:r>
          </a:p>
        </p:txBody>
      </p:sp>
      <p:sp>
        <p:nvSpPr>
          <p:cNvPr id="16" name="">
            <a:extLst xmlns:a="http://schemas.openxmlformats.org/drawingml/2006/main">
              <a:ext uri="{FF2B5EF4-FFF2-40B4-BE49-F238E27FC236}">
                <a16:creationId xmlns:a16="http://schemas.microsoft.com/office/drawing/2014/main" id="{E7A317C2-F42D-4A69-B6F4-EB57D6E141E8}"/>
              </a:ext>
            </a:extLst>
          </p:cNvPr>
          <p:cNvSpPr>
            <a:spLocks xmlns:a="http://schemas.openxmlformats.org/drawingml/2006/main" noGrp="1"/>
          </p:cNvSpPr>
          <p:nvPr/>
        </p:nvSpPr>
        <p:spPr>
          <a:xfrm xmlns:a="http://schemas.openxmlformats.org/drawingml/2006/main">
            <a:off x="552450" y="56959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A8B8CD"/>
                </a:solidFill>
                <a:latin typeface="Malgun Gothic"/>
                <a:ea typeface="Malgun Gothic"/>
                <a:cs typeface="Malgun Gothic"/>
              </a:defRPr>
            </a:defPPr>
          </a:lstStyle>
          <a:p xmlns:a="http://schemas.openxmlformats.org/drawingml/2006/main">
            <a:pPr>
              <a:defRPr sz="1725" b="0">
                <a:solidFill>
                  <a:srgbClr val="A8B8CD"/>
                </a:solidFill>
                <a:latin typeface="Malgun Gothic"/>
                <a:ea typeface="Malgun Gothic"/>
                <a:cs typeface="Malgun Gothic"/>
              </a:defRPr>
            </a:pPr>
            <a:r>
              <a:rPr sz="1725" b="0">
                <a:solidFill>
                  <a:srgbClr val="A8B8CD"/>
                </a:solidFill>
                <a:latin typeface="Malgun Gothic"/>
                <a:ea typeface="Malgun Gothic"/>
                <a:cs typeface="Malgun Gothic"/>
              </a:rPr>
              <a:t>좌우 반전 증강은 동작 의미가 유지되는 경우에만 적용</a:t>
            </a:r>
          </a:p>
        </p:txBody>
      </p:sp>
    </p:spTree>
    <p:extLst>
      <p:ext uri="{BB962C8B-B14F-4D97-AF65-F5344CB8AC3E}">
        <p14:creationId xmlns:p14="http://schemas.microsoft.com/office/powerpoint/2010/main" val="1731853953"/>
      </p:ext>
    </p:extLst>
  </p:cSld>
</p:sld>
</file>

<file path=ppt/slides/slide9.xml><?xml version="1.0" encoding="utf-8"?>
<p:sld xmlns:p="http://schemas.openxmlformats.org/presentationml/2006/main">
  <p:cSld>
    <p:bg>
      <p:bgPr>
        <a:solidFill xmlns:a="http://schemas.openxmlformats.org/drawingml/2006/main">
          <a:srgbClr val="0D172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F083483-3ED5-4009-9206-005A4C7F89D8}"/>
              </a:ext>
            </a:extLst>
          </p:cNvPr>
          <p:cNvSpPr>
            <a:spLocks xmlns:a="http://schemas.openxmlformats.org/drawingml/2006/main" noGrp="1"/>
          </p:cNvSpPr>
          <p:nvPr/>
        </p:nvSpPr>
        <p:spPr>
          <a:xfrm xmlns:a="http://schemas.openxmlformats.org/drawingml/2006/main">
            <a:off x="533400" y="41910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F3F6FA"/>
                </a:solidFill>
                <a:latin typeface="Malgun Gothic"/>
                <a:ea typeface="Malgun Gothic"/>
                <a:cs typeface="Malgun Gothic"/>
              </a:defRPr>
            </a:defPPr>
          </a:lstStyle>
          <a:p xmlns:a="http://schemas.openxmlformats.org/drawingml/2006/main">
            <a:pPr>
              <a:defRPr sz="3150" b="1">
                <a:solidFill>
                  <a:srgbClr val="F3F6FA"/>
                </a:solidFill>
                <a:latin typeface="Malgun Gothic"/>
                <a:ea typeface="Malgun Gothic"/>
                <a:cs typeface="Malgun Gothic"/>
              </a:defRPr>
            </a:pPr>
            <a:r>
              <a:rPr sz="3150" b="1">
                <a:solidFill>
                  <a:srgbClr val="F3F6FA"/>
                </a:solidFill>
                <a:latin typeface="Malgun Gothic"/>
                <a:ea typeface="Malgun Gothic"/>
                <a:cs typeface="Malgun Gothic"/>
              </a:rPr>
              <a:t>참조 코드 분석: 공식 Tasks API와 학습 기반 예제</a:t>
            </a:r>
          </a:p>
        </p:txBody>
      </p:sp>
      <p:sp>
        <p:nvSpPr>
          <p:cNvPr id="2" name="">
            <a:extLst xmlns:a="http://schemas.openxmlformats.org/drawingml/2006/main">
              <a:ext uri="{FF2B5EF4-FFF2-40B4-BE49-F238E27FC236}">
                <a16:creationId xmlns:a16="http://schemas.microsoft.com/office/drawing/2014/main" id="{C79EA0A6-22F2-4E72-9750-D29111C77B43}"/>
              </a:ext>
            </a:extLst>
          </p:cNvPr>
          <p:cNvSpPr>
            <a:spLocks xmlns:a="http://schemas.openxmlformats.org/drawingml/2006/main" noGrp="1"/>
          </p:cNvSpPr>
          <p:nvPr/>
        </p:nvSpPr>
        <p:spPr>
          <a:xfrm xmlns:a="http://schemas.openxmlformats.org/drawingml/2006/main">
            <a:off x="552450" y="11620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A8B8CD"/>
                </a:solidFill>
                <a:latin typeface="Malgun Gothic"/>
                <a:ea typeface="Malgun Gothic"/>
                <a:cs typeface="Malgun Gothic"/>
              </a:defRPr>
            </a:defPPr>
          </a:lstStyle>
          <a:p xmlns:a="http://schemas.openxmlformats.org/drawingml/2006/main">
            <a:pPr>
              <a:defRPr sz="1725" b="0">
                <a:solidFill>
                  <a:srgbClr val="A8B8CD"/>
                </a:solidFill>
                <a:latin typeface="Malgun Gothic"/>
                <a:ea typeface="Malgun Gothic"/>
                <a:cs typeface="Malgun Gothic"/>
              </a:defRPr>
            </a:pPr>
            <a:r>
              <a:rPr sz="1725" b="0">
                <a:solidFill>
                  <a:srgbClr val="A8B8CD"/>
                </a:solidFill>
                <a:latin typeface="Malgun Gothic"/>
                <a:ea typeface="Malgun Gothic"/>
                <a:cs typeface="Malgun Gothic"/>
              </a:rPr>
              <a:t>참조 원본·버전·라이선스를 GitHub research/reference_code에 보관</a:t>
            </a:r>
          </a:p>
        </p:txBody>
      </p:sp>
      <p:sp>
        <p:nvSpPr>
          <p:cNvPr id="3" name="">
            <a:extLst xmlns:a="http://schemas.openxmlformats.org/drawingml/2006/main">
              <a:ext uri="{FF2B5EF4-FFF2-40B4-BE49-F238E27FC236}">
                <a16:creationId xmlns:a16="http://schemas.microsoft.com/office/drawing/2014/main" id="{51875231-312D-43CE-A8A5-AE423313170A}"/>
              </a:ext>
            </a:extLst>
          </p:cNvPr>
          <p:cNvSpPr>
            <a:spLocks xmlns:a="http://schemas.openxmlformats.org/drawingml/2006/main" noGrp="1"/>
          </p:cNvSpPr>
          <p:nvPr/>
        </p:nvSpPr>
        <p:spPr>
          <a:xfrm xmlns:a="http://schemas.openxmlformats.org/drawingml/2006/main">
            <a:off x="533400" y="6191250"/>
            <a:ext cx="11125200" cy="19050"/>
          </a:xfrm>
          <a:prstGeom xmlns:a="http://schemas.openxmlformats.org/drawingml/2006/main" prst="rect">
            <a:avLst/>
          </a:prstGeom>
          <a:solidFill xmlns:a="http://schemas.openxmlformats.org/drawingml/2006/main">
            <a:srgbClr val="31415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645AE2B-DA77-4828-95A2-C44DBE09FE60}"/>
              </a:ext>
            </a:extLst>
          </p:cNvPr>
          <p:cNvSpPr>
            <a:spLocks xmlns:a="http://schemas.openxmlformats.org/drawingml/2006/main" noGrp="1"/>
          </p:cNvSpPr>
          <p:nvPr/>
        </p:nvSpPr>
        <p:spPr>
          <a:xfrm xmlns:a="http://schemas.openxmlformats.org/drawingml/2006/main">
            <a:off x="5524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A8B8CD"/>
                </a:solidFill>
                <a:latin typeface="Malgun Gothic"/>
                <a:ea typeface="Malgun Gothic"/>
                <a:cs typeface="Malgun Gothic"/>
              </a:defRPr>
            </a:defPPr>
          </a:lstStyle>
          <a:p xmlns:a="http://schemas.openxmlformats.org/drawingml/2006/main">
            <a:pPr>
              <a:defRPr sz="1050" b="0">
                <a:solidFill>
                  <a:srgbClr val="A8B8CD"/>
                </a:solidFill>
                <a:latin typeface="Malgun Gothic"/>
                <a:ea typeface="Malgun Gothic"/>
                <a:cs typeface="Malgun Gothic"/>
              </a:defRPr>
            </a:pPr>
            <a:r>
              <a:rPr sz="1050" b="0">
                <a:solidFill>
                  <a:srgbClr val="A8B8CD"/>
                </a:solidFill>
                <a:latin typeface="Malgun Gothic"/>
                <a:ea typeface="Malgun Gothic"/>
                <a:cs typeface="Malgun Gothic"/>
              </a:rPr>
              <a:t>출처: Google MediaPipe Samples / kinivi hand-gesture-recognition-mediapipe</a:t>
            </a:r>
          </a:p>
        </p:txBody>
      </p:sp>
      <p:sp>
        <p:nvSpPr>
          <p:cNvPr id="5" name="">
            <a:extLst xmlns:a="http://schemas.openxmlformats.org/drawingml/2006/main">
              <a:ext uri="{FF2B5EF4-FFF2-40B4-BE49-F238E27FC236}">
                <a16:creationId xmlns:a16="http://schemas.microsoft.com/office/drawing/2014/main" id="{0382FCEE-1460-43A1-98D3-7371914D3AEA}"/>
              </a:ext>
            </a:extLst>
          </p:cNvPr>
          <p:cNvSpPr>
            <a:spLocks xmlns:a="http://schemas.openxmlformats.org/drawingml/2006/main" noGrp="1"/>
          </p:cNvSpPr>
          <p:nvPr/>
        </p:nvSpPr>
        <p:spPr>
          <a:xfrm xmlns:a="http://schemas.openxmlformats.org/drawingml/2006/main">
            <a:off x="11144250" y="6334125"/>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A8B8CD"/>
                </a:solidFill>
                <a:latin typeface="Malgun Gothic"/>
                <a:ea typeface="Malgun Gothic"/>
                <a:cs typeface="Malgun Gothic"/>
              </a:defRPr>
            </a:defPPr>
          </a:lstStyle>
          <a:p xmlns:a="http://schemas.openxmlformats.org/drawingml/2006/main">
            <a:pPr>
              <a:defRPr sz="1350" b="0">
                <a:solidFill>
                  <a:srgbClr val="A8B8CD"/>
                </a:solidFill>
                <a:latin typeface="Malgun Gothic"/>
                <a:ea typeface="Malgun Gothic"/>
                <a:cs typeface="Malgun Gothic"/>
              </a:defRPr>
            </a:pPr>
            <a:r>
              <a:rPr sz="1350" b="0">
                <a:solidFill>
                  <a:srgbClr val="A8B8CD"/>
                </a:solidFill>
                <a:latin typeface="Malgun Gothic"/>
                <a:ea typeface="Malgun Gothic"/>
                <a:cs typeface="Malgun Gothic"/>
              </a:rPr>
              <a:t>09</a:t>
            </a:r>
          </a:p>
        </p:txBody>
      </p:sp>
      <p:sp>
        <p:nvSpPr>
          <p:cNvPr id="6" name="">
            <a:extLst xmlns:a="http://schemas.openxmlformats.org/drawingml/2006/main">
              <a:ext uri="{FF2B5EF4-FFF2-40B4-BE49-F238E27FC236}">
                <a16:creationId xmlns:a16="http://schemas.microsoft.com/office/drawing/2014/main" id="{5034E80F-F065-4D3B-8CE9-0EF820B53E9D}"/>
              </a:ext>
            </a:extLst>
          </p:cNvPr>
          <p:cNvSpPr>
            <a:spLocks xmlns:a="http://schemas.openxmlformats.org/drawingml/2006/main" noGrp="1"/>
          </p:cNvSpPr>
          <p:nvPr/>
        </p:nvSpPr>
        <p:spPr>
          <a:xfrm xmlns:a="http://schemas.openxmlformats.org/drawingml/2006/main">
            <a:off x="552450" y="19050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73B8FF"/>
                </a:solidFill>
                <a:latin typeface="Malgun Gothic"/>
                <a:ea typeface="Malgun Gothic"/>
                <a:cs typeface="Malgun Gothic"/>
              </a:defRPr>
            </a:defPPr>
          </a:lstStyle>
          <a:p xmlns:a="http://schemas.openxmlformats.org/drawingml/2006/main">
            <a:pPr>
              <a:defRPr sz="2250" b="1">
                <a:solidFill>
                  <a:srgbClr val="73B8FF"/>
                </a:solidFill>
                <a:latin typeface="Malgun Gothic"/>
                <a:ea typeface="Malgun Gothic"/>
                <a:cs typeface="Malgun Gothic"/>
              </a:defRPr>
            </a:pPr>
            <a:r>
              <a:rPr sz="2250" b="1">
                <a:solidFill>
                  <a:srgbClr val="73B8FF"/>
                </a:solidFill>
                <a:latin typeface="Malgun Gothic"/>
                <a:ea typeface="Malgun Gothic"/>
                <a:cs typeface="Malgun Gothic"/>
              </a:rPr>
              <a:t>Google 공식 예제</a:t>
            </a:r>
          </a:p>
        </p:txBody>
      </p:sp>
      <p:sp>
        <p:nvSpPr>
          <p:cNvPr id="7" name="">
            <a:extLst xmlns:a="http://schemas.openxmlformats.org/drawingml/2006/main">
              <a:ext uri="{FF2B5EF4-FFF2-40B4-BE49-F238E27FC236}">
                <a16:creationId xmlns:a16="http://schemas.microsoft.com/office/drawing/2014/main" id="{C3D389FC-1DE2-4128-9E3E-4A87768664FF}"/>
              </a:ext>
            </a:extLst>
          </p:cNvPr>
          <p:cNvSpPr>
            <a:spLocks xmlns:a="http://schemas.openxmlformats.org/drawingml/2006/main" noGrp="1"/>
          </p:cNvSpPr>
          <p:nvPr/>
        </p:nvSpPr>
        <p:spPr>
          <a:xfrm xmlns:a="http://schemas.openxmlformats.org/drawingml/2006/main">
            <a:off x="552450" y="247650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3F6FA"/>
                </a:solidFill>
                <a:latin typeface="Malgun Gothic"/>
                <a:ea typeface="Malgun Gothic"/>
                <a:cs typeface="Malgun Gothic"/>
              </a:defRPr>
            </a:defPPr>
          </a:lstStyle>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모델 로딩 → 이미지 입력 → 21점 추정</a:t>
            </a:r>
          </a:p>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우리 코드는 VIDEO·양손 입력으로 적용</a:t>
            </a:r>
          </a:p>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관절 추정 모델은 재학습하지 않음</a:t>
            </a:r>
          </a:p>
        </p:txBody>
      </p:sp>
      <p:sp>
        <p:nvSpPr>
          <p:cNvPr id="8" name="">
            <a:extLst xmlns:a="http://schemas.openxmlformats.org/drawingml/2006/main">
              <a:ext uri="{FF2B5EF4-FFF2-40B4-BE49-F238E27FC236}">
                <a16:creationId xmlns:a16="http://schemas.microsoft.com/office/drawing/2014/main" id="{14194529-86AD-41DD-BEA3-5D7616FE2749}"/>
              </a:ext>
            </a:extLst>
          </p:cNvPr>
          <p:cNvSpPr>
            <a:spLocks xmlns:a="http://schemas.openxmlformats.org/drawingml/2006/main" noGrp="1"/>
          </p:cNvSpPr>
          <p:nvPr/>
        </p:nvSpPr>
        <p:spPr>
          <a:xfrm xmlns:a="http://schemas.openxmlformats.org/drawingml/2006/main">
            <a:off x="552450" y="3810000"/>
            <a:ext cx="11049000" cy="19050"/>
          </a:xfrm>
          <a:prstGeom xmlns:a="http://schemas.openxmlformats.org/drawingml/2006/main" prst="rect">
            <a:avLst/>
          </a:prstGeom>
          <a:solidFill xmlns:a="http://schemas.openxmlformats.org/drawingml/2006/main">
            <a:srgbClr val="31415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2AC6F92-D246-407C-B2ED-F3247502A31E}"/>
              </a:ext>
            </a:extLst>
          </p:cNvPr>
          <p:cNvSpPr>
            <a:spLocks xmlns:a="http://schemas.openxmlformats.org/drawingml/2006/main" noGrp="1"/>
          </p:cNvSpPr>
          <p:nvPr/>
        </p:nvSpPr>
        <p:spPr>
          <a:xfrm xmlns:a="http://schemas.openxmlformats.org/drawingml/2006/main">
            <a:off x="552450" y="40957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82D9B4"/>
                </a:solidFill>
                <a:latin typeface="Malgun Gothic"/>
                <a:ea typeface="Malgun Gothic"/>
                <a:cs typeface="Malgun Gothic"/>
              </a:defRPr>
            </a:defPPr>
          </a:lstStyle>
          <a:p xmlns:a="http://schemas.openxmlformats.org/drawingml/2006/main">
            <a:pPr>
              <a:defRPr sz="2025" b="1">
                <a:solidFill>
                  <a:srgbClr val="82D9B4"/>
                </a:solidFill>
                <a:latin typeface="Malgun Gothic"/>
                <a:ea typeface="Malgun Gothic"/>
                <a:cs typeface="Malgun Gothic"/>
              </a:defRPr>
            </a:pPr>
            <a:r>
              <a:rPr sz="2025" b="1">
                <a:solidFill>
                  <a:srgbClr val="82D9B4"/>
                </a:solidFill>
                <a:latin typeface="Malgun Gothic"/>
                <a:ea typeface="Malgun Gothic"/>
                <a:cs typeface="Malgun Gothic"/>
              </a:rPr>
              <a:t>kinivi 정적 분류</a:t>
            </a:r>
          </a:p>
        </p:txBody>
      </p:sp>
      <p:sp>
        <p:nvSpPr>
          <p:cNvPr id="10" name="">
            <a:extLst xmlns:a="http://schemas.openxmlformats.org/drawingml/2006/main">
              <a:ext uri="{FF2B5EF4-FFF2-40B4-BE49-F238E27FC236}">
                <a16:creationId xmlns:a16="http://schemas.microsoft.com/office/drawing/2014/main" id="{21F42B88-F0EB-45D9-ACB6-B9221013D3C6}"/>
              </a:ext>
            </a:extLst>
          </p:cNvPr>
          <p:cNvSpPr>
            <a:spLocks xmlns:a="http://schemas.openxmlformats.org/drawingml/2006/main" noGrp="1"/>
          </p:cNvSpPr>
          <p:nvPr/>
        </p:nvSpPr>
        <p:spPr>
          <a:xfrm xmlns:a="http://schemas.openxmlformats.org/drawingml/2006/main">
            <a:off x="552450" y="46196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F3F6FA"/>
                </a:solidFill>
                <a:latin typeface="Malgun Gothic"/>
                <a:ea typeface="Malgun Gothic"/>
                <a:cs typeface="Malgun Gothic"/>
              </a:defRPr>
            </a:defPPr>
          </a:lstStyle>
          <a:p xmlns:a="http://schemas.openxmlformats.org/drawingml/2006/main">
            <a:pPr>
              <a:defRPr sz="2025" b="0">
                <a:solidFill>
                  <a:srgbClr val="F3F6FA"/>
                </a:solidFill>
                <a:latin typeface="Malgun Gothic"/>
                <a:ea typeface="Malgun Gothic"/>
                <a:cs typeface="Malgun Gothic"/>
              </a:defRPr>
            </a:pPr>
            <a:r>
              <a:rPr sz="2025" b="0">
                <a:solidFill>
                  <a:srgbClr val="F3F6FA"/>
                </a:solidFill>
                <a:latin typeface="Malgun Gothic"/>
                <a:ea typeface="Malgun Gothic"/>
                <a:cs typeface="Malgun Gothic"/>
              </a:rPr>
              <a:t>42차원 → Dense 20 → Dense 10 → Softmax</a:t>
            </a:r>
          </a:p>
        </p:txBody>
      </p:sp>
      <p:sp>
        <p:nvSpPr>
          <p:cNvPr id="11" name="">
            <a:extLst xmlns:a="http://schemas.openxmlformats.org/drawingml/2006/main">
              <a:ext uri="{FF2B5EF4-FFF2-40B4-BE49-F238E27FC236}">
                <a16:creationId xmlns:a16="http://schemas.microsoft.com/office/drawing/2014/main" id="{8A8A6CD0-9856-446B-B0C4-9ADE636BA536}"/>
              </a:ext>
            </a:extLst>
          </p:cNvPr>
          <p:cNvSpPr>
            <a:spLocks xmlns:a="http://schemas.openxmlformats.org/drawingml/2006/main" noGrp="1"/>
          </p:cNvSpPr>
          <p:nvPr/>
        </p:nvSpPr>
        <p:spPr>
          <a:xfrm xmlns:a="http://schemas.openxmlformats.org/drawingml/2006/main">
            <a:off x="552450" y="52197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F5A677"/>
                </a:solidFill>
                <a:latin typeface="Malgun Gothic"/>
                <a:ea typeface="Malgun Gothic"/>
                <a:cs typeface="Malgun Gothic"/>
              </a:defRPr>
            </a:defPPr>
          </a:lstStyle>
          <a:p xmlns:a="http://schemas.openxmlformats.org/drawingml/2006/main">
            <a:pPr>
              <a:defRPr sz="1875" b="1">
                <a:solidFill>
                  <a:srgbClr val="F5A677"/>
                </a:solidFill>
                <a:latin typeface="Malgun Gothic"/>
                <a:ea typeface="Malgun Gothic"/>
                <a:cs typeface="Malgun Gothic"/>
              </a:defRPr>
            </a:pPr>
            <a:r>
              <a:rPr sz="1875" b="1">
                <a:solidFill>
                  <a:srgbClr val="F5A677"/>
                </a:solidFill>
                <a:latin typeface="Malgun Gothic"/>
                <a:ea typeface="Malgun Gothic"/>
                <a:cs typeface="Malgun Gothic"/>
              </a:rPr>
              <a:t>동적 분류</a:t>
            </a:r>
          </a:p>
        </p:txBody>
      </p:sp>
      <p:sp>
        <p:nvSpPr>
          <p:cNvPr id="12" name="">
            <a:extLst xmlns:a="http://schemas.openxmlformats.org/drawingml/2006/main">
              <a:ext uri="{FF2B5EF4-FFF2-40B4-BE49-F238E27FC236}">
                <a16:creationId xmlns:a16="http://schemas.microsoft.com/office/drawing/2014/main" id="{22410258-A3A6-4132-93FD-FDC8AB4A759A}"/>
              </a:ext>
            </a:extLst>
          </p:cNvPr>
          <p:cNvSpPr>
            <a:spLocks xmlns:a="http://schemas.openxmlformats.org/drawingml/2006/main" noGrp="1"/>
          </p:cNvSpPr>
          <p:nvPr/>
        </p:nvSpPr>
        <p:spPr>
          <a:xfrm xmlns:a="http://schemas.openxmlformats.org/drawingml/2006/main">
            <a:off x="552450" y="56578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3F6FA"/>
                </a:solidFill>
                <a:latin typeface="Malgun Gothic"/>
                <a:ea typeface="Malgun Gothic"/>
                <a:cs typeface="Malgun Gothic"/>
              </a:defRPr>
            </a:defPPr>
          </a:lstStyle>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16개 위치 이력 → MLP 24·10  /  선택적 LSTM 16</a:t>
            </a:r>
          </a:p>
        </p:txBody>
      </p:sp>
    </p:spTree>
    <p:extLst>
      <p:ext uri="{BB962C8B-B14F-4D97-AF65-F5344CB8AC3E}">
        <p14:creationId xmlns:p14="http://schemas.microsoft.com/office/powerpoint/2010/main" val="36227502"/>
      </p:ext>
    </p:extLst>
  </p:cSld>
</p:sld>
</file>

<file path=ppt/slides/slide10.xml><?xml version="1.0" encoding="utf-8"?>
<p:sld xmlns:p="http://schemas.openxmlformats.org/presentationml/2006/main">
  <p:cSld>
    <p:bg>
      <p:bgPr>
        <a:solidFill xmlns:a="http://schemas.openxmlformats.org/drawingml/2006/main">
          <a:srgbClr val="0D172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03612A6-8903-4EA5-B0ED-23CDE4396D1F}"/>
              </a:ext>
            </a:extLst>
          </p:cNvPr>
          <p:cNvSpPr>
            <a:spLocks xmlns:a="http://schemas.openxmlformats.org/drawingml/2006/main" noGrp="1"/>
          </p:cNvSpPr>
          <p:nvPr/>
        </p:nvSpPr>
        <p:spPr>
          <a:xfrm xmlns:a="http://schemas.openxmlformats.org/drawingml/2006/main">
            <a:off x="533400" y="41910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F3F6FA"/>
                </a:solidFill>
                <a:latin typeface="Malgun Gothic"/>
                <a:ea typeface="Malgun Gothic"/>
                <a:cs typeface="Malgun Gothic"/>
              </a:defRPr>
            </a:defPPr>
          </a:lstStyle>
          <a:p xmlns:a="http://schemas.openxmlformats.org/drawingml/2006/main">
            <a:pPr>
              <a:defRPr sz="3150" b="1">
                <a:solidFill>
                  <a:srgbClr val="F3F6FA"/>
                </a:solidFill>
                <a:latin typeface="Malgun Gothic"/>
                <a:ea typeface="Malgun Gothic"/>
                <a:cs typeface="Malgun Gothic"/>
              </a:defRPr>
            </a:pPr>
            <a:r>
              <a:rPr sz="3150" b="1">
                <a:solidFill>
                  <a:srgbClr val="F3F6FA"/>
                </a:solidFill>
                <a:latin typeface="Malgun Gothic"/>
                <a:ea typeface="Malgun Gothic"/>
                <a:cs typeface="Malgun Gothic"/>
              </a:rPr>
              <a:t>현재 코드 분석: 한 손 V가 WATER로 전달되는 과정</a:t>
            </a:r>
          </a:p>
        </p:txBody>
      </p:sp>
      <p:sp>
        <p:nvSpPr>
          <p:cNvPr id="2" name="">
            <a:extLst xmlns:a="http://schemas.openxmlformats.org/drawingml/2006/main">
              <a:ext uri="{FF2B5EF4-FFF2-40B4-BE49-F238E27FC236}">
                <a16:creationId xmlns:a16="http://schemas.microsoft.com/office/drawing/2014/main" id="{E0853C01-A53E-4A19-8513-063FE8A5C6AE}"/>
              </a:ext>
            </a:extLst>
          </p:cNvPr>
          <p:cNvSpPr>
            <a:spLocks xmlns:a="http://schemas.openxmlformats.org/drawingml/2006/main" noGrp="1"/>
          </p:cNvSpPr>
          <p:nvPr/>
        </p:nvSpPr>
        <p:spPr>
          <a:xfrm xmlns:a="http://schemas.openxmlformats.org/drawingml/2006/main">
            <a:off x="552450" y="11620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A8B8CD"/>
                </a:solidFill>
                <a:latin typeface="Malgun Gothic"/>
                <a:ea typeface="Malgun Gothic"/>
                <a:cs typeface="Malgun Gothic"/>
              </a:defRPr>
            </a:defPPr>
          </a:lstStyle>
          <a:p xmlns:a="http://schemas.openxmlformats.org/drawingml/2006/main">
            <a:pPr>
              <a:defRPr sz="1725" b="0">
                <a:solidFill>
                  <a:srgbClr val="A8B8CD"/>
                </a:solidFill>
                <a:latin typeface="Malgun Gothic"/>
                <a:ea typeface="Malgun Gothic"/>
                <a:cs typeface="Malgun Gothic"/>
              </a:defRPr>
            </a:pPr>
            <a:r>
              <a:rPr sz="1725" b="0">
                <a:solidFill>
                  <a:srgbClr val="A8B8CD"/>
                </a:solidFill>
                <a:latin typeface="Malgun Gothic"/>
                <a:ea typeface="Malgun Gothic"/>
                <a:cs typeface="Malgun Gothic"/>
              </a:rPr>
              <a:t>관절 추정 → 자세 유지 검사 → JSON/UDP → Unity Cast</a:t>
            </a:r>
          </a:p>
        </p:txBody>
      </p:sp>
      <p:sp>
        <p:nvSpPr>
          <p:cNvPr id="3" name="">
            <a:extLst xmlns:a="http://schemas.openxmlformats.org/drawingml/2006/main">
              <a:ext uri="{FF2B5EF4-FFF2-40B4-BE49-F238E27FC236}">
                <a16:creationId xmlns:a16="http://schemas.microsoft.com/office/drawing/2014/main" id="{AB098A93-B0BA-4844-8D4D-B754888461EE}"/>
              </a:ext>
            </a:extLst>
          </p:cNvPr>
          <p:cNvSpPr>
            <a:spLocks xmlns:a="http://schemas.openxmlformats.org/drawingml/2006/main" noGrp="1"/>
          </p:cNvSpPr>
          <p:nvPr/>
        </p:nvSpPr>
        <p:spPr>
          <a:xfrm xmlns:a="http://schemas.openxmlformats.org/drawingml/2006/main">
            <a:off x="533400" y="6191250"/>
            <a:ext cx="11125200" cy="19050"/>
          </a:xfrm>
          <a:prstGeom xmlns:a="http://schemas.openxmlformats.org/drawingml/2006/main" prst="rect">
            <a:avLst/>
          </a:prstGeom>
          <a:solidFill xmlns:a="http://schemas.openxmlformats.org/drawingml/2006/main">
            <a:srgbClr val="31415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B6AEC79-EE1F-477B-838F-50B5B7793617}"/>
              </a:ext>
            </a:extLst>
          </p:cNvPr>
          <p:cNvSpPr>
            <a:spLocks xmlns:a="http://schemas.openxmlformats.org/drawingml/2006/main" noGrp="1"/>
          </p:cNvSpPr>
          <p:nvPr/>
        </p:nvSpPr>
        <p:spPr>
          <a:xfrm xmlns:a="http://schemas.openxmlformats.org/drawingml/2006/main">
            <a:off x="5524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A8B8CD"/>
                </a:solidFill>
                <a:latin typeface="Malgun Gothic"/>
                <a:ea typeface="Malgun Gothic"/>
                <a:cs typeface="Malgun Gothic"/>
              </a:defRPr>
            </a:defPPr>
          </a:lstStyle>
          <a:p xmlns:a="http://schemas.openxmlformats.org/drawingml/2006/main">
            <a:pPr>
              <a:defRPr sz="1050" b="0">
                <a:solidFill>
                  <a:srgbClr val="A8B8CD"/>
                </a:solidFill>
                <a:latin typeface="Malgun Gothic"/>
                <a:ea typeface="Malgun Gothic"/>
                <a:cs typeface="Malgun Gothic"/>
              </a:defRPr>
            </a:pPr>
            <a:r>
              <a:rPr sz="1050" b="0">
                <a:solidFill>
                  <a:srgbClr val="A8B8CD"/>
                </a:solidFill>
                <a:latin typeface="Malgun Gothic"/>
                <a:ea typeface="Malgun Gothic"/>
                <a:cs typeface="Malgun Gothic"/>
              </a:rPr>
              <a:t>ELEMENTAL BENDER · 2조 송기훈 · 최원제</a:t>
            </a:r>
          </a:p>
        </p:txBody>
      </p:sp>
      <p:sp>
        <p:nvSpPr>
          <p:cNvPr id="5" name="">
            <a:extLst xmlns:a="http://schemas.openxmlformats.org/drawingml/2006/main">
              <a:ext uri="{FF2B5EF4-FFF2-40B4-BE49-F238E27FC236}">
                <a16:creationId xmlns:a16="http://schemas.microsoft.com/office/drawing/2014/main" id="{FD78BD4C-3F8B-4B9C-A97D-F986CC02C174}"/>
              </a:ext>
            </a:extLst>
          </p:cNvPr>
          <p:cNvSpPr>
            <a:spLocks xmlns:a="http://schemas.openxmlformats.org/drawingml/2006/main" noGrp="1"/>
          </p:cNvSpPr>
          <p:nvPr/>
        </p:nvSpPr>
        <p:spPr>
          <a:xfrm xmlns:a="http://schemas.openxmlformats.org/drawingml/2006/main">
            <a:off x="11144250" y="6334125"/>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A8B8CD"/>
                </a:solidFill>
                <a:latin typeface="Malgun Gothic"/>
                <a:ea typeface="Malgun Gothic"/>
                <a:cs typeface="Malgun Gothic"/>
              </a:defRPr>
            </a:defPPr>
          </a:lstStyle>
          <a:p xmlns:a="http://schemas.openxmlformats.org/drawingml/2006/main">
            <a:pPr>
              <a:defRPr sz="1350" b="0">
                <a:solidFill>
                  <a:srgbClr val="A8B8CD"/>
                </a:solidFill>
                <a:latin typeface="Malgun Gothic"/>
                <a:ea typeface="Malgun Gothic"/>
                <a:cs typeface="Malgun Gothic"/>
              </a:defRPr>
            </a:pPr>
            <a:r>
              <a:rPr sz="1350" b="0">
                <a:solidFill>
                  <a:srgbClr val="A8B8CD"/>
                </a:solidFill>
                <a:latin typeface="Malgun Gothic"/>
                <a:ea typeface="Malgun Gothic"/>
                <a:cs typeface="Malgun Gothic"/>
              </a:rPr>
              <a:t>10</a:t>
            </a:r>
          </a:p>
        </p:txBody>
      </p:sp>
      <p:sp>
        <p:nvSpPr>
          <p:cNvPr id="6" name="">
            <a:extLst xmlns:a="http://schemas.openxmlformats.org/drawingml/2006/main">
              <a:ext uri="{FF2B5EF4-FFF2-40B4-BE49-F238E27FC236}">
                <a16:creationId xmlns:a16="http://schemas.microsoft.com/office/drawing/2014/main" id="{EC9CF9F1-E433-41E2-B121-47EE0F0CEE29}"/>
              </a:ext>
            </a:extLst>
          </p:cNvPr>
          <p:cNvSpPr>
            <a:spLocks xmlns:a="http://schemas.openxmlformats.org/drawingml/2006/main" noGrp="1"/>
          </p:cNvSpPr>
          <p:nvPr/>
        </p:nvSpPr>
        <p:spPr>
          <a:xfrm xmlns:a="http://schemas.openxmlformats.org/drawingml/2006/main">
            <a:off x="552450" y="19145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73B8FF"/>
                </a:solidFill>
                <a:latin typeface="Malgun Gothic"/>
                <a:ea typeface="Malgun Gothic"/>
                <a:cs typeface="Malgun Gothic"/>
              </a:defRPr>
            </a:defPPr>
          </a:lstStyle>
          <a:p xmlns:a="http://schemas.openxmlformats.org/drawingml/2006/main">
            <a:pPr>
              <a:defRPr sz="2250" b="1">
                <a:solidFill>
                  <a:srgbClr val="73B8FF"/>
                </a:solidFill>
                <a:latin typeface="Malgun Gothic"/>
                <a:ea typeface="Malgun Gothic"/>
                <a:cs typeface="Malgun Gothic"/>
              </a:defRPr>
            </a:pPr>
            <a:r>
              <a:rPr sz="2250" b="1">
                <a:solidFill>
                  <a:srgbClr val="73B8FF"/>
                </a:solidFill>
                <a:latin typeface="Malgun Gothic"/>
                <a:ea typeface="Malgun Gothic"/>
                <a:cs typeface="Malgun Gothic"/>
              </a:rPr>
              <a:t>Python</a:t>
            </a:r>
          </a:p>
        </p:txBody>
      </p:sp>
      <p:sp>
        <p:nvSpPr>
          <p:cNvPr id="7" name="">
            <a:extLst xmlns:a="http://schemas.openxmlformats.org/drawingml/2006/main">
              <a:ext uri="{FF2B5EF4-FFF2-40B4-BE49-F238E27FC236}">
                <a16:creationId xmlns:a16="http://schemas.microsoft.com/office/drawing/2014/main" id="{997D8936-BE39-44DE-A62F-61BD60123433}"/>
              </a:ext>
            </a:extLst>
          </p:cNvPr>
          <p:cNvSpPr>
            <a:spLocks xmlns:a="http://schemas.openxmlformats.org/drawingml/2006/main" noGrp="1"/>
          </p:cNvSpPr>
          <p:nvPr/>
        </p:nvSpPr>
        <p:spPr>
          <a:xfrm xmlns:a="http://schemas.openxmlformats.org/drawingml/2006/main">
            <a:off x="552450" y="2524125"/>
            <a:ext cx="5095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3F6FA"/>
                </a:solidFill>
                <a:latin typeface="Malgun Gothic"/>
                <a:ea typeface="Malgun Gothic"/>
                <a:cs typeface="Malgun Gothic"/>
              </a:defRPr>
            </a:defPPr>
          </a:lstStyle>
          <a:p xmlns:a="http://schemas.openxmlformats.org/drawingml/2006/main">
            <a:pPr>
              <a:defRPr sz="2100" b="0">
                <a:solidFill>
                  <a:srgbClr val="F3F6FA"/>
                </a:solidFill>
                <a:latin typeface="Malgun Gothic"/>
                <a:ea typeface="Malgun Gothic"/>
                <a:cs typeface="Malgun Gothic"/>
              </a:defRPr>
            </a:pPr>
            <a:r>
              <a:rPr sz="2100" b="0">
                <a:solidFill>
                  <a:srgbClr val="F3F6FA"/>
                </a:solidFill>
                <a:latin typeface="Malgun Gothic"/>
                <a:ea typeface="Malgun Gothic"/>
                <a:cs typeface="Malgun Gothic"/>
              </a:rPr>
              <a:t>검지·중지 펴짐 + 두 손끝 간격</a:t>
            </a:r>
          </a:p>
          <a:p xmlns:a="http://schemas.openxmlformats.org/drawingml/2006/main">
            <a:pPr>
              <a:defRPr sz="2100" b="0">
                <a:solidFill>
                  <a:srgbClr val="F3F6FA"/>
                </a:solidFill>
                <a:latin typeface="Malgun Gothic"/>
                <a:ea typeface="Malgun Gothic"/>
                <a:cs typeface="Malgun Gothic"/>
              </a:defRPr>
            </a:pPr>
            <a:r>
              <a:rPr sz="2100" b="0">
                <a:solidFill>
                  <a:srgbClr val="F3F6FA"/>
                </a:solidFill>
                <a:latin typeface="Malgun Gothic"/>
                <a:ea typeface="Malgun Gothic"/>
                <a:cs typeface="Malgun Gothic"/>
              </a:rPr>
              <a:t>V 자세를 0.35초 유지</a:t>
            </a:r>
          </a:p>
          <a:p xmlns:a="http://schemas.openxmlformats.org/drawingml/2006/main">
            <a:pPr>
              <a:defRPr sz="2100" b="0">
                <a:solidFill>
                  <a:srgbClr val="F3F6FA"/>
                </a:solidFill>
                <a:latin typeface="Malgun Gothic"/>
                <a:ea typeface="Malgun Gothic"/>
                <a:cs typeface="Malgun Gothic"/>
              </a:defRPr>
            </a:pPr>
            <a:r>
              <a:rPr sz="2100" b="0">
                <a:solidFill>
                  <a:srgbClr val="F3F6FA"/>
                </a:solidFill>
                <a:latin typeface="Malgun Gothic"/>
                <a:ea typeface="Malgun Gothic"/>
                <a:cs typeface="Malgun Gothic"/>
              </a:rPr>
              <a:t>중립 복귀와 쿨다운 검사</a:t>
            </a:r>
          </a:p>
        </p:txBody>
      </p:sp>
      <p:sp>
        <p:nvSpPr>
          <p:cNvPr id="8" name="">
            <a:extLst xmlns:a="http://schemas.openxmlformats.org/drawingml/2006/main">
              <a:ext uri="{FF2B5EF4-FFF2-40B4-BE49-F238E27FC236}">
                <a16:creationId xmlns:a16="http://schemas.microsoft.com/office/drawing/2014/main" id="{BA618D46-FC71-4FEB-929E-12857AEC91A4}"/>
              </a:ext>
            </a:extLst>
          </p:cNvPr>
          <p:cNvSpPr>
            <a:spLocks xmlns:a="http://schemas.openxmlformats.org/drawingml/2006/main" noGrp="1"/>
          </p:cNvSpPr>
          <p:nvPr/>
        </p:nvSpPr>
        <p:spPr>
          <a:xfrm xmlns:a="http://schemas.openxmlformats.org/drawingml/2006/main">
            <a:off x="552450" y="4352925"/>
            <a:ext cx="1100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82D9B4"/>
                </a:solidFill>
                <a:latin typeface="Consolas"/>
                <a:ea typeface="Consolas"/>
                <a:cs typeface="Consolas"/>
              </a:defRPr>
            </a:defPPr>
          </a:lstStyle>
          <a:p xmlns:a="http://schemas.openxmlformats.org/drawingml/2006/main">
            <a:pPr>
              <a:defRPr sz="1800" b="0">
                <a:solidFill>
                  <a:srgbClr val="82D9B4"/>
                </a:solidFill>
                <a:latin typeface="Consolas"/>
                <a:ea typeface="Consolas"/>
                <a:cs typeface="Consolas"/>
              </a:defRPr>
            </a:pPr>
            <a:r>
              <a:rPr sz="1800" b="0">
                <a:solidFill>
                  <a:srgbClr val="82D9B4"/>
                </a:solidFill>
                <a:latin typeface="Consolas"/>
                <a:ea typeface="Consolas"/>
                <a:cs typeface="Consolas"/>
              </a:rPr>
              <a:t>event = recognizer.update(t, hands)</a:t>
            </a:r>
          </a:p>
          <a:p xmlns:a="http://schemas.openxmlformats.org/drawingml/2006/main">
            <a:pPr>
              <a:defRPr sz="1800" b="0">
                <a:solidFill>
                  <a:srgbClr val="82D9B4"/>
                </a:solidFill>
                <a:latin typeface="Consolas"/>
                <a:ea typeface="Consolas"/>
                <a:cs typeface="Consolas"/>
              </a:defRPr>
            </a:pPr>
            <a:r>
              <a:rPr sz="1800" b="0">
                <a:solidFill>
                  <a:srgbClr val="82D9B4"/>
                </a:solidFill>
                <a:latin typeface="Consolas"/>
                <a:ea typeface="Consolas"/>
                <a:cs typeface="Consolas"/>
              </a:rPr>
              <a:t>sender.send(event, len(hands))</a:t>
            </a:r>
          </a:p>
        </p:txBody>
      </p:sp>
      <p:sp>
        <p:nvSpPr>
          <p:cNvPr id="9" name="">
            <a:extLst xmlns:a="http://schemas.openxmlformats.org/drawingml/2006/main">
              <a:ext uri="{FF2B5EF4-FFF2-40B4-BE49-F238E27FC236}">
                <a16:creationId xmlns:a16="http://schemas.microsoft.com/office/drawing/2014/main" id="{E727BC55-ABA8-471D-9C18-D2BA3509C7A1}"/>
              </a:ext>
            </a:extLst>
          </p:cNvPr>
          <p:cNvSpPr>
            <a:spLocks xmlns:a="http://schemas.openxmlformats.org/drawingml/2006/main" noGrp="1"/>
          </p:cNvSpPr>
          <p:nvPr/>
        </p:nvSpPr>
        <p:spPr>
          <a:xfrm xmlns:a="http://schemas.openxmlformats.org/drawingml/2006/main">
            <a:off x="6705600" y="19145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F5A677"/>
                </a:solidFill>
                <a:latin typeface="Malgun Gothic"/>
                <a:ea typeface="Malgun Gothic"/>
                <a:cs typeface="Malgun Gothic"/>
              </a:defRPr>
            </a:defPPr>
          </a:lstStyle>
          <a:p xmlns:a="http://schemas.openxmlformats.org/drawingml/2006/main">
            <a:pPr>
              <a:defRPr sz="2250" b="1">
                <a:solidFill>
                  <a:srgbClr val="F5A677"/>
                </a:solidFill>
                <a:latin typeface="Malgun Gothic"/>
                <a:ea typeface="Malgun Gothic"/>
                <a:cs typeface="Malgun Gothic"/>
              </a:defRPr>
            </a:pPr>
            <a:r>
              <a:rPr sz="2250" b="1">
                <a:solidFill>
                  <a:srgbClr val="F5A677"/>
                </a:solidFill>
                <a:latin typeface="Malgun Gothic"/>
                <a:ea typeface="Malgun Gothic"/>
                <a:cs typeface="Malgun Gothic"/>
              </a:rPr>
              <a:t>Unity</a:t>
            </a:r>
          </a:p>
        </p:txBody>
      </p:sp>
      <p:sp>
        <p:nvSpPr>
          <p:cNvPr id="10" name="">
            <a:extLst xmlns:a="http://schemas.openxmlformats.org/drawingml/2006/main">
              <a:ext uri="{FF2B5EF4-FFF2-40B4-BE49-F238E27FC236}">
                <a16:creationId xmlns:a16="http://schemas.microsoft.com/office/drawing/2014/main" id="{ADC5382F-4169-4D0A-8830-896E1D76F976}"/>
              </a:ext>
            </a:extLst>
          </p:cNvPr>
          <p:cNvSpPr>
            <a:spLocks xmlns:a="http://schemas.openxmlformats.org/drawingml/2006/main" noGrp="1"/>
          </p:cNvSpPr>
          <p:nvPr/>
        </p:nvSpPr>
        <p:spPr>
          <a:xfrm xmlns:a="http://schemas.openxmlformats.org/drawingml/2006/main">
            <a:off x="6705600" y="2524125"/>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F3F6FA"/>
                </a:solidFill>
                <a:latin typeface="Malgun Gothic"/>
                <a:ea typeface="Malgun Gothic"/>
                <a:cs typeface="Malgun Gothic"/>
              </a:defRPr>
            </a:defPPr>
          </a:lstStyle>
          <a:p xmlns:a="http://schemas.openxmlformats.org/drawingml/2006/main">
            <a:pPr>
              <a:defRPr sz="2025" b="0">
                <a:solidFill>
                  <a:srgbClr val="F3F6FA"/>
                </a:solidFill>
                <a:latin typeface="Malgun Gothic"/>
                <a:ea typeface="Malgun Gothic"/>
                <a:cs typeface="Malgun Gothic"/>
              </a:defRPr>
            </a:pPr>
            <a:r>
              <a:rPr sz="2025" b="0">
                <a:solidFill>
                  <a:srgbClr val="F3F6FA"/>
                </a:solidFill>
                <a:latin typeface="Malgun Gothic"/>
                <a:ea typeface="Malgun Gothic"/>
                <a:cs typeface="Malgun Gothic"/>
              </a:rPr>
              <a:t>Receive: 문자열 대기열 저장</a:t>
            </a:r>
          </a:p>
          <a:p xmlns:a="http://schemas.openxmlformats.org/drawingml/2006/main">
            <a:pPr>
              <a:defRPr sz="2025" b="0">
                <a:solidFill>
                  <a:srgbClr val="F3F6FA"/>
                </a:solidFill>
                <a:latin typeface="Malgun Gothic"/>
                <a:ea typeface="Malgun Gothic"/>
                <a:cs typeface="Malgun Gothic"/>
              </a:defRPr>
            </a:pPr>
            <a:r>
              <a:rPr sz="2025" b="0">
                <a:solidFill>
                  <a:srgbClr val="F3F6FA"/>
                </a:solidFill>
                <a:latin typeface="Malgun Gothic"/>
                <a:ea typeface="Malgun Gothic"/>
                <a:cs typeface="Malgun Gothic"/>
              </a:rPr>
              <a:t>Update: JSON·번호·시간 검증</a:t>
            </a:r>
          </a:p>
          <a:p xmlns:a="http://schemas.openxmlformats.org/drawingml/2006/main">
            <a:pPr>
              <a:defRPr sz="2025" b="0">
                <a:solidFill>
                  <a:srgbClr val="F3F6FA"/>
                </a:solidFill>
                <a:latin typeface="Malgun Gothic"/>
                <a:ea typeface="Malgun Gothic"/>
                <a:cs typeface="Malgun Gothic"/>
              </a:defRPr>
            </a:pPr>
            <a:r>
              <a:rPr sz="2025" b="0">
                <a:solidFill>
                  <a:srgbClr val="F3F6FA"/>
                </a:solidFill>
                <a:latin typeface="Malgun Gothic"/>
                <a:ea typeface="Malgun Gothic"/>
                <a:cs typeface="Malgun Gothic"/>
              </a:rPr>
              <a:t>Cast("WATER"): 효과·피해 적용</a:t>
            </a:r>
          </a:p>
        </p:txBody>
      </p:sp>
      <p:sp>
        <p:nvSpPr>
          <p:cNvPr id="11" name="">
            <a:extLst xmlns:a="http://schemas.openxmlformats.org/drawingml/2006/main">
              <a:ext uri="{FF2B5EF4-FFF2-40B4-BE49-F238E27FC236}">
                <a16:creationId xmlns:a16="http://schemas.microsoft.com/office/drawing/2014/main" id="{CC97BC77-9B90-4B7E-AB14-1921600CC7C0}"/>
              </a:ext>
            </a:extLst>
          </p:cNvPr>
          <p:cNvSpPr>
            <a:spLocks xmlns:a="http://schemas.openxmlformats.org/drawingml/2006/main" noGrp="1"/>
          </p:cNvSpPr>
          <p:nvPr/>
        </p:nvSpPr>
        <p:spPr>
          <a:xfrm xmlns:a="http://schemas.openxmlformats.org/drawingml/2006/main">
            <a:off x="552450" y="5581650"/>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A8B8CD"/>
                </a:solidFill>
                <a:latin typeface="Malgun Gothic"/>
                <a:ea typeface="Malgun Gothic"/>
                <a:cs typeface="Malgun Gothic"/>
              </a:defRPr>
            </a:defPPr>
          </a:lstStyle>
          <a:p xmlns:a="http://schemas.openxmlformats.org/drawingml/2006/main">
            <a:pPr>
              <a:defRPr sz="1800" b="0">
                <a:solidFill>
                  <a:srgbClr val="A8B8CD"/>
                </a:solidFill>
                <a:latin typeface="Malgun Gothic"/>
                <a:ea typeface="Malgun Gothic"/>
                <a:cs typeface="Malgun Gothic"/>
              </a:defRPr>
            </a:pPr>
            <a:r>
              <a:rPr sz="1800" b="0">
                <a:solidFill>
                  <a:srgbClr val="A8B8CD"/>
                </a:solidFill>
                <a:latin typeface="Malgun Gothic"/>
                <a:ea typeface="Malgun Gothic"/>
                <a:cs typeface="Malgun Gothic"/>
              </a:rPr>
              <a:t>중복 메시지 제거와 한 번만 발동하는 동작 판정을 서로 다른 단계에서 처리</a:t>
            </a:r>
          </a:p>
        </p:txBody>
      </p:sp>
    </p:spTree>
    <p:extLst>
      <p:ext uri="{BB962C8B-B14F-4D97-AF65-F5344CB8AC3E}">
        <p14:creationId xmlns:p14="http://schemas.microsoft.com/office/powerpoint/2010/main" val="1770364952"/>
      </p:ext>
    </p:extLst>
  </p:cSld>
</p:sld>
</file>

<file path=ppt/slides/slide11.xml><?xml version="1.0" encoding="utf-8"?>
<p:sld xmlns:p="http://schemas.openxmlformats.org/presentationml/2006/main">
  <p:cSld>
    <p:bg>
      <p:bgPr>
        <a:solidFill xmlns:a="http://schemas.openxmlformats.org/drawingml/2006/main">
          <a:srgbClr val="0D172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EA95FA-B724-4ED2-9CFB-2DD657C028E5}"/>
              </a:ext>
            </a:extLst>
          </p:cNvPr>
          <p:cNvSpPr>
            <a:spLocks xmlns:a="http://schemas.openxmlformats.org/drawingml/2006/main" noGrp="1"/>
          </p:cNvSpPr>
          <p:nvPr/>
        </p:nvSpPr>
        <p:spPr>
          <a:xfrm xmlns:a="http://schemas.openxmlformats.org/drawingml/2006/main">
            <a:off x="533400" y="41910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F3F6FA"/>
                </a:solidFill>
                <a:latin typeface="Malgun Gothic"/>
                <a:ea typeface="Malgun Gothic"/>
                <a:cs typeface="Malgun Gothic"/>
              </a:defRPr>
            </a:defPPr>
          </a:lstStyle>
          <a:p xmlns:a="http://schemas.openxmlformats.org/drawingml/2006/main">
            <a:pPr>
              <a:defRPr sz="3150" b="1">
                <a:solidFill>
                  <a:srgbClr val="F3F6FA"/>
                </a:solidFill>
                <a:latin typeface="Malgun Gothic"/>
                <a:ea typeface="Malgun Gothic"/>
                <a:cs typeface="Malgun Gothic"/>
              </a:defRPr>
            </a:pPr>
            <a:r>
              <a:rPr sz="3150" b="1">
                <a:solidFill>
                  <a:srgbClr val="F3F6FA"/>
                </a:solidFill>
                <a:latin typeface="Malgun Gothic"/>
                <a:ea typeface="Malgun Gothic"/>
                <a:cs typeface="Malgun Gothic"/>
              </a:rPr>
              <a:t>추가 구현: 양손 시계열과 공격·방어 구분</a:t>
            </a:r>
          </a:p>
        </p:txBody>
      </p:sp>
      <p:sp>
        <p:nvSpPr>
          <p:cNvPr id="2" name="">
            <a:extLst xmlns:a="http://schemas.openxmlformats.org/drawingml/2006/main">
              <a:ext uri="{FF2B5EF4-FFF2-40B4-BE49-F238E27FC236}">
                <a16:creationId xmlns:a16="http://schemas.microsoft.com/office/drawing/2014/main" id="{F8450108-C38F-409A-8B31-C53D622B5B59}"/>
              </a:ext>
            </a:extLst>
          </p:cNvPr>
          <p:cNvSpPr>
            <a:spLocks xmlns:a="http://schemas.openxmlformats.org/drawingml/2006/main" noGrp="1"/>
          </p:cNvSpPr>
          <p:nvPr/>
        </p:nvSpPr>
        <p:spPr>
          <a:xfrm xmlns:a="http://schemas.openxmlformats.org/drawingml/2006/main">
            <a:off x="552450" y="11620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A8B8CD"/>
                </a:solidFill>
                <a:latin typeface="Malgun Gothic"/>
                <a:ea typeface="Malgun Gothic"/>
                <a:cs typeface="Malgun Gothic"/>
              </a:defRPr>
            </a:defPPr>
          </a:lstStyle>
          <a:p xmlns:a="http://schemas.openxmlformats.org/drawingml/2006/main">
            <a:pPr>
              <a:defRPr sz="1725" b="0">
                <a:solidFill>
                  <a:srgbClr val="A8B8CD"/>
                </a:solidFill>
                <a:latin typeface="Malgun Gothic"/>
                <a:ea typeface="Malgun Gothic"/>
                <a:cs typeface="Malgun Gothic"/>
              </a:defRPr>
            </a:pPr>
            <a:r>
              <a:rPr sz="1725" b="0">
                <a:solidFill>
                  <a:srgbClr val="A8B8CD"/>
                </a:solidFill>
                <a:latin typeface="Malgun Gothic"/>
                <a:ea typeface="Malgun Gothic"/>
                <a:cs typeface="Malgun Gothic"/>
              </a:rPr>
              <a:t>Unity 연결에 더해 컴퓨터비전의 판정 범위를 확장</a:t>
            </a:r>
          </a:p>
        </p:txBody>
      </p:sp>
      <p:sp>
        <p:nvSpPr>
          <p:cNvPr id="3" name="">
            <a:extLst xmlns:a="http://schemas.openxmlformats.org/drawingml/2006/main">
              <a:ext uri="{FF2B5EF4-FFF2-40B4-BE49-F238E27FC236}">
                <a16:creationId xmlns:a16="http://schemas.microsoft.com/office/drawing/2014/main" id="{D09E3C79-E072-4C8D-A917-C0E82C1F97F0}"/>
              </a:ext>
            </a:extLst>
          </p:cNvPr>
          <p:cNvSpPr>
            <a:spLocks xmlns:a="http://schemas.openxmlformats.org/drawingml/2006/main" noGrp="1"/>
          </p:cNvSpPr>
          <p:nvPr/>
        </p:nvSpPr>
        <p:spPr>
          <a:xfrm xmlns:a="http://schemas.openxmlformats.org/drawingml/2006/main">
            <a:off x="533400" y="6191250"/>
            <a:ext cx="11125200" cy="19050"/>
          </a:xfrm>
          <a:prstGeom xmlns:a="http://schemas.openxmlformats.org/drawingml/2006/main" prst="rect">
            <a:avLst/>
          </a:prstGeom>
          <a:solidFill xmlns:a="http://schemas.openxmlformats.org/drawingml/2006/main">
            <a:srgbClr val="31415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5AC13C1-C82B-4342-A3B2-FFE3F2077AD2}"/>
              </a:ext>
            </a:extLst>
          </p:cNvPr>
          <p:cNvSpPr>
            <a:spLocks xmlns:a="http://schemas.openxmlformats.org/drawingml/2006/main" noGrp="1"/>
          </p:cNvSpPr>
          <p:nvPr/>
        </p:nvSpPr>
        <p:spPr>
          <a:xfrm xmlns:a="http://schemas.openxmlformats.org/drawingml/2006/main">
            <a:off x="5524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A8B8CD"/>
                </a:solidFill>
                <a:latin typeface="Malgun Gothic"/>
                <a:ea typeface="Malgun Gothic"/>
                <a:cs typeface="Malgun Gothic"/>
              </a:defRPr>
            </a:defPPr>
          </a:lstStyle>
          <a:p xmlns:a="http://schemas.openxmlformats.org/drawingml/2006/main">
            <a:pPr>
              <a:defRPr sz="1050" b="0">
                <a:solidFill>
                  <a:srgbClr val="A8B8CD"/>
                </a:solidFill>
                <a:latin typeface="Malgun Gothic"/>
                <a:ea typeface="Malgun Gothic"/>
                <a:cs typeface="Malgun Gothic"/>
              </a:defRPr>
            </a:pPr>
            <a:r>
              <a:rPr sz="1050" b="0">
                <a:solidFill>
                  <a:srgbClr val="A8B8CD"/>
                </a:solidFill>
                <a:latin typeface="Malgun Gothic"/>
                <a:ea typeface="Malgun Gothic"/>
                <a:cs typeface="Malgun Gothic"/>
              </a:rPr>
              <a:t>ELEMENTAL BENDER · 2조 송기훈 · 최원제</a:t>
            </a:r>
          </a:p>
        </p:txBody>
      </p:sp>
      <p:sp>
        <p:nvSpPr>
          <p:cNvPr id="5" name="">
            <a:extLst xmlns:a="http://schemas.openxmlformats.org/drawingml/2006/main">
              <a:ext uri="{FF2B5EF4-FFF2-40B4-BE49-F238E27FC236}">
                <a16:creationId xmlns:a16="http://schemas.microsoft.com/office/drawing/2014/main" id="{5E5C24EC-1173-4BD1-ABBE-5AA3F21DC37E}"/>
              </a:ext>
            </a:extLst>
          </p:cNvPr>
          <p:cNvSpPr>
            <a:spLocks xmlns:a="http://schemas.openxmlformats.org/drawingml/2006/main" noGrp="1"/>
          </p:cNvSpPr>
          <p:nvPr/>
        </p:nvSpPr>
        <p:spPr>
          <a:xfrm xmlns:a="http://schemas.openxmlformats.org/drawingml/2006/main">
            <a:off x="11144250" y="6334125"/>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A8B8CD"/>
                </a:solidFill>
                <a:latin typeface="Malgun Gothic"/>
                <a:ea typeface="Malgun Gothic"/>
                <a:cs typeface="Malgun Gothic"/>
              </a:defRPr>
            </a:defPPr>
          </a:lstStyle>
          <a:p xmlns:a="http://schemas.openxmlformats.org/drawingml/2006/main">
            <a:pPr>
              <a:defRPr sz="1350" b="0">
                <a:solidFill>
                  <a:srgbClr val="A8B8CD"/>
                </a:solidFill>
                <a:latin typeface="Malgun Gothic"/>
                <a:ea typeface="Malgun Gothic"/>
                <a:cs typeface="Malgun Gothic"/>
              </a:defRPr>
            </a:pPr>
            <a:r>
              <a:rPr sz="1350" b="0">
                <a:solidFill>
                  <a:srgbClr val="A8B8CD"/>
                </a:solidFill>
                <a:latin typeface="Malgun Gothic"/>
                <a:ea typeface="Malgun Gothic"/>
                <a:cs typeface="Malgun Gothic"/>
              </a:rPr>
              <a:t>11</a:t>
            </a:r>
          </a:p>
        </p:txBody>
      </p:sp>
      <p:graphicFrame>
        <p:nvGraphicFramePr>
          <p:cNvPr id="6" name="">
            <a:extLst xmlns:a="http://schemas.openxmlformats.org/drawingml/2006/main">
              <a:ext uri="{FF2B5EF4-FFF2-40B4-BE49-F238E27FC236}">
                <a16:creationId xmlns:a16="http://schemas.microsoft.com/office/drawing/2014/main" id="{4FA5530D-DACC-4DFD-A650-6F8BBAFE83B2}"/>
              </a:ext>
            </a:extLst>
          </p:cNvPr>
          <p:cNvGraphicFramePr/>
          <p:nvPr/>
        </p:nvGraphicFramePr>
        <p:xfrm>
          <a:off xmlns:a="http://schemas.openxmlformats.org/drawingml/2006/main" x="533400" y="1857375"/>
          <a:ext xmlns:a="http://schemas.openxmlformats.org/drawingml/2006/main" cx="11125200" cy="3638550"/>
        </p:xfrm>
        <a:graphic xmlns:a="http://schemas.openxmlformats.org/drawingml/2006/main">
          <a:graphicData uri="http://schemas.openxmlformats.org/drawingml/2006/table">
            <a:tbl>
              <a:tblPr/>
              <a:tblGrid>
                <a:gridCol w="2857500"/>
                <a:gridCol w="3771900"/>
                <a:gridCol w="4495800"/>
              </a:tblGrid>
              <a:tr h="727710">
                <a:tc>
                  <a:txBody>
                    <a:bodyPr/>
                    <a:lstStyle/>
                    <a:p>
                      <a:r>
                        <a:rPr sz="1650" b="1">
                          <a:solidFill>
                            <a:srgbClr val="73B8FF"/>
                          </a:solidFill>
                          <a:latin typeface="Malgun Gothic"/>
                          <a:ea typeface="Malgun Gothic"/>
                          <a:cs typeface="Malgun Gothic"/>
                        </a:rPr>
                        <a:t>참조 구현</a:t>
                      </a:r>
                    </a:p>
                  </a:txBody>
                  <a:tcPr marL="133350" marR="114300" marT="114300" marB="95250">
                    <a:lnL w="9525">
                      <a:solidFill>
                        <a:srgbClr val="314158"/>
                      </a:solidFill>
                      <a:prstDash val="solid"/>
                    </a:lnL>
                    <a:lnR w="9525">
                      <a:solidFill>
                        <a:srgbClr val="314158"/>
                      </a:solidFill>
                      <a:prstDash val="solid"/>
                    </a:lnR>
                    <a:lnT w="9525">
                      <a:solidFill>
                        <a:srgbClr val="314158"/>
                      </a:solidFill>
                      <a:prstDash val="solid"/>
                    </a:lnT>
                    <a:lnB w="9525">
                      <a:solidFill>
                        <a:srgbClr val="314158"/>
                      </a:solidFill>
                      <a:prstDash val="solid"/>
                    </a:lnB>
                    <a:solidFill>
                      <a:srgbClr val="23374F"/>
                    </a:solidFill>
                  </a:tcPr>
                </a:tc>
                <a:tc>
                  <a:txBody>
                    <a:bodyPr/>
                    <a:lstStyle/>
                    <a:p>
                      <a:r>
                        <a:rPr sz="1650" b="1">
                          <a:solidFill>
                            <a:srgbClr val="73B8FF"/>
                          </a:solidFill>
                          <a:latin typeface="Malgun Gothic"/>
                          <a:ea typeface="Malgun Gothic"/>
                          <a:cs typeface="Malgun Gothic"/>
                        </a:rPr>
                        <a:t>현재 구현</a:t>
                      </a:r>
                    </a:p>
                  </a:txBody>
                  <a:tcPr marL="133350" marR="114300" marT="114300" marB="95250">
                    <a:lnR w="9525">
                      <a:solidFill>
                        <a:srgbClr val="314158"/>
                      </a:solidFill>
                      <a:prstDash val="solid"/>
                    </a:lnR>
                    <a:lnT w="9525">
                      <a:solidFill>
                        <a:srgbClr val="314158"/>
                      </a:solidFill>
                      <a:prstDash val="solid"/>
                    </a:lnT>
                    <a:lnB w="9525">
                      <a:solidFill>
                        <a:srgbClr val="314158"/>
                      </a:solidFill>
                      <a:prstDash val="solid"/>
                    </a:lnB>
                    <a:solidFill>
                      <a:srgbClr val="23374F"/>
                    </a:solidFill>
                  </a:tcPr>
                </a:tc>
                <a:tc>
                  <a:txBody>
                    <a:bodyPr/>
                    <a:lstStyle/>
                    <a:p>
                      <a:r>
                        <a:rPr sz="1650" b="1">
                          <a:solidFill>
                            <a:srgbClr val="73B8FF"/>
                          </a:solidFill>
                          <a:latin typeface="Malgun Gothic"/>
                          <a:ea typeface="Malgun Gothic"/>
                          <a:cs typeface="Malgun Gothic"/>
                        </a:rPr>
                        <a:t>이번 프로젝트의 추가 목표</a:t>
                      </a:r>
                    </a:p>
                  </a:txBody>
                  <a:tcPr marL="133350" marR="114300" marT="114300" marB="95250">
                    <a:lnR w="9525">
                      <a:solidFill>
                        <a:srgbClr val="314158"/>
                      </a:solidFill>
                      <a:prstDash val="solid"/>
                    </a:lnR>
                    <a:lnT w="9525">
                      <a:solidFill>
                        <a:srgbClr val="314158"/>
                      </a:solidFill>
                      <a:prstDash val="solid"/>
                    </a:lnT>
                    <a:lnB w="9525">
                      <a:solidFill>
                        <a:srgbClr val="314158"/>
                      </a:solidFill>
                      <a:prstDash val="solid"/>
                    </a:lnB>
                    <a:solidFill>
                      <a:srgbClr val="23374F"/>
                    </a:solidFill>
                  </a:tcPr>
                </a:tc>
              </a:tr>
              <a:tr h="727710">
                <a:tc>
                  <a:txBody>
                    <a:bodyPr/>
                    <a:lstStyle/>
                    <a:p>
                      <a:r>
                        <a:rPr sz="1650">
                          <a:solidFill>
                            <a:srgbClr val="F3F6FA"/>
                          </a:solidFill>
                          <a:latin typeface="Malgun Gothic"/>
                          <a:ea typeface="Malgun Gothic"/>
                          <a:cs typeface="Malgun Gothic"/>
                        </a:rPr>
                        <a:t>손 관절 추정</a:t>
                      </a:r>
                    </a:p>
                  </a:txBody>
                  <a:tcPr marL="133350" marR="114300" marT="114300" marB="95250">
                    <a:lnL w="9525">
                      <a:solidFill>
                        <a:srgbClr val="314158"/>
                      </a:solidFill>
                      <a:prstDash val="solid"/>
                    </a:lnL>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양손 좌표·손모양·궤적 규칙</a:t>
                      </a:r>
                    </a:p>
                  </a:txBody>
                  <a:tcPr marL="133350" marR="114300" marT="114300" marB="95250">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양손 상대 특징을 결합한 명령 구분</a:t>
                      </a:r>
                    </a:p>
                  </a:txBody>
                  <a:tcPr marL="133350" marR="114300" marT="114300" marB="95250">
                    <a:lnR w="9525">
                      <a:solidFill>
                        <a:srgbClr val="314158"/>
                      </a:solidFill>
                      <a:prstDash val="solid"/>
                    </a:lnR>
                    <a:lnB w="9525">
                      <a:solidFill>
                        <a:srgbClr val="314158"/>
                      </a:solidFill>
                      <a:prstDash val="solid"/>
                    </a:lnB>
                    <a:solidFill>
                      <a:srgbClr val="0D1728"/>
                    </a:solidFill>
                  </a:tcPr>
                </a:tc>
              </a:tr>
              <a:tr h="727710">
                <a:tc>
                  <a:txBody>
                    <a:bodyPr/>
                    <a:lstStyle/>
                    <a:p>
                      <a:r>
                        <a:rPr sz="1650">
                          <a:solidFill>
                            <a:srgbClr val="F3F6FA"/>
                          </a:solidFill>
                          <a:latin typeface="Malgun Gothic"/>
                          <a:ea typeface="Malgun Gothic"/>
                          <a:cs typeface="Malgun Gothic"/>
                        </a:rPr>
                        <a:t>정적 자세·위치 이력 분류</a:t>
                      </a:r>
                    </a:p>
                  </a:txBody>
                  <a:tcPr marL="133350" marR="114300" marT="114300" marB="95250">
                    <a:lnL w="9525">
                      <a:solidFill>
                        <a:srgbClr val="314158"/>
                      </a:solidFill>
                      <a:prstDash val="solid"/>
                    </a:lnL>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4원소 임시 제스처 + V 단축 동작</a:t>
                      </a:r>
                    </a:p>
                  </a:txBody>
                  <a:tcPr marL="133350" marR="114300" marT="114300" marB="95250">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4원소 × 공격/방어 8동작 + NONE</a:t>
                      </a:r>
                    </a:p>
                  </a:txBody>
                  <a:tcPr marL="133350" marR="114300" marT="114300" marB="95250">
                    <a:lnR w="9525">
                      <a:solidFill>
                        <a:srgbClr val="314158"/>
                      </a:solidFill>
                      <a:prstDash val="solid"/>
                    </a:lnR>
                    <a:lnB w="9525">
                      <a:solidFill>
                        <a:srgbClr val="314158"/>
                      </a:solidFill>
                      <a:prstDash val="solid"/>
                    </a:lnB>
                    <a:solidFill>
                      <a:srgbClr val="0D1728"/>
                    </a:solidFill>
                  </a:tcPr>
                </a:tc>
              </a:tr>
              <a:tr h="727710">
                <a:tc>
                  <a:txBody>
                    <a:bodyPr/>
                    <a:lstStyle/>
                    <a:p>
                      <a:r>
                        <a:rPr sz="1650">
                          <a:solidFill>
                            <a:srgbClr val="F3F6FA"/>
                          </a:solidFill>
                          <a:latin typeface="Malgun Gothic"/>
                          <a:ea typeface="Malgun Gothic"/>
                          <a:cs typeface="Malgun Gothic"/>
                        </a:rPr>
                        <a:t>일반적인 인식 데모</a:t>
                      </a:r>
                    </a:p>
                  </a:txBody>
                  <a:tcPr marL="133350" marR="114300" marT="114300" marB="95250">
                    <a:lnL w="9525">
                      <a:solidFill>
                        <a:srgbClr val="314158"/>
                      </a:solidFill>
                      <a:prstDash val="solid"/>
                    </a:lnL>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중립 복귀·쿨다운·발동 로그</a:t>
                      </a:r>
                    </a:p>
                  </a:txBody>
                  <a:tcPr marL="133350" marR="114300" marT="114300" marB="95250">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조명·거리·가림 조건별 정량 평가</a:t>
                      </a:r>
                    </a:p>
                  </a:txBody>
                  <a:tcPr marL="133350" marR="114300" marT="114300" marB="95250">
                    <a:lnR w="9525">
                      <a:solidFill>
                        <a:srgbClr val="314158"/>
                      </a:solidFill>
                      <a:prstDash val="solid"/>
                    </a:lnR>
                    <a:lnB w="9525">
                      <a:solidFill>
                        <a:srgbClr val="314158"/>
                      </a:solidFill>
                      <a:prstDash val="solid"/>
                    </a:lnB>
                    <a:solidFill>
                      <a:srgbClr val="0D1728"/>
                    </a:solidFill>
                  </a:tcPr>
                </a:tc>
              </a:tr>
              <a:tr h="727710">
                <a:tc>
                  <a:txBody>
                    <a:bodyPr/>
                    <a:lstStyle/>
                    <a:p>
                      <a:r>
                        <a:rPr sz="1650">
                          <a:solidFill>
                            <a:srgbClr val="F3F6FA"/>
                          </a:solidFill>
                          <a:latin typeface="Malgun Gothic"/>
                          <a:ea typeface="Malgun Gothic"/>
                          <a:cs typeface="Malgun Gothic"/>
                        </a:rPr>
                        <a:t>인식 결과 출력</a:t>
                      </a:r>
                    </a:p>
                  </a:txBody>
                  <a:tcPr marL="133350" marR="114300" marT="114300" marB="95250">
                    <a:lnL w="9525">
                      <a:solidFill>
                        <a:srgbClr val="314158"/>
                      </a:solidFill>
                      <a:prstDash val="solid"/>
                    </a:lnL>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JSON/UDP와 Unity 임시 효과</a:t>
                      </a:r>
                    </a:p>
                  </a:txBody>
                  <a:tcPr marL="133350" marR="114300" marT="114300" marB="95250">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상성 방어·판정 시간·공격 애니메이션</a:t>
                      </a:r>
                    </a:p>
                  </a:txBody>
                  <a:tcPr marL="133350" marR="114300" marT="114300" marB="95250">
                    <a:lnR w="9525">
                      <a:solidFill>
                        <a:srgbClr val="314158"/>
                      </a:solidFill>
                      <a:prstDash val="solid"/>
                    </a:lnR>
                    <a:lnB w="9525">
                      <a:solidFill>
                        <a:srgbClr val="314158"/>
                      </a:solidFill>
                      <a:prstDash val="solid"/>
                    </a:lnB>
                    <a:solidFill>
                      <a:srgbClr val="0D1728"/>
                    </a:solidFill>
                  </a:tcPr>
                </a:tc>
              </a:tr>
            </a:tbl>
          </a:graphicData>
        </a:graphic>
      </p:graphicFrame>
      <p:sp>
        <p:nvSpPr>
          <p:cNvPr id="7" name="">
            <a:extLst xmlns:a="http://schemas.openxmlformats.org/drawingml/2006/main">
              <a:ext uri="{FF2B5EF4-FFF2-40B4-BE49-F238E27FC236}">
                <a16:creationId xmlns:a16="http://schemas.microsoft.com/office/drawing/2014/main" id="{0A3337BF-CB8E-4A85-A583-E013E931B467}"/>
              </a:ext>
            </a:extLst>
          </p:cNvPr>
          <p:cNvSpPr>
            <a:spLocks xmlns:a="http://schemas.openxmlformats.org/drawingml/2006/main" noGrp="1"/>
          </p:cNvSpPr>
          <p:nvPr/>
        </p:nvSpPr>
        <p:spPr>
          <a:xfrm xmlns:a="http://schemas.openxmlformats.org/drawingml/2006/main">
            <a:off x="552450" y="56578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82D9B4"/>
                </a:solidFill>
                <a:latin typeface="Malgun Gothic"/>
                <a:ea typeface="Malgun Gothic"/>
                <a:cs typeface="Malgun Gothic"/>
              </a:defRPr>
            </a:defPPr>
          </a:lstStyle>
          <a:p xmlns:a="http://schemas.openxmlformats.org/drawingml/2006/main">
            <a:pPr>
              <a:defRPr sz="1725" b="1">
                <a:solidFill>
                  <a:srgbClr val="82D9B4"/>
                </a:solidFill>
                <a:latin typeface="Malgun Gothic"/>
                <a:ea typeface="Malgun Gothic"/>
                <a:cs typeface="Malgun Gothic"/>
              </a:defRPr>
            </a:pPr>
            <a:r>
              <a:rPr sz="1725" b="1">
                <a:solidFill>
                  <a:srgbClr val="82D9B4"/>
                </a:solidFill>
                <a:latin typeface="Malgun Gothic"/>
                <a:ea typeface="Malgun Gothic"/>
                <a:cs typeface="Malgun Gothic"/>
              </a:rPr>
              <a:t>참조 예제에도 동적 인식이 있음  →  차별점은 양손 관계·게임 고유 동작·평가 설계</a:t>
            </a:r>
          </a:p>
        </p:txBody>
      </p:sp>
    </p:spTree>
    <p:extLst>
      <p:ext uri="{BB962C8B-B14F-4D97-AF65-F5344CB8AC3E}">
        <p14:creationId xmlns:p14="http://schemas.microsoft.com/office/powerpoint/2010/main" val="1708416540"/>
      </p:ext>
    </p:extLst>
  </p:cSld>
</p:sld>
</file>

<file path=ppt/slides/slide12.xml><?xml version="1.0" encoding="utf-8"?>
<p:sld xmlns:p="http://schemas.openxmlformats.org/presentationml/2006/main">
  <p:cSld>
    <p:bg>
      <p:bgPr>
        <a:solidFill xmlns:a="http://schemas.openxmlformats.org/drawingml/2006/main">
          <a:srgbClr val="0D172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2F2844-F564-47A3-8C06-0A7EFB83E63E}"/>
              </a:ext>
            </a:extLst>
          </p:cNvPr>
          <p:cNvSpPr>
            <a:spLocks xmlns:a="http://schemas.openxmlformats.org/drawingml/2006/main" noGrp="1"/>
          </p:cNvSpPr>
          <p:nvPr/>
        </p:nvSpPr>
        <p:spPr>
          <a:xfrm xmlns:a="http://schemas.openxmlformats.org/drawingml/2006/main">
            <a:off x="533400" y="41910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F3F6FA"/>
                </a:solidFill>
                <a:latin typeface="Malgun Gothic"/>
                <a:ea typeface="Malgun Gothic"/>
                <a:cs typeface="Malgun Gothic"/>
              </a:defRPr>
            </a:defPPr>
          </a:lstStyle>
          <a:p xmlns:a="http://schemas.openxmlformats.org/drawingml/2006/main">
            <a:pPr>
              <a:defRPr sz="3150" b="1">
                <a:solidFill>
                  <a:srgbClr val="F3F6FA"/>
                </a:solidFill>
                <a:latin typeface="Malgun Gothic"/>
                <a:ea typeface="Malgun Gothic"/>
                <a:cs typeface="Malgun Gothic"/>
              </a:defRPr>
            </a:pPr>
            <a:r>
              <a:rPr sz="3150" b="1">
                <a:solidFill>
                  <a:srgbClr val="F3F6FA"/>
                </a:solidFill>
                <a:latin typeface="Malgun Gothic"/>
                <a:ea typeface="Malgun Gothic"/>
                <a:cs typeface="Malgun Gothic"/>
              </a:rPr>
              <a:t>현재 프로토타입과 앞으로 구현할 부분</a:t>
            </a:r>
          </a:p>
        </p:txBody>
      </p:sp>
      <p:sp>
        <p:nvSpPr>
          <p:cNvPr id="2" name="">
            <a:extLst xmlns:a="http://schemas.openxmlformats.org/drawingml/2006/main">
              <a:ext uri="{FF2B5EF4-FFF2-40B4-BE49-F238E27FC236}">
                <a16:creationId xmlns:a16="http://schemas.microsoft.com/office/drawing/2014/main" id="{AF5796CD-1C3C-41B9-B64F-1D440D440F49}"/>
              </a:ext>
            </a:extLst>
          </p:cNvPr>
          <p:cNvSpPr>
            <a:spLocks xmlns:a="http://schemas.openxmlformats.org/drawingml/2006/main" noGrp="1"/>
          </p:cNvSpPr>
          <p:nvPr/>
        </p:nvSpPr>
        <p:spPr>
          <a:xfrm xmlns:a="http://schemas.openxmlformats.org/drawingml/2006/main">
            <a:off x="552450" y="11620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A8B8CD"/>
                </a:solidFill>
                <a:latin typeface="Malgun Gothic"/>
                <a:ea typeface="Malgun Gothic"/>
                <a:cs typeface="Malgun Gothic"/>
              </a:defRPr>
            </a:defPPr>
          </a:lstStyle>
          <a:p xmlns:a="http://schemas.openxmlformats.org/drawingml/2006/main">
            <a:pPr>
              <a:defRPr sz="1725" b="0">
                <a:solidFill>
                  <a:srgbClr val="A8B8CD"/>
                </a:solidFill>
                <a:latin typeface="Malgun Gothic"/>
                <a:ea typeface="Malgun Gothic"/>
                <a:cs typeface="Malgun Gothic"/>
              </a:defRPr>
            </a:pPr>
            <a:r>
              <a:rPr sz="1725" b="0">
                <a:solidFill>
                  <a:srgbClr val="A8B8CD"/>
                </a:solidFill>
                <a:latin typeface="Malgun Gothic"/>
                <a:ea typeface="Malgun Gothic"/>
                <a:cs typeface="Malgun Gothic"/>
              </a:rPr>
              <a:t>작동 확인을 정식 사용자 정확도와 구분</a:t>
            </a:r>
          </a:p>
        </p:txBody>
      </p:sp>
      <p:sp>
        <p:nvSpPr>
          <p:cNvPr id="3" name="">
            <a:extLst xmlns:a="http://schemas.openxmlformats.org/drawingml/2006/main">
              <a:ext uri="{FF2B5EF4-FFF2-40B4-BE49-F238E27FC236}">
                <a16:creationId xmlns:a16="http://schemas.microsoft.com/office/drawing/2014/main" id="{00992738-B329-4990-B145-C4E93964F8A4}"/>
              </a:ext>
            </a:extLst>
          </p:cNvPr>
          <p:cNvSpPr>
            <a:spLocks xmlns:a="http://schemas.openxmlformats.org/drawingml/2006/main" noGrp="1"/>
          </p:cNvSpPr>
          <p:nvPr/>
        </p:nvSpPr>
        <p:spPr>
          <a:xfrm xmlns:a="http://schemas.openxmlformats.org/drawingml/2006/main">
            <a:off x="533400" y="6191250"/>
            <a:ext cx="11125200" cy="19050"/>
          </a:xfrm>
          <a:prstGeom xmlns:a="http://schemas.openxmlformats.org/drawingml/2006/main" prst="rect">
            <a:avLst/>
          </a:prstGeom>
          <a:solidFill xmlns:a="http://schemas.openxmlformats.org/drawingml/2006/main">
            <a:srgbClr val="31415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56580C5-428F-4BC8-9C5B-F37051CAB292}"/>
              </a:ext>
            </a:extLst>
          </p:cNvPr>
          <p:cNvSpPr>
            <a:spLocks xmlns:a="http://schemas.openxmlformats.org/drawingml/2006/main" noGrp="1"/>
          </p:cNvSpPr>
          <p:nvPr/>
        </p:nvSpPr>
        <p:spPr>
          <a:xfrm xmlns:a="http://schemas.openxmlformats.org/drawingml/2006/main">
            <a:off x="5524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A8B8CD"/>
                </a:solidFill>
                <a:latin typeface="Malgun Gothic"/>
                <a:ea typeface="Malgun Gothic"/>
                <a:cs typeface="Malgun Gothic"/>
              </a:defRPr>
            </a:defPPr>
          </a:lstStyle>
          <a:p xmlns:a="http://schemas.openxmlformats.org/drawingml/2006/main">
            <a:pPr>
              <a:defRPr sz="1050" b="0">
                <a:solidFill>
                  <a:srgbClr val="A8B8CD"/>
                </a:solidFill>
                <a:latin typeface="Malgun Gothic"/>
                <a:ea typeface="Malgun Gothic"/>
                <a:cs typeface="Malgun Gothic"/>
              </a:defRPr>
            </a:pPr>
            <a:r>
              <a:rPr sz="1050" b="0">
                <a:solidFill>
                  <a:srgbClr val="A8B8CD"/>
                </a:solidFill>
                <a:latin typeface="Malgun Gothic"/>
                <a:ea typeface="Malgun Gothic"/>
                <a:cs typeface="Malgun Gothic"/>
              </a:rPr>
              <a:t>ELEMENTAL BENDER · 2조 송기훈 · 최원제</a:t>
            </a:r>
          </a:p>
        </p:txBody>
      </p:sp>
      <p:sp>
        <p:nvSpPr>
          <p:cNvPr id="5" name="">
            <a:extLst xmlns:a="http://schemas.openxmlformats.org/drawingml/2006/main">
              <a:ext uri="{FF2B5EF4-FFF2-40B4-BE49-F238E27FC236}">
                <a16:creationId xmlns:a16="http://schemas.microsoft.com/office/drawing/2014/main" id="{E33F9737-EBF3-42A9-A7E0-8A9415B86B3D}"/>
              </a:ext>
            </a:extLst>
          </p:cNvPr>
          <p:cNvSpPr>
            <a:spLocks xmlns:a="http://schemas.openxmlformats.org/drawingml/2006/main" noGrp="1"/>
          </p:cNvSpPr>
          <p:nvPr/>
        </p:nvSpPr>
        <p:spPr>
          <a:xfrm xmlns:a="http://schemas.openxmlformats.org/drawingml/2006/main">
            <a:off x="11144250" y="6334125"/>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A8B8CD"/>
                </a:solidFill>
                <a:latin typeface="Malgun Gothic"/>
                <a:ea typeface="Malgun Gothic"/>
                <a:cs typeface="Malgun Gothic"/>
              </a:defRPr>
            </a:defPPr>
          </a:lstStyle>
          <a:p xmlns:a="http://schemas.openxmlformats.org/drawingml/2006/main">
            <a:pPr>
              <a:defRPr sz="1350" b="0">
                <a:solidFill>
                  <a:srgbClr val="A8B8CD"/>
                </a:solidFill>
                <a:latin typeface="Malgun Gothic"/>
                <a:ea typeface="Malgun Gothic"/>
                <a:cs typeface="Malgun Gothic"/>
              </a:defRPr>
            </a:pPr>
            <a:r>
              <a:rPr sz="1350" b="0">
                <a:solidFill>
                  <a:srgbClr val="A8B8CD"/>
                </a:solidFill>
                <a:latin typeface="Malgun Gothic"/>
                <a:ea typeface="Malgun Gothic"/>
                <a:cs typeface="Malgun Gothic"/>
              </a:rPr>
              <a:t>12</a:t>
            </a:r>
          </a:p>
        </p:txBody>
      </p:sp>
      <p:graphicFrame>
        <p:nvGraphicFramePr>
          <p:cNvPr id="6" name="">
            <a:extLst xmlns:a="http://schemas.openxmlformats.org/drawingml/2006/main">
              <a:ext uri="{FF2B5EF4-FFF2-40B4-BE49-F238E27FC236}">
                <a16:creationId xmlns:a16="http://schemas.microsoft.com/office/drawing/2014/main" id="{E526155A-15E8-47E8-B6A5-1575F472AA4F}"/>
              </a:ext>
            </a:extLst>
          </p:cNvPr>
          <p:cNvGraphicFramePr/>
          <p:nvPr/>
        </p:nvGraphicFramePr>
        <p:xfrm>
          <a:off xmlns:a="http://schemas.openxmlformats.org/drawingml/2006/main" x="533400" y="1838325"/>
          <a:ext xmlns:a="http://schemas.openxmlformats.org/drawingml/2006/main" cx="11125200" cy="3686175"/>
        </p:xfrm>
        <a:graphic xmlns:a="http://schemas.openxmlformats.org/drawingml/2006/main">
          <a:graphicData uri="http://schemas.openxmlformats.org/drawingml/2006/table">
            <a:tbl>
              <a:tblPr/>
              <a:tblGrid>
                <a:gridCol w="2286000"/>
                <a:gridCol w="4095750"/>
                <a:gridCol w="4743450"/>
              </a:tblGrid>
              <a:tr h="614363">
                <a:tc>
                  <a:txBody>
                    <a:bodyPr/>
                    <a:lstStyle/>
                    <a:p>
                      <a:r>
                        <a:rPr sz="1650" b="1">
                          <a:solidFill>
                            <a:srgbClr val="73B8FF"/>
                          </a:solidFill>
                          <a:latin typeface="Malgun Gothic"/>
                          <a:ea typeface="Malgun Gothic"/>
                          <a:cs typeface="Malgun Gothic"/>
                        </a:rPr>
                        <a:t>구분</a:t>
                      </a:r>
                    </a:p>
                  </a:txBody>
                  <a:tcPr marL="133350" marR="114300" marT="114300" marB="95250">
                    <a:lnL w="9525">
                      <a:solidFill>
                        <a:srgbClr val="314158"/>
                      </a:solidFill>
                      <a:prstDash val="solid"/>
                    </a:lnL>
                    <a:lnR w="9525">
                      <a:solidFill>
                        <a:srgbClr val="314158"/>
                      </a:solidFill>
                      <a:prstDash val="solid"/>
                    </a:lnR>
                    <a:lnT w="9525">
                      <a:solidFill>
                        <a:srgbClr val="314158"/>
                      </a:solidFill>
                      <a:prstDash val="solid"/>
                    </a:lnT>
                    <a:lnB w="9525">
                      <a:solidFill>
                        <a:srgbClr val="314158"/>
                      </a:solidFill>
                      <a:prstDash val="solid"/>
                    </a:lnB>
                    <a:solidFill>
                      <a:srgbClr val="23374F"/>
                    </a:solidFill>
                  </a:tcPr>
                </a:tc>
                <a:tc>
                  <a:txBody>
                    <a:bodyPr/>
                    <a:lstStyle/>
                    <a:p>
                      <a:r>
                        <a:rPr sz="1650" b="1">
                          <a:solidFill>
                            <a:srgbClr val="73B8FF"/>
                          </a:solidFill>
                          <a:latin typeface="Malgun Gothic"/>
                          <a:ea typeface="Malgun Gothic"/>
                          <a:cs typeface="Malgun Gothic"/>
                        </a:rPr>
                        <a:t>현재 상태</a:t>
                      </a:r>
                    </a:p>
                  </a:txBody>
                  <a:tcPr marL="133350" marR="114300" marT="114300" marB="95250">
                    <a:lnR w="9525">
                      <a:solidFill>
                        <a:srgbClr val="314158"/>
                      </a:solidFill>
                      <a:prstDash val="solid"/>
                    </a:lnR>
                    <a:lnT w="9525">
                      <a:solidFill>
                        <a:srgbClr val="314158"/>
                      </a:solidFill>
                      <a:prstDash val="solid"/>
                    </a:lnT>
                    <a:lnB w="9525">
                      <a:solidFill>
                        <a:srgbClr val="314158"/>
                      </a:solidFill>
                      <a:prstDash val="solid"/>
                    </a:lnB>
                    <a:solidFill>
                      <a:srgbClr val="23374F"/>
                    </a:solidFill>
                  </a:tcPr>
                </a:tc>
                <a:tc>
                  <a:txBody>
                    <a:bodyPr/>
                    <a:lstStyle/>
                    <a:p>
                      <a:r>
                        <a:rPr sz="1650" b="1">
                          <a:solidFill>
                            <a:srgbClr val="73B8FF"/>
                          </a:solidFill>
                          <a:latin typeface="Malgun Gothic"/>
                          <a:ea typeface="Malgun Gothic"/>
                          <a:cs typeface="Malgun Gothic"/>
                        </a:rPr>
                        <a:t>다음 작업</a:t>
                      </a:r>
                    </a:p>
                  </a:txBody>
                  <a:tcPr marL="133350" marR="114300" marT="114300" marB="95250">
                    <a:lnR w="9525">
                      <a:solidFill>
                        <a:srgbClr val="314158"/>
                      </a:solidFill>
                      <a:prstDash val="solid"/>
                    </a:lnR>
                    <a:lnT w="9525">
                      <a:solidFill>
                        <a:srgbClr val="314158"/>
                      </a:solidFill>
                      <a:prstDash val="solid"/>
                    </a:lnT>
                    <a:lnB w="9525">
                      <a:solidFill>
                        <a:srgbClr val="314158"/>
                      </a:solidFill>
                      <a:prstDash val="solid"/>
                    </a:lnB>
                    <a:solidFill>
                      <a:srgbClr val="23374F"/>
                    </a:solidFill>
                  </a:tcPr>
                </a:tc>
              </a:tr>
              <a:tr h="614363">
                <a:tc>
                  <a:txBody>
                    <a:bodyPr/>
                    <a:lstStyle/>
                    <a:p>
                      <a:r>
                        <a:rPr sz="1650">
                          <a:solidFill>
                            <a:srgbClr val="F3F6FA"/>
                          </a:solidFill>
                          <a:latin typeface="Malgun Gothic"/>
                          <a:ea typeface="Malgun Gothic"/>
                          <a:cs typeface="Malgun Gothic"/>
                        </a:rPr>
                        <a:t>입력·인식</a:t>
                      </a:r>
                    </a:p>
                  </a:txBody>
                  <a:tcPr marL="133350" marR="114300" marT="114300" marB="95250">
                    <a:lnL w="9525">
                      <a:solidFill>
                        <a:srgbClr val="314158"/>
                      </a:solidFill>
                      <a:prstDash val="solid"/>
                    </a:lnL>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웹캠·양손 추적·임시 규칙 구현</a:t>
                      </a:r>
                    </a:p>
                  </a:txBody>
                  <a:tcPr marL="133350" marR="114300" marT="114300" marB="95250">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최종 8동작 정의와 라벨 확장</a:t>
                      </a:r>
                    </a:p>
                  </a:txBody>
                  <a:tcPr marL="133350" marR="114300" marT="114300" marB="95250">
                    <a:lnR w="9525">
                      <a:solidFill>
                        <a:srgbClr val="314158"/>
                      </a:solidFill>
                      <a:prstDash val="solid"/>
                    </a:lnR>
                    <a:lnB w="9525">
                      <a:solidFill>
                        <a:srgbClr val="314158"/>
                      </a:solidFill>
                      <a:prstDash val="solid"/>
                    </a:lnB>
                    <a:solidFill>
                      <a:srgbClr val="0D1728"/>
                    </a:solidFill>
                  </a:tcPr>
                </a:tc>
              </a:tr>
              <a:tr h="614363">
                <a:tc>
                  <a:txBody>
                    <a:bodyPr/>
                    <a:lstStyle/>
                    <a:p>
                      <a:r>
                        <a:rPr sz="1650">
                          <a:solidFill>
                            <a:srgbClr val="F3F6FA"/>
                          </a:solidFill>
                          <a:latin typeface="Malgun Gothic"/>
                          <a:ea typeface="Malgun Gothic"/>
                          <a:cs typeface="Malgun Gothic"/>
                        </a:rPr>
                        <a:t>통신·화면</a:t>
                      </a:r>
                    </a:p>
                  </a:txBody>
                  <a:tcPr marL="133350" marR="114300" marT="114300" marB="95250">
                    <a:lnL w="9525">
                      <a:solidFill>
                        <a:srgbClr val="314158"/>
                      </a:solidFill>
                      <a:prstDash val="solid"/>
                    </a:lnL>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UDP·웹캠 ON/OFF 구현</a:t>
                      </a:r>
                    </a:p>
                  </a:txBody>
                  <a:tcPr marL="133350" marR="114300" marT="114300" marB="95250">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공격/방어 패킷 및 상태 연결</a:t>
                      </a:r>
                    </a:p>
                  </a:txBody>
                  <a:tcPr marL="133350" marR="114300" marT="114300" marB="95250">
                    <a:lnR w="9525">
                      <a:solidFill>
                        <a:srgbClr val="314158"/>
                      </a:solidFill>
                      <a:prstDash val="solid"/>
                    </a:lnR>
                    <a:lnB w="9525">
                      <a:solidFill>
                        <a:srgbClr val="314158"/>
                      </a:solidFill>
                      <a:prstDash val="solid"/>
                    </a:lnB>
                    <a:solidFill>
                      <a:srgbClr val="0D1728"/>
                    </a:solidFill>
                  </a:tcPr>
                </a:tc>
              </a:tr>
              <a:tr h="614363">
                <a:tc>
                  <a:txBody>
                    <a:bodyPr/>
                    <a:lstStyle/>
                    <a:p>
                      <a:r>
                        <a:rPr sz="1650">
                          <a:solidFill>
                            <a:srgbClr val="F3F6FA"/>
                          </a:solidFill>
                          <a:latin typeface="Malgun Gothic"/>
                          <a:ea typeface="Malgun Gothic"/>
                          <a:cs typeface="Malgun Gothic"/>
                        </a:rPr>
                        <a:t>캐릭터</a:t>
                      </a:r>
                    </a:p>
                  </a:txBody>
                  <a:tcPr marL="133350" marR="114300" marT="114300" marB="95250">
                    <a:lnL w="9525">
                      <a:solidFill>
                        <a:srgbClr val="314158"/>
                      </a:solidFill>
                      <a:prstDash val="solid"/>
                    </a:lnL>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YBot/XBot·Idle 반복 재생</a:t>
                      </a:r>
                    </a:p>
                  </a:txBody>
                  <a:tcPr marL="133350" marR="114300" marT="114300" marB="95250">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공격·방어·피격 애니메이션</a:t>
                      </a:r>
                    </a:p>
                  </a:txBody>
                  <a:tcPr marL="133350" marR="114300" marT="114300" marB="95250">
                    <a:lnR w="9525">
                      <a:solidFill>
                        <a:srgbClr val="314158"/>
                      </a:solidFill>
                      <a:prstDash val="solid"/>
                    </a:lnR>
                    <a:lnB w="9525">
                      <a:solidFill>
                        <a:srgbClr val="314158"/>
                      </a:solidFill>
                      <a:prstDash val="solid"/>
                    </a:lnB>
                    <a:solidFill>
                      <a:srgbClr val="0D1728"/>
                    </a:solidFill>
                  </a:tcPr>
                </a:tc>
              </a:tr>
              <a:tr h="614363">
                <a:tc>
                  <a:txBody>
                    <a:bodyPr/>
                    <a:lstStyle/>
                    <a:p>
                      <a:r>
                        <a:rPr sz="1650">
                          <a:solidFill>
                            <a:srgbClr val="F3F6FA"/>
                          </a:solidFill>
                          <a:latin typeface="Malgun Gothic"/>
                          <a:ea typeface="Malgun Gothic"/>
                          <a:cs typeface="Malgun Gothic"/>
                        </a:rPr>
                        <a:t>전투</a:t>
                      </a:r>
                    </a:p>
                  </a:txBody>
                  <a:tcPr marL="133350" marR="114300" marT="114300" marB="95250">
                    <a:lnL w="9525">
                      <a:solidFill>
                        <a:srgbClr val="314158"/>
                      </a:solidFill>
                      <a:prstDash val="solid"/>
                    </a:lnL>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임시 스킬 피해·고정 대결 구도</a:t>
                      </a:r>
                    </a:p>
                  </a:txBody>
                  <a:tcPr marL="133350" marR="114300" marT="114300" marB="95250">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적 원소 공격·상성·방어 시간창</a:t>
                      </a:r>
                    </a:p>
                  </a:txBody>
                  <a:tcPr marL="133350" marR="114300" marT="114300" marB="95250">
                    <a:lnR w="9525">
                      <a:solidFill>
                        <a:srgbClr val="314158"/>
                      </a:solidFill>
                      <a:prstDash val="solid"/>
                    </a:lnR>
                    <a:lnB w="9525">
                      <a:solidFill>
                        <a:srgbClr val="314158"/>
                      </a:solidFill>
                      <a:prstDash val="solid"/>
                    </a:lnB>
                    <a:solidFill>
                      <a:srgbClr val="0D1728"/>
                    </a:solidFill>
                  </a:tcPr>
                </a:tc>
              </a:tr>
              <a:tr h="614363">
                <a:tc>
                  <a:txBody>
                    <a:bodyPr/>
                    <a:lstStyle/>
                    <a:p>
                      <a:r>
                        <a:rPr sz="1650">
                          <a:solidFill>
                            <a:srgbClr val="F3F6FA"/>
                          </a:solidFill>
                          <a:latin typeface="Malgun Gothic"/>
                          <a:ea typeface="Malgun Gothic"/>
                          <a:cs typeface="Malgun Gothic"/>
                        </a:rPr>
                        <a:t>데이터·평가</a:t>
                      </a:r>
                    </a:p>
                  </a:txBody>
                  <a:tcPr marL="133350" marR="114300" marT="114300" marB="95250">
                    <a:lnL w="9525">
                      <a:solidFill>
                        <a:srgbClr val="314158"/>
                      </a:solidFill>
                      <a:prstDash val="solid"/>
                    </a:lnL>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기록·평가 코드와 자동 검사</a:t>
                      </a:r>
                    </a:p>
                  </a:txBody>
                  <a:tcPr marL="133350" marR="114300" marT="114300" marB="95250">
                    <a:lnR w="9525">
                      <a:solidFill>
                        <a:srgbClr val="314158"/>
                      </a:solidFill>
                      <a:prstDash val="solid"/>
                    </a:lnR>
                    <a:lnB w="9525">
                      <a:solidFill>
                        <a:srgbClr val="314158"/>
                      </a:solidFill>
                      <a:prstDash val="solid"/>
                    </a:lnB>
                    <a:solidFill>
                      <a:srgbClr val="0D1728"/>
                    </a:solidFill>
                  </a:tcPr>
                </a:tc>
                <a:tc>
                  <a:txBody>
                    <a:bodyPr/>
                    <a:lstStyle/>
                    <a:p>
                      <a:r>
                        <a:rPr sz="1650">
                          <a:solidFill>
                            <a:srgbClr val="F3F6FA"/>
                          </a:solidFill>
                          <a:latin typeface="Malgun Gothic"/>
                          <a:ea typeface="Malgun Gothic"/>
                          <a:cs typeface="Malgun Gothic"/>
                        </a:rPr>
                        <a:t>자체 수집 및 독립 테스트</a:t>
                      </a:r>
                    </a:p>
                  </a:txBody>
                  <a:tcPr marL="133350" marR="114300" marT="114300" marB="95250">
                    <a:lnR w="9525">
                      <a:solidFill>
                        <a:srgbClr val="314158"/>
                      </a:solidFill>
                      <a:prstDash val="solid"/>
                    </a:lnR>
                    <a:lnB w="9525">
                      <a:solidFill>
                        <a:srgbClr val="314158"/>
                      </a:solidFill>
                      <a:prstDash val="solid"/>
                    </a:lnB>
                    <a:solidFill>
                      <a:srgbClr val="0D1728"/>
                    </a:solidFill>
                  </a:tcPr>
                </a:tc>
              </a:tr>
            </a:tbl>
          </a:graphicData>
        </a:graphic>
      </p:graphicFrame>
      <p:sp>
        <p:nvSpPr>
          <p:cNvPr id="7" name="">
            <a:extLst xmlns:a="http://schemas.openxmlformats.org/drawingml/2006/main">
              <a:ext uri="{FF2B5EF4-FFF2-40B4-BE49-F238E27FC236}">
                <a16:creationId xmlns:a16="http://schemas.microsoft.com/office/drawing/2014/main" id="{176493B7-9723-49E1-A48B-15D510674D95}"/>
              </a:ext>
            </a:extLst>
          </p:cNvPr>
          <p:cNvSpPr>
            <a:spLocks xmlns:a="http://schemas.openxmlformats.org/drawingml/2006/main" noGrp="1"/>
          </p:cNvSpPr>
          <p:nvPr/>
        </p:nvSpPr>
        <p:spPr>
          <a:xfrm xmlns:a="http://schemas.openxmlformats.org/drawingml/2006/main">
            <a:off x="552450" y="57054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F5A677"/>
                </a:solidFill>
                <a:latin typeface="Malgun Gothic"/>
                <a:ea typeface="Malgun Gothic"/>
                <a:cs typeface="Malgun Gothic"/>
              </a:defRPr>
            </a:defPPr>
          </a:lstStyle>
          <a:p xmlns:a="http://schemas.openxmlformats.org/drawingml/2006/main">
            <a:pPr>
              <a:defRPr sz="1875" b="1">
                <a:solidFill>
                  <a:srgbClr val="F5A677"/>
                </a:solidFill>
                <a:latin typeface="Malgun Gothic"/>
                <a:ea typeface="Malgun Gothic"/>
                <a:cs typeface="Malgun Gothic"/>
              </a:defRPr>
            </a:pPr>
            <a:r>
              <a:rPr sz="1875" b="1">
                <a:solidFill>
                  <a:srgbClr val="F5A677"/>
                </a:solidFill>
                <a:latin typeface="Malgun Gothic"/>
                <a:ea typeface="Malgun Gothic"/>
                <a:cs typeface="Malgun Gothic"/>
              </a:rPr>
              <a:t>실제 정확도·F1·전체 반응 지연은 아직 측정하지 않았음</a:t>
            </a:r>
          </a:p>
        </p:txBody>
      </p:sp>
    </p:spTree>
    <p:extLst>
      <p:ext uri="{BB962C8B-B14F-4D97-AF65-F5344CB8AC3E}">
        <p14:creationId xmlns:p14="http://schemas.microsoft.com/office/powerpoint/2010/main" val="281459001"/>
      </p:ext>
    </p:extLst>
  </p:cSld>
</p:sld>
</file>

<file path=ppt/slides/slide13.xml><?xml version="1.0" encoding="utf-8"?>
<p:sld xmlns:p="http://schemas.openxmlformats.org/presentationml/2006/main">
  <p:cSld>
    <p:bg>
      <p:bgPr>
        <a:solidFill xmlns:a="http://schemas.openxmlformats.org/drawingml/2006/main">
          <a:srgbClr val="0D172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20AA2A8-BD28-45B9-B3A0-915EA89C0519}"/>
              </a:ext>
            </a:extLst>
          </p:cNvPr>
          <p:cNvSpPr>
            <a:spLocks xmlns:a="http://schemas.openxmlformats.org/drawingml/2006/main" noGrp="1"/>
          </p:cNvSpPr>
          <p:nvPr/>
        </p:nvSpPr>
        <p:spPr>
          <a:xfrm xmlns:a="http://schemas.openxmlformats.org/drawingml/2006/main">
            <a:off x="533400" y="41910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F3F6FA"/>
                </a:solidFill>
                <a:latin typeface="Malgun Gothic"/>
                <a:ea typeface="Malgun Gothic"/>
                <a:cs typeface="Malgun Gothic"/>
              </a:defRPr>
            </a:defPPr>
          </a:lstStyle>
          <a:p xmlns:a="http://schemas.openxmlformats.org/drawingml/2006/main">
            <a:pPr>
              <a:defRPr sz="3150" b="1">
                <a:solidFill>
                  <a:srgbClr val="F3F6FA"/>
                </a:solidFill>
                <a:latin typeface="Malgun Gothic"/>
                <a:ea typeface="Malgun Gothic"/>
                <a:cs typeface="Malgun Gothic"/>
              </a:defRPr>
            </a:pPr>
            <a:r>
              <a:rPr sz="3150" b="1">
                <a:solidFill>
                  <a:srgbClr val="F3F6FA"/>
                </a:solidFill>
                <a:latin typeface="Malgun Gothic"/>
                <a:ea typeface="Malgun Gothic"/>
                <a:cs typeface="Malgun Gothic"/>
              </a:rPr>
              <a:t>평가 계획: 정확도뿐 아니라 오발동과 지연 측정</a:t>
            </a:r>
          </a:p>
        </p:txBody>
      </p:sp>
      <p:sp>
        <p:nvSpPr>
          <p:cNvPr id="2" name="">
            <a:extLst xmlns:a="http://schemas.openxmlformats.org/drawingml/2006/main">
              <a:ext uri="{FF2B5EF4-FFF2-40B4-BE49-F238E27FC236}">
                <a16:creationId xmlns:a16="http://schemas.microsoft.com/office/drawing/2014/main" id="{7D2903A7-172B-46F1-B7CC-0C20341ED764}"/>
              </a:ext>
            </a:extLst>
          </p:cNvPr>
          <p:cNvSpPr>
            <a:spLocks xmlns:a="http://schemas.openxmlformats.org/drawingml/2006/main" noGrp="1"/>
          </p:cNvSpPr>
          <p:nvPr/>
        </p:nvSpPr>
        <p:spPr>
          <a:xfrm xmlns:a="http://schemas.openxmlformats.org/drawingml/2006/main">
            <a:off x="552450" y="11620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A8B8CD"/>
                </a:solidFill>
                <a:latin typeface="Malgun Gothic"/>
                <a:ea typeface="Malgun Gothic"/>
                <a:cs typeface="Malgun Gothic"/>
              </a:defRPr>
            </a:defPPr>
          </a:lstStyle>
          <a:p xmlns:a="http://schemas.openxmlformats.org/drawingml/2006/main">
            <a:pPr>
              <a:defRPr sz="1725" b="0">
                <a:solidFill>
                  <a:srgbClr val="A8B8CD"/>
                </a:solidFill>
                <a:latin typeface="Malgun Gothic"/>
                <a:ea typeface="Malgun Gothic"/>
                <a:cs typeface="Malgun Gothic"/>
              </a:defRPr>
            </a:pPr>
            <a:r>
              <a:rPr sz="1725" b="0">
                <a:solidFill>
                  <a:srgbClr val="A8B8CD"/>
                </a:solidFill>
                <a:latin typeface="Malgun Gothic"/>
                <a:ea typeface="Malgun Gothic"/>
                <a:cs typeface="Malgun Gothic"/>
              </a:rPr>
              <a:t>피험자별로 분리한 테스트에서 같은 조건으로 비교</a:t>
            </a:r>
          </a:p>
        </p:txBody>
      </p:sp>
      <p:sp>
        <p:nvSpPr>
          <p:cNvPr id="3" name="">
            <a:extLst xmlns:a="http://schemas.openxmlformats.org/drawingml/2006/main">
              <a:ext uri="{FF2B5EF4-FFF2-40B4-BE49-F238E27FC236}">
                <a16:creationId xmlns:a16="http://schemas.microsoft.com/office/drawing/2014/main" id="{8BAF9B1B-9DEF-4A49-A931-86F2F4300884}"/>
              </a:ext>
            </a:extLst>
          </p:cNvPr>
          <p:cNvSpPr>
            <a:spLocks xmlns:a="http://schemas.openxmlformats.org/drawingml/2006/main" noGrp="1"/>
          </p:cNvSpPr>
          <p:nvPr/>
        </p:nvSpPr>
        <p:spPr>
          <a:xfrm xmlns:a="http://schemas.openxmlformats.org/drawingml/2006/main">
            <a:off x="533400" y="6191250"/>
            <a:ext cx="11125200" cy="19050"/>
          </a:xfrm>
          <a:prstGeom xmlns:a="http://schemas.openxmlformats.org/drawingml/2006/main" prst="rect">
            <a:avLst/>
          </a:prstGeom>
          <a:solidFill xmlns:a="http://schemas.openxmlformats.org/drawingml/2006/main">
            <a:srgbClr val="31415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B6DF773-992C-4218-BF07-45A8F9882E08}"/>
              </a:ext>
            </a:extLst>
          </p:cNvPr>
          <p:cNvSpPr>
            <a:spLocks xmlns:a="http://schemas.openxmlformats.org/drawingml/2006/main" noGrp="1"/>
          </p:cNvSpPr>
          <p:nvPr/>
        </p:nvSpPr>
        <p:spPr>
          <a:xfrm xmlns:a="http://schemas.openxmlformats.org/drawingml/2006/main">
            <a:off x="5524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A8B8CD"/>
                </a:solidFill>
                <a:latin typeface="Malgun Gothic"/>
                <a:ea typeface="Malgun Gothic"/>
                <a:cs typeface="Malgun Gothic"/>
              </a:defRPr>
            </a:defPPr>
          </a:lstStyle>
          <a:p xmlns:a="http://schemas.openxmlformats.org/drawingml/2006/main">
            <a:pPr>
              <a:defRPr sz="1050" b="0">
                <a:solidFill>
                  <a:srgbClr val="A8B8CD"/>
                </a:solidFill>
                <a:latin typeface="Malgun Gothic"/>
                <a:ea typeface="Malgun Gothic"/>
                <a:cs typeface="Malgun Gothic"/>
              </a:defRPr>
            </a:pPr>
            <a:r>
              <a:rPr sz="1050" b="0">
                <a:solidFill>
                  <a:srgbClr val="A8B8CD"/>
                </a:solidFill>
                <a:latin typeface="Malgun Gothic"/>
                <a:ea typeface="Malgun Gothic"/>
                <a:cs typeface="Malgun Gothic"/>
              </a:rPr>
              <a:t>ELEMENTAL BENDER · 2조 송기훈 · 최원제</a:t>
            </a:r>
          </a:p>
        </p:txBody>
      </p:sp>
      <p:sp>
        <p:nvSpPr>
          <p:cNvPr id="5" name="">
            <a:extLst xmlns:a="http://schemas.openxmlformats.org/drawingml/2006/main">
              <a:ext uri="{FF2B5EF4-FFF2-40B4-BE49-F238E27FC236}">
                <a16:creationId xmlns:a16="http://schemas.microsoft.com/office/drawing/2014/main" id="{70DBC441-D629-4F0E-9AFA-43FA2D502907}"/>
              </a:ext>
            </a:extLst>
          </p:cNvPr>
          <p:cNvSpPr>
            <a:spLocks xmlns:a="http://schemas.openxmlformats.org/drawingml/2006/main" noGrp="1"/>
          </p:cNvSpPr>
          <p:nvPr/>
        </p:nvSpPr>
        <p:spPr>
          <a:xfrm xmlns:a="http://schemas.openxmlformats.org/drawingml/2006/main">
            <a:off x="11144250" y="6334125"/>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A8B8CD"/>
                </a:solidFill>
                <a:latin typeface="Malgun Gothic"/>
                <a:ea typeface="Malgun Gothic"/>
                <a:cs typeface="Malgun Gothic"/>
              </a:defRPr>
            </a:defPPr>
          </a:lstStyle>
          <a:p xmlns:a="http://schemas.openxmlformats.org/drawingml/2006/main">
            <a:pPr>
              <a:defRPr sz="1350" b="0">
                <a:solidFill>
                  <a:srgbClr val="A8B8CD"/>
                </a:solidFill>
                <a:latin typeface="Malgun Gothic"/>
                <a:ea typeface="Malgun Gothic"/>
                <a:cs typeface="Malgun Gothic"/>
              </a:defRPr>
            </a:pPr>
            <a:r>
              <a:rPr sz="1350" b="0">
                <a:solidFill>
                  <a:srgbClr val="A8B8CD"/>
                </a:solidFill>
                <a:latin typeface="Malgun Gothic"/>
                <a:ea typeface="Malgun Gothic"/>
                <a:cs typeface="Malgun Gothic"/>
              </a:rPr>
              <a:t>13</a:t>
            </a:r>
          </a:p>
        </p:txBody>
      </p:sp>
      <p:sp>
        <p:nvSpPr>
          <p:cNvPr id="6" name="">
            <a:extLst xmlns:a="http://schemas.openxmlformats.org/drawingml/2006/main">
              <a:ext uri="{FF2B5EF4-FFF2-40B4-BE49-F238E27FC236}">
                <a16:creationId xmlns:a16="http://schemas.microsoft.com/office/drawing/2014/main" id="{97C4C95C-0EF5-46AE-BFE5-712DCABEBCBF}"/>
              </a:ext>
            </a:extLst>
          </p:cNvPr>
          <p:cNvSpPr>
            <a:spLocks xmlns:a="http://schemas.openxmlformats.org/drawingml/2006/main" noGrp="1"/>
          </p:cNvSpPr>
          <p:nvPr/>
        </p:nvSpPr>
        <p:spPr>
          <a:xfrm xmlns:a="http://schemas.openxmlformats.org/drawingml/2006/main">
            <a:off x="552450" y="1952625"/>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73B8FF"/>
                </a:solidFill>
                <a:latin typeface="Malgun Gothic"/>
                <a:ea typeface="Malgun Gothic"/>
                <a:cs typeface="Malgun Gothic"/>
              </a:defRPr>
            </a:defPPr>
          </a:lstStyle>
          <a:p xmlns:a="http://schemas.openxmlformats.org/drawingml/2006/main">
            <a:pPr>
              <a:defRPr sz="2250" b="1">
                <a:solidFill>
                  <a:srgbClr val="73B8FF"/>
                </a:solidFill>
                <a:latin typeface="Malgun Gothic"/>
                <a:ea typeface="Malgun Gothic"/>
                <a:cs typeface="Malgun Gothic"/>
              </a:defRPr>
            </a:pPr>
            <a:r>
              <a:rPr sz="2250" b="1">
                <a:solidFill>
                  <a:srgbClr val="73B8FF"/>
                </a:solidFill>
                <a:latin typeface="Malgun Gothic"/>
                <a:ea typeface="Malgun Gothic"/>
                <a:cs typeface="Malgun Gothic"/>
              </a:rPr>
              <a:t>분류 성능</a:t>
            </a:r>
          </a:p>
        </p:txBody>
      </p:sp>
      <p:sp>
        <p:nvSpPr>
          <p:cNvPr id="7" name="">
            <a:extLst xmlns:a="http://schemas.openxmlformats.org/drawingml/2006/main">
              <a:ext uri="{FF2B5EF4-FFF2-40B4-BE49-F238E27FC236}">
                <a16:creationId xmlns:a16="http://schemas.microsoft.com/office/drawing/2014/main" id="{8C92CA4E-AA2E-48AF-BC0C-F691EAC45872}"/>
              </a:ext>
            </a:extLst>
          </p:cNvPr>
          <p:cNvSpPr>
            <a:spLocks xmlns:a="http://schemas.openxmlformats.org/drawingml/2006/main" noGrp="1"/>
          </p:cNvSpPr>
          <p:nvPr/>
        </p:nvSpPr>
        <p:spPr>
          <a:xfrm xmlns:a="http://schemas.openxmlformats.org/drawingml/2006/main">
            <a:off x="552450" y="2524125"/>
            <a:ext cx="5095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3F6FA"/>
                </a:solidFill>
                <a:latin typeface="Malgun Gothic"/>
                <a:ea typeface="Malgun Gothic"/>
                <a:cs typeface="Malgun Gothic"/>
              </a:defRPr>
            </a:defPPr>
          </a:lstStyle>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9개 라벨 혼동행렬</a:t>
            </a:r>
          </a:p>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클래스별 precision / recall / F1</a:t>
            </a:r>
          </a:p>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미발동과 중복 발동 수</a:t>
            </a:r>
          </a:p>
        </p:txBody>
      </p:sp>
      <p:sp>
        <p:nvSpPr>
          <p:cNvPr id="8" name="">
            <a:extLst xmlns:a="http://schemas.openxmlformats.org/drawingml/2006/main">
              <a:ext uri="{FF2B5EF4-FFF2-40B4-BE49-F238E27FC236}">
                <a16:creationId xmlns:a16="http://schemas.microsoft.com/office/drawing/2014/main" id="{5AE4567E-3654-4EE6-8F39-E9B81432599F}"/>
              </a:ext>
            </a:extLst>
          </p:cNvPr>
          <p:cNvSpPr>
            <a:spLocks xmlns:a="http://schemas.openxmlformats.org/drawingml/2006/main" noGrp="1"/>
          </p:cNvSpPr>
          <p:nvPr/>
        </p:nvSpPr>
        <p:spPr>
          <a:xfrm xmlns:a="http://schemas.openxmlformats.org/drawingml/2006/main">
            <a:off x="6619875" y="1952625"/>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82D9B4"/>
                </a:solidFill>
                <a:latin typeface="Malgun Gothic"/>
                <a:ea typeface="Malgun Gothic"/>
                <a:cs typeface="Malgun Gothic"/>
              </a:defRPr>
            </a:defPPr>
          </a:lstStyle>
          <a:p xmlns:a="http://schemas.openxmlformats.org/drawingml/2006/main">
            <a:pPr>
              <a:defRPr sz="2250" b="1">
                <a:solidFill>
                  <a:srgbClr val="82D9B4"/>
                </a:solidFill>
                <a:latin typeface="Malgun Gothic"/>
                <a:ea typeface="Malgun Gothic"/>
                <a:cs typeface="Malgun Gothic"/>
              </a:defRPr>
            </a:pPr>
            <a:r>
              <a:rPr sz="2250" b="1">
                <a:solidFill>
                  <a:srgbClr val="82D9B4"/>
                </a:solidFill>
                <a:latin typeface="Malgun Gothic"/>
                <a:ea typeface="Malgun Gothic"/>
                <a:cs typeface="Malgun Gothic"/>
              </a:rPr>
              <a:t>실시간 동작</a:t>
            </a:r>
          </a:p>
        </p:txBody>
      </p:sp>
      <p:sp>
        <p:nvSpPr>
          <p:cNvPr id="9" name="">
            <a:extLst xmlns:a="http://schemas.openxmlformats.org/drawingml/2006/main">
              <a:ext uri="{FF2B5EF4-FFF2-40B4-BE49-F238E27FC236}">
                <a16:creationId xmlns:a16="http://schemas.microsoft.com/office/drawing/2014/main" id="{EE354EF0-F077-4238-AF73-387B815DCE77}"/>
              </a:ext>
            </a:extLst>
          </p:cNvPr>
          <p:cNvSpPr>
            <a:spLocks xmlns:a="http://schemas.openxmlformats.org/drawingml/2006/main" noGrp="1"/>
          </p:cNvSpPr>
          <p:nvPr/>
        </p:nvSpPr>
        <p:spPr>
          <a:xfrm xmlns:a="http://schemas.openxmlformats.org/drawingml/2006/main">
            <a:off x="6619875" y="2524125"/>
            <a:ext cx="5048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3F6FA"/>
                </a:solidFill>
                <a:latin typeface="Malgun Gothic"/>
                <a:ea typeface="Malgun Gothic"/>
                <a:cs typeface="Malgun Gothic"/>
              </a:defRPr>
            </a:defPPr>
          </a:lstStyle>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NONE 구간 오발동 / 분</a:t>
            </a:r>
          </a:p>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추론 시간·처리 FPS·추적 누락</a:t>
            </a:r>
          </a:p>
          <a:p xmlns:a="http://schemas.openxmlformats.org/drawingml/2006/main">
            <a:pPr>
              <a:defRPr sz="1875" b="0">
                <a:solidFill>
                  <a:srgbClr val="F3F6FA"/>
                </a:solidFill>
                <a:latin typeface="Malgun Gothic"/>
                <a:ea typeface="Malgun Gothic"/>
                <a:cs typeface="Malgun Gothic"/>
              </a:defRPr>
            </a:pPr>
            <a:r>
              <a:rPr sz="1875" b="0">
                <a:solidFill>
                  <a:srgbClr val="F3F6FA"/>
                </a:solidFill>
                <a:latin typeface="Malgun Gothic"/>
                <a:ea typeface="Malgun Gothic"/>
                <a:cs typeface="Malgun Gothic"/>
              </a:rPr>
              <a:t>동작 완료 → 화면 효과 p50 / p95</a:t>
            </a:r>
          </a:p>
        </p:txBody>
      </p:sp>
      <p:sp>
        <p:nvSpPr>
          <p:cNvPr id="10" name="">
            <a:extLst xmlns:a="http://schemas.openxmlformats.org/drawingml/2006/main">
              <a:ext uri="{FF2B5EF4-FFF2-40B4-BE49-F238E27FC236}">
                <a16:creationId xmlns:a16="http://schemas.microsoft.com/office/drawing/2014/main" id="{2AD47D00-1B9A-43BE-9369-2F39C07A2ECF}"/>
              </a:ext>
            </a:extLst>
          </p:cNvPr>
          <p:cNvSpPr>
            <a:spLocks xmlns:a="http://schemas.openxmlformats.org/drawingml/2006/main" noGrp="1"/>
          </p:cNvSpPr>
          <p:nvPr/>
        </p:nvSpPr>
        <p:spPr>
          <a:xfrm xmlns:a="http://schemas.openxmlformats.org/drawingml/2006/main">
            <a:off x="552450" y="4295775"/>
            <a:ext cx="11049000" cy="19050"/>
          </a:xfrm>
          <a:prstGeom xmlns:a="http://schemas.openxmlformats.org/drawingml/2006/main" prst="rect">
            <a:avLst/>
          </a:prstGeom>
          <a:solidFill xmlns:a="http://schemas.openxmlformats.org/drawingml/2006/main">
            <a:srgbClr val="31415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B273017-120B-4959-AC49-3B3B045A2D5F}"/>
              </a:ext>
            </a:extLst>
          </p:cNvPr>
          <p:cNvSpPr>
            <a:spLocks xmlns:a="http://schemas.openxmlformats.org/drawingml/2006/main" noGrp="1"/>
          </p:cNvSpPr>
          <p:nvPr/>
        </p:nvSpPr>
        <p:spPr>
          <a:xfrm xmlns:a="http://schemas.openxmlformats.org/drawingml/2006/main">
            <a:off x="552450" y="45720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F5A677"/>
                </a:solidFill>
                <a:latin typeface="Malgun Gothic"/>
                <a:ea typeface="Malgun Gothic"/>
                <a:cs typeface="Malgun Gothic"/>
              </a:defRPr>
            </a:defPPr>
          </a:lstStyle>
          <a:p xmlns:a="http://schemas.openxmlformats.org/drawingml/2006/main">
            <a:pPr>
              <a:defRPr sz="2250" b="1">
                <a:solidFill>
                  <a:srgbClr val="F5A677"/>
                </a:solidFill>
                <a:latin typeface="Malgun Gothic"/>
                <a:ea typeface="Malgun Gothic"/>
                <a:cs typeface="Malgun Gothic"/>
              </a:defRPr>
            </a:pPr>
            <a:r>
              <a:rPr sz="2250" b="1">
                <a:solidFill>
                  <a:srgbClr val="F5A677"/>
                </a:solidFill>
                <a:latin typeface="Malgun Gothic"/>
                <a:ea typeface="Malgun Gothic"/>
                <a:cs typeface="Malgun Gothic"/>
              </a:rPr>
              <a:t>초기 목표 - 측정 결과가 아님</a:t>
            </a:r>
          </a:p>
        </p:txBody>
      </p:sp>
      <p:sp>
        <p:nvSpPr>
          <p:cNvPr id="12" name="">
            <a:extLst xmlns:a="http://schemas.openxmlformats.org/drawingml/2006/main">
              <a:ext uri="{FF2B5EF4-FFF2-40B4-BE49-F238E27FC236}">
                <a16:creationId xmlns:a16="http://schemas.microsoft.com/office/drawing/2014/main" id="{D9D5093A-2D82-4FE7-AFD3-C1A51218036B}"/>
              </a:ext>
            </a:extLst>
          </p:cNvPr>
          <p:cNvSpPr>
            <a:spLocks xmlns:a="http://schemas.openxmlformats.org/drawingml/2006/main" noGrp="1"/>
          </p:cNvSpPr>
          <p:nvPr/>
        </p:nvSpPr>
        <p:spPr>
          <a:xfrm xmlns:a="http://schemas.openxmlformats.org/drawingml/2006/main">
            <a:off x="552450" y="51816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F3F6FA"/>
                </a:solidFill>
                <a:latin typeface="Malgun Gothic"/>
                <a:ea typeface="Malgun Gothic"/>
                <a:cs typeface="Malgun Gothic"/>
              </a:defRPr>
            </a:defPPr>
          </a:lstStyle>
          <a:p xmlns:a="http://schemas.openxmlformats.org/drawingml/2006/main">
            <a:pPr>
              <a:defRPr sz="2025" b="0">
                <a:solidFill>
                  <a:srgbClr val="F3F6FA"/>
                </a:solidFill>
                <a:latin typeface="Malgun Gothic"/>
                <a:ea typeface="Malgun Gothic"/>
                <a:cs typeface="Malgun Gothic"/>
              </a:defRPr>
            </a:pPr>
            <a:r>
              <a:rPr sz="2025" b="0">
                <a:solidFill>
                  <a:srgbClr val="F3F6FA"/>
                </a:solidFill>
                <a:latin typeface="Malgun Gothic"/>
                <a:ea typeface="Malgun Gothic"/>
                <a:cs typeface="Malgun Gothic"/>
              </a:rPr>
              <a:t>recall ≥ 85%  ·  precision ≥ 90%  ·  오발동 ≤ 1회/분</a:t>
            </a:r>
          </a:p>
          <a:p xmlns:a="http://schemas.openxmlformats.org/drawingml/2006/main">
            <a:pPr>
              <a:defRPr sz="2025" b="0">
                <a:solidFill>
                  <a:srgbClr val="F3F6FA"/>
                </a:solidFill>
                <a:latin typeface="Malgun Gothic"/>
                <a:ea typeface="Malgun Gothic"/>
                <a:cs typeface="Malgun Gothic"/>
              </a:defRPr>
            </a:pPr>
            <a:r>
              <a:rPr sz="2025" b="0">
                <a:solidFill>
                  <a:srgbClr val="F3F6FA"/>
                </a:solidFill>
                <a:latin typeface="Malgun Gothic"/>
                <a:ea typeface="Malgun Gothic"/>
                <a:cs typeface="Malgun Gothic"/>
              </a:rPr>
              <a:t>동작 완료 후 반응 p95 ≤ 300ms</a:t>
            </a:r>
          </a:p>
        </p:txBody>
      </p:sp>
    </p:spTree>
    <p:extLst>
      <p:ext uri="{BB962C8B-B14F-4D97-AF65-F5344CB8AC3E}">
        <p14:creationId xmlns:p14="http://schemas.microsoft.com/office/powerpoint/2010/main" val="396436421"/>
      </p:ext>
    </p:extLst>
  </p:cSld>
</p:sld>
</file>

<file path=ppt/slides/slide14.xml><?xml version="1.0" encoding="utf-8"?>
<p:sld xmlns:p="http://schemas.openxmlformats.org/presentationml/2006/main">
  <p:cSld>
    <p:bg>
      <p:bgPr>
        <a:solidFill xmlns:a="http://schemas.openxmlformats.org/drawingml/2006/main">
          <a:srgbClr val="0D172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1D1A0EE-AA94-428D-802E-8E8E64688FF0}"/>
              </a:ext>
            </a:extLst>
          </p:cNvPr>
          <p:cNvSpPr>
            <a:spLocks xmlns:a="http://schemas.openxmlformats.org/drawingml/2006/main" noGrp="1"/>
          </p:cNvSpPr>
          <p:nvPr/>
        </p:nvSpPr>
        <p:spPr>
          <a:xfrm xmlns:a="http://schemas.openxmlformats.org/drawingml/2006/main">
            <a:off x="533400" y="41910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F3F6FA"/>
                </a:solidFill>
                <a:latin typeface="Malgun Gothic"/>
                <a:ea typeface="Malgun Gothic"/>
                <a:cs typeface="Malgun Gothic"/>
              </a:defRPr>
            </a:defPPr>
          </a:lstStyle>
          <a:p xmlns:a="http://schemas.openxmlformats.org/drawingml/2006/main">
            <a:pPr>
              <a:defRPr sz="3150" b="1">
                <a:solidFill>
                  <a:srgbClr val="F3F6FA"/>
                </a:solidFill>
                <a:latin typeface="Malgun Gothic"/>
                <a:ea typeface="Malgun Gothic"/>
                <a:cs typeface="Malgun Gothic"/>
              </a:defRPr>
            </a:pPr>
            <a:r>
              <a:rPr sz="3150" b="1">
                <a:solidFill>
                  <a:srgbClr val="F3F6FA"/>
                </a:solidFill>
                <a:latin typeface="Malgun Gothic"/>
                <a:ea typeface="Malgun Gothic"/>
                <a:cs typeface="Malgun Gothic"/>
              </a:rPr>
              <a:t>단계별 구현 계획</a:t>
            </a:r>
          </a:p>
        </p:txBody>
      </p:sp>
      <p:sp>
        <p:nvSpPr>
          <p:cNvPr id="2" name="">
            <a:extLst xmlns:a="http://schemas.openxmlformats.org/drawingml/2006/main">
              <a:ext uri="{FF2B5EF4-FFF2-40B4-BE49-F238E27FC236}">
                <a16:creationId xmlns:a16="http://schemas.microsoft.com/office/drawing/2014/main" id="{84CA8075-BCA9-4351-887F-5C8C6B4CBFD8}"/>
              </a:ext>
            </a:extLst>
          </p:cNvPr>
          <p:cNvSpPr>
            <a:spLocks xmlns:a="http://schemas.openxmlformats.org/drawingml/2006/main" noGrp="1"/>
          </p:cNvSpPr>
          <p:nvPr/>
        </p:nvSpPr>
        <p:spPr>
          <a:xfrm xmlns:a="http://schemas.openxmlformats.org/drawingml/2006/main">
            <a:off x="552450" y="11620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A8B8CD"/>
                </a:solidFill>
                <a:latin typeface="Malgun Gothic"/>
                <a:ea typeface="Malgun Gothic"/>
                <a:cs typeface="Malgun Gothic"/>
              </a:defRPr>
            </a:defPPr>
          </a:lstStyle>
          <a:p xmlns:a="http://schemas.openxmlformats.org/drawingml/2006/main">
            <a:pPr>
              <a:defRPr sz="1725" b="0">
                <a:solidFill>
                  <a:srgbClr val="A8B8CD"/>
                </a:solidFill>
                <a:latin typeface="Malgun Gothic"/>
                <a:ea typeface="Malgun Gothic"/>
                <a:cs typeface="Malgun Gothic"/>
              </a:defRPr>
            </a:pPr>
            <a:r>
              <a:rPr sz="1725" b="0">
                <a:solidFill>
                  <a:srgbClr val="A8B8CD"/>
                </a:solidFill>
                <a:latin typeface="Malgun Gothic"/>
                <a:ea typeface="Malgun Gothic"/>
                <a:cs typeface="Malgun Gothic"/>
              </a:rPr>
              <a:t>10월 16일은 조사·계획 발표, 이후 데이터와 평가를 진행</a:t>
            </a:r>
          </a:p>
        </p:txBody>
      </p:sp>
      <p:sp>
        <p:nvSpPr>
          <p:cNvPr id="3" name="">
            <a:extLst xmlns:a="http://schemas.openxmlformats.org/drawingml/2006/main">
              <a:ext uri="{FF2B5EF4-FFF2-40B4-BE49-F238E27FC236}">
                <a16:creationId xmlns:a16="http://schemas.microsoft.com/office/drawing/2014/main" id="{5B86D938-C9CB-45E9-A8C6-E6C42071A27F}"/>
              </a:ext>
            </a:extLst>
          </p:cNvPr>
          <p:cNvSpPr>
            <a:spLocks xmlns:a="http://schemas.openxmlformats.org/drawingml/2006/main" noGrp="1"/>
          </p:cNvSpPr>
          <p:nvPr/>
        </p:nvSpPr>
        <p:spPr>
          <a:xfrm xmlns:a="http://schemas.openxmlformats.org/drawingml/2006/main">
            <a:off x="533400" y="6191250"/>
            <a:ext cx="11125200" cy="19050"/>
          </a:xfrm>
          <a:prstGeom xmlns:a="http://schemas.openxmlformats.org/drawingml/2006/main" prst="rect">
            <a:avLst/>
          </a:prstGeom>
          <a:solidFill xmlns:a="http://schemas.openxmlformats.org/drawingml/2006/main">
            <a:srgbClr val="31415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9A7DAD4-3CB9-498F-A6A9-8FBA0187F055}"/>
              </a:ext>
            </a:extLst>
          </p:cNvPr>
          <p:cNvSpPr>
            <a:spLocks xmlns:a="http://schemas.openxmlformats.org/drawingml/2006/main" noGrp="1"/>
          </p:cNvSpPr>
          <p:nvPr/>
        </p:nvSpPr>
        <p:spPr>
          <a:xfrm xmlns:a="http://schemas.openxmlformats.org/drawingml/2006/main">
            <a:off x="5524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A8B8CD"/>
                </a:solidFill>
                <a:latin typeface="Malgun Gothic"/>
                <a:ea typeface="Malgun Gothic"/>
                <a:cs typeface="Malgun Gothic"/>
              </a:defRPr>
            </a:defPPr>
          </a:lstStyle>
          <a:p xmlns:a="http://schemas.openxmlformats.org/drawingml/2006/main">
            <a:pPr>
              <a:defRPr sz="1050" b="0">
                <a:solidFill>
                  <a:srgbClr val="A8B8CD"/>
                </a:solidFill>
                <a:latin typeface="Malgun Gothic"/>
                <a:ea typeface="Malgun Gothic"/>
                <a:cs typeface="Malgun Gothic"/>
              </a:defRPr>
            </a:pPr>
            <a:r>
              <a:rPr sz="1050" b="0">
                <a:solidFill>
                  <a:srgbClr val="A8B8CD"/>
                </a:solidFill>
                <a:latin typeface="Malgun Gothic"/>
                <a:ea typeface="Malgun Gothic"/>
                <a:cs typeface="Malgun Gothic"/>
              </a:rPr>
              <a:t>ELEMENTAL BENDER · 2조 송기훈 · 최원제</a:t>
            </a:r>
          </a:p>
        </p:txBody>
      </p:sp>
      <p:sp>
        <p:nvSpPr>
          <p:cNvPr id="5" name="">
            <a:extLst xmlns:a="http://schemas.openxmlformats.org/drawingml/2006/main">
              <a:ext uri="{FF2B5EF4-FFF2-40B4-BE49-F238E27FC236}">
                <a16:creationId xmlns:a16="http://schemas.microsoft.com/office/drawing/2014/main" id="{EBAA2564-D768-4CC4-92EB-8F6356604142}"/>
              </a:ext>
            </a:extLst>
          </p:cNvPr>
          <p:cNvSpPr>
            <a:spLocks xmlns:a="http://schemas.openxmlformats.org/drawingml/2006/main" noGrp="1"/>
          </p:cNvSpPr>
          <p:nvPr/>
        </p:nvSpPr>
        <p:spPr>
          <a:xfrm xmlns:a="http://schemas.openxmlformats.org/drawingml/2006/main">
            <a:off x="11144250" y="6334125"/>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A8B8CD"/>
                </a:solidFill>
                <a:latin typeface="Malgun Gothic"/>
                <a:ea typeface="Malgun Gothic"/>
                <a:cs typeface="Malgun Gothic"/>
              </a:defRPr>
            </a:defPPr>
          </a:lstStyle>
          <a:p xmlns:a="http://schemas.openxmlformats.org/drawingml/2006/main">
            <a:pPr>
              <a:defRPr sz="1350" b="0">
                <a:solidFill>
                  <a:srgbClr val="A8B8CD"/>
                </a:solidFill>
                <a:latin typeface="Malgun Gothic"/>
                <a:ea typeface="Malgun Gothic"/>
                <a:cs typeface="Malgun Gothic"/>
              </a:defRPr>
            </a:pPr>
            <a:r>
              <a:rPr sz="1350" b="0">
                <a:solidFill>
                  <a:srgbClr val="A8B8CD"/>
                </a:solidFill>
                <a:latin typeface="Malgun Gothic"/>
                <a:ea typeface="Malgun Gothic"/>
                <a:cs typeface="Malgun Gothic"/>
              </a:rPr>
              <a:t>14</a:t>
            </a:r>
          </a:p>
        </p:txBody>
      </p:sp>
      <p:sp>
        <p:nvSpPr>
          <p:cNvPr id="6" name="">
            <a:extLst xmlns:a="http://schemas.openxmlformats.org/drawingml/2006/main">
              <a:ext uri="{FF2B5EF4-FFF2-40B4-BE49-F238E27FC236}">
                <a16:creationId xmlns:a16="http://schemas.microsoft.com/office/drawing/2014/main" id="{49CA1BEB-8646-4DB3-AC12-71242223261C}"/>
              </a:ext>
            </a:extLst>
          </p:cNvPr>
          <p:cNvSpPr>
            <a:spLocks xmlns:a="http://schemas.openxmlformats.org/drawingml/2006/main" noGrp="1"/>
          </p:cNvSpPr>
          <p:nvPr/>
        </p:nvSpPr>
        <p:spPr>
          <a:xfrm xmlns:a="http://schemas.openxmlformats.org/drawingml/2006/main">
            <a:off x="552450" y="1847850"/>
            <a:ext cx="66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73B8FF"/>
                </a:solidFill>
                <a:latin typeface="Malgun Gothic"/>
                <a:ea typeface="Malgun Gothic"/>
                <a:cs typeface="Malgun Gothic"/>
              </a:defRPr>
            </a:defPPr>
          </a:lstStyle>
          <a:p xmlns:a="http://schemas.openxmlformats.org/drawingml/2006/main">
            <a:pPr>
              <a:defRPr sz="3450" b="1">
                <a:solidFill>
                  <a:srgbClr val="73B8FF"/>
                </a:solidFill>
                <a:latin typeface="Malgun Gothic"/>
                <a:ea typeface="Malgun Gothic"/>
                <a:cs typeface="Malgun Gothic"/>
              </a:defRPr>
            </a:pPr>
            <a:r>
              <a:rPr sz="3450" b="1">
                <a:solidFill>
                  <a:srgbClr val="73B8FF"/>
                </a:solidFill>
                <a:latin typeface="Malgun Gothic"/>
                <a:ea typeface="Malgun Gothic"/>
                <a:cs typeface="Malgun Gothic"/>
              </a:rPr>
              <a:t>1</a:t>
            </a:r>
          </a:p>
        </p:txBody>
      </p:sp>
      <p:sp>
        <p:nvSpPr>
          <p:cNvPr id="7" name="">
            <a:extLst xmlns:a="http://schemas.openxmlformats.org/drawingml/2006/main">
              <a:ext uri="{FF2B5EF4-FFF2-40B4-BE49-F238E27FC236}">
                <a16:creationId xmlns:a16="http://schemas.microsoft.com/office/drawing/2014/main" id="{D994866E-161B-4060-9677-890EBEC006D4}"/>
              </a:ext>
            </a:extLst>
          </p:cNvPr>
          <p:cNvSpPr>
            <a:spLocks xmlns:a="http://schemas.openxmlformats.org/drawingml/2006/main" noGrp="1"/>
          </p:cNvSpPr>
          <p:nvPr/>
        </p:nvSpPr>
        <p:spPr>
          <a:xfrm xmlns:a="http://schemas.openxmlformats.org/drawingml/2006/main">
            <a:off x="1381125" y="1876425"/>
            <a:ext cx="1014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3F6FA"/>
                </a:solidFill>
                <a:latin typeface="Malgun Gothic"/>
                <a:ea typeface="Malgun Gothic"/>
                <a:cs typeface="Malgun Gothic"/>
              </a:defRPr>
            </a:defPPr>
          </a:lstStyle>
          <a:p xmlns:a="http://schemas.openxmlformats.org/drawingml/2006/main">
            <a:pPr>
              <a:defRPr sz="2175" b="1">
                <a:solidFill>
                  <a:srgbClr val="F3F6FA"/>
                </a:solidFill>
                <a:latin typeface="Malgun Gothic"/>
                <a:ea typeface="Malgun Gothic"/>
                <a:cs typeface="Malgun Gothic"/>
              </a:defRPr>
            </a:pPr>
            <a:r>
              <a:rPr sz="2175" b="1">
                <a:solidFill>
                  <a:srgbClr val="F3F6FA"/>
                </a:solidFill>
                <a:latin typeface="Malgun Gothic"/>
                <a:ea typeface="Malgun Gothic"/>
                <a:cs typeface="Malgun Gothic"/>
              </a:rPr>
              <a:t>최종 동작·상성 확정</a:t>
            </a:r>
          </a:p>
        </p:txBody>
      </p:sp>
      <p:sp>
        <p:nvSpPr>
          <p:cNvPr id="8" name="">
            <a:extLst xmlns:a="http://schemas.openxmlformats.org/drawingml/2006/main">
              <a:ext uri="{FF2B5EF4-FFF2-40B4-BE49-F238E27FC236}">
                <a16:creationId xmlns:a16="http://schemas.microsoft.com/office/drawing/2014/main" id="{555A7A01-A311-471D-9408-CCCEA27C239B}"/>
              </a:ext>
            </a:extLst>
          </p:cNvPr>
          <p:cNvSpPr>
            <a:spLocks xmlns:a="http://schemas.openxmlformats.org/drawingml/2006/main" noGrp="1"/>
          </p:cNvSpPr>
          <p:nvPr/>
        </p:nvSpPr>
        <p:spPr>
          <a:xfrm xmlns:a="http://schemas.openxmlformats.org/drawingml/2006/main">
            <a:off x="1381125" y="2314575"/>
            <a:ext cx="10144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A8B8CD"/>
                </a:solidFill>
                <a:latin typeface="Malgun Gothic"/>
                <a:ea typeface="Malgun Gothic"/>
                <a:cs typeface="Malgun Gothic"/>
              </a:defRPr>
            </a:defPPr>
          </a:lstStyle>
          <a:p xmlns:a="http://schemas.openxmlformats.org/drawingml/2006/main">
            <a:pPr>
              <a:defRPr sz="1800" b="0">
                <a:solidFill>
                  <a:srgbClr val="A8B8CD"/>
                </a:solidFill>
                <a:latin typeface="Malgun Gothic"/>
                <a:ea typeface="Malgun Gothic"/>
                <a:cs typeface="Malgun Gothic"/>
              </a:defRPr>
            </a:pPr>
            <a:r>
              <a:rPr sz="1800" b="0">
                <a:solidFill>
                  <a:srgbClr val="A8B8CD"/>
                </a:solidFill>
                <a:latin typeface="Malgun Gothic"/>
                <a:ea typeface="Malgun Gothic"/>
                <a:cs typeface="Malgun Gothic"/>
              </a:rPr>
              <a:t>8동작과 NONE, 공격 예고·방어 시간창 정의</a:t>
            </a:r>
          </a:p>
        </p:txBody>
      </p:sp>
      <p:sp>
        <p:nvSpPr>
          <p:cNvPr id="9" name="">
            <a:extLst xmlns:a="http://schemas.openxmlformats.org/drawingml/2006/main">
              <a:ext uri="{FF2B5EF4-FFF2-40B4-BE49-F238E27FC236}">
                <a16:creationId xmlns:a16="http://schemas.microsoft.com/office/drawing/2014/main" id="{0E42B0E9-9169-4C7D-BCAE-BBBB8FBA9203}"/>
              </a:ext>
            </a:extLst>
          </p:cNvPr>
          <p:cNvSpPr>
            <a:spLocks xmlns:a="http://schemas.openxmlformats.org/drawingml/2006/main" noGrp="1"/>
          </p:cNvSpPr>
          <p:nvPr/>
        </p:nvSpPr>
        <p:spPr>
          <a:xfrm xmlns:a="http://schemas.openxmlformats.org/drawingml/2006/main">
            <a:off x="1381125" y="2752725"/>
            <a:ext cx="10144125" cy="19050"/>
          </a:xfrm>
          <a:prstGeom xmlns:a="http://schemas.openxmlformats.org/drawingml/2006/main" prst="rect">
            <a:avLst/>
          </a:prstGeom>
          <a:solidFill xmlns:a="http://schemas.openxmlformats.org/drawingml/2006/main">
            <a:srgbClr val="31415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984E7C3-B9F8-4A0A-8CF2-40A72DE9F3E7}"/>
              </a:ext>
            </a:extLst>
          </p:cNvPr>
          <p:cNvSpPr>
            <a:spLocks xmlns:a="http://schemas.openxmlformats.org/drawingml/2006/main" noGrp="1"/>
          </p:cNvSpPr>
          <p:nvPr/>
        </p:nvSpPr>
        <p:spPr>
          <a:xfrm xmlns:a="http://schemas.openxmlformats.org/drawingml/2006/main">
            <a:off x="552450" y="2838450"/>
            <a:ext cx="66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73B8FF"/>
                </a:solidFill>
                <a:latin typeface="Malgun Gothic"/>
                <a:ea typeface="Malgun Gothic"/>
                <a:cs typeface="Malgun Gothic"/>
              </a:defRPr>
            </a:defPPr>
          </a:lstStyle>
          <a:p xmlns:a="http://schemas.openxmlformats.org/drawingml/2006/main">
            <a:pPr>
              <a:defRPr sz="3450" b="1">
                <a:solidFill>
                  <a:srgbClr val="73B8FF"/>
                </a:solidFill>
                <a:latin typeface="Malgun Gothic"/>
                <a:ea typeface="Malgun Gothic"/>
                <a:cs typeface="Malgun Gothic"/>
              </a:defRPr>
            </a:pPr>
            <a:r>
              <a:rPr sz="3450" b="1">
                <a:solidFill>
                  <a:srgbClr val="73B8FF"/>
                </a:solidFill>
                <a:latin typeface="Malgun Gothic"/>
                <a:ea typeface="Malgun Gothic"/>
                <a:cs typeface="Malgun Gothic"/>
              </a:rPr>
              <a:t>2</a:t>
            </a:r>
          </a:p>
        </p:txBody>
      </p:sp>
      <p:sp>
        <p:nvSpPr>
          <p:cNvPr id="11" name="">
            <a:extLst xmlns:a="http://schemas.openxmlformats.org/drawingml/2006/main">
              <a:ext uri="{FF2B5EF4-FFF2-40B4-BE49-F238E27FC236}">
                <a16:creationId xmlns:a16="http://schemas.microsoft.com/office/drawing/2014/main" id="{C974F916-F726-4559-B7CD-CB6F0950E706}"/>
              </a:ext>
            </a:extLst>
          </p:cNvPr>
          <p:cNvSpPr>
            <a:spLocks xmlns:a="http://schemas.openxmlformats.org/drawingml/2006/main" noGrp="1"/>
          </p:cNvSpPr>
          <p:nvPr/>
        </p:nvSpPr>
        <p:spPr>
          <a:xfrm xmlns:a="http://schemas.openxmlformats.org/drawingml/2006/main">
            <a:off x="1381125" y="2867025"/>
            <a:ext cx="1014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3F6FA"/>
                </a:solidFill>
                <a:latin typeface="Malgun Gothic"/>
                <a:ea typeface="Malgun Gothic"/>
                <a:cs typeface="Malgun Gothic"/>
              </a:defRPr>
            </a:defPPr>
          </a:lstStyle>
          <a:p xmlns:a="http://schemas.openxmlformats.org/drawingml/2006/main">
            <a:pPr>
              <a:defRPr sz="2175" b="1">
                <a:solidFill>
                  <a:srgbClr val="F3F6FA"/>
                </a:solidFill>
                <a:latin typeface="Malgun Gothic"/>
                <a:ea typeface="Malgun Gothic"/>
                <a:cs typeface="Malgun Gothic"/>
              </a:defRPr>
            </a:pPr>
            <a:r>
              <a:rPr sz="2175" b="1">
                <a:solidFill>
                  <a:srgbClr val="F3F6FA"/>
                </a:solidFill>
                <a:latin typeface="Malgun Gothic"/>
                <a:ea typeface="Malgun Gothic"/>
                <a:cs typeface="Malgun Gothic"/>
              </a:rPr>
              <a:t>수집·기준선 구축</a:t>
            </a:r>
          </a:p>
        </p:txBody>
      </p:sp>
      <p:sp>
        <p:nvSpPr>
          <p:cNvPr id="12" name="">
            <a:extLst xmlns:a="http://schemas.openxmlformats.org/drawingml/2006/main">
              <a:ext uri="{FF2B5EF4-FFF2-40B4-BE49-F238E27FC236}">
                <a16:creationId xmlns:a16="http://schemas.microsoft.com/office/drawing/2014/main" id="{5831AFA9-F132-4B0B-B396-8CBFE8B3557F}"/>
              </a:ext>
            </a:extLst>
          </p:cNvPr>
          <p:cNvSpPr>
            <a:spLocks xmlns:a="http://schemas.openxmlformats.org/drawingml/2006/main" noGrp="1"/>
          </p:cNvSpPr>
          <p:nvPr/>
        </p:nvSpPr>
        <p:spPr>
          <a:xfrm xmlns:a="http://schemas.openxmlformats.org/drawingml/2006/main">
            <a:off x="1381125" y="3305175"/>
            <a:ext cx="10144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A8B8CD"/>
                </a:solidFill>
                <a:latin typeface="Malgun Gothic"/>
                <a:ea typeface="Malgun Gothic"/>
                <a:cs typeface="Malgun Gothic"/>
              </a:defRPr>
            </a:defPPr>
          </a:lstStyle>
          <a:p xmlns:a="http://schemas.openxmlformats.org/drawingml/2006/main">
            <a:pPr>
              <a:defRPr sz="1800" b="0">
                <a:solidFill>
                  <a:srgbClr val="A8B8CD"/>
                </a:solidFill>
                <a:latin typeface="Malgun Gothic"/>
                <a:ea typeface="Malgun Gothic"/>
                <a:cs typeface="Malgun Gothic"/>
              </a:defRPr>
            </a:pPr>
            <a:r>
              <a:rPr sz="1800" b="0">
                <a:solidFill>
                  <a:srgbClr val="A8B8CD"/>
                </a:solidFill>
                <a:latin typeface="Malgun Gothic"/>
                <a:ea typeface="Malgun Gothic"/>
                <a:cs typeface="Malgun Gothic"/>
              </a:rPr>
              <a:t>라벨 확장 → 데이터 수집 → 규칙 기반 결과 고정</a:t>
            </a:r>
          </a:p>
        </p:txBody>
      </p:sp>
      <p:sp>
        <p:nvSpPr>
          <p:cNvPr id="13" name="">
            <a:extLst xmlns:a="http://schemas.openxmlformats.org/drawingml/2006/main">
              <a:ext uri="{FF2B5EF4-FFF2-40B4-BE49-F238E27FC236}">
                <a16:creationId xmlns:a16="http://schemas.microsoft.com/office/drawing/2014/main" id="{AF1F27D8-B506-4A62-9DBB-932FD69E3A10}"/>
              </a:ext>
            </a:extLst>
          </p:cNvPr>
          <p:cNvSpPr>
            <a:spLocks xmlns:a="http://schemas.openxmlformats.org/drawingml/2006/main" noGrp="1"/>
          </p:cNvSpPr>
          <p:nvPr/>
        </p:nvSpPr>
        <p:spPr>
          <a:xfrm xmlns:a="http://schemas.openxmlformats.org/drawingml/2006/main">
            <a:off x="1381125" y="3743325"/>
            <a:ext cx="10144125" cy="19050"/>
          </a:xfrm>
          <a:prstGeom xmlns:a="http://schemas.openxmlformats.org/drawingml/2006/main" prst="rect">
            <a:avLst/>
          </a:prstGeom>
          <a:solidFill xmlns:a="http://schemas.openxmlformats.org/drawingml/2006/main">
            <a:srgbClr val="31415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AABFD7C-42CD-4D69-BFFD-463BD10068DF}"/>
              </a:ext>
            </a:extLst>
          </p:cNvPr>
          <p:cNvSpPr>
            <a:spLocks xmlns:a="http://schemas.openxmlformats.org/drawingml/2006/main" noGrp="1"/>
          </p:cNvSpPr>
          <p:nvPr/>
        </p:nvSpPr>
        <p:spPr>
          <a:xfrm xmlns:a="http://schemas.openxmlformats.org/drawingml/2006/main">
            <a:off x="552450" y="3829050"/>
            <a:ext cx="66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73B8FF"/>
                </a:solidFill>
                <a:latin typeface="Malgun Gothic"/>
                <a:ea typeface="Malgun Gothic"/>
                <a:cs typeface="Malgun Gothic"/>
              </a:defRPr>
            </a:defPPr>
          </a:lstStyle>
          <a:p xmlns:a="http://schemas.openxmlformats.org/drawingml/2006/main">
            <a:pPr>
              <a:defRPr sz="3450" b="1">
                <a:solidFill>
                  <a:srgbClr val="73B8FF"/>
                </a:solidFill>
                <a:latin typeface="Malgun Gothic"/>
                <a:ea typeface="Malgun Gothic"/>
                <a:cs typeface="Malgun Gothic"/>
              </a:defRPr>
            </a:pPr>
            <a:r>
              <a:rPr sz="3450" b="1">
                <a:solidFill>
                  <a:srgbClr val="73B8FF"/>
                </a:solidFill>
                <a:latin typeface="Malgun Gothic"/>
                <a:ea typeface="Malgun Gothic"/>
                <a:cs typeface="Malgun Gothic"/>
              </a:rPr>
              <a:t>3</a:t>
            </a:r>
          </a:p>
        </p:txBody>
      </p:sp>
      <p:sp>
        <p:nvSpPr>
          <p:cNvPr id="15" name="">
            <a:extLst xmlns:a="http://schemas.openxmlformats.org/drawingml/2006/main">
              <a:ext uri="{FF2B5EF4-FFF2-40B4-BE49-F238E27FC236}">
                <a16:creationId xmlns:a16="http://schemas.microsoft.com/office/drawing/2014/main" id="{0BFFE363-F0CE-4221-BC25-E90B87F81EA1}"/>
              </a:ext>
            </a:extLst>
          </p:cNvPr>
          <p:cNvSpPr>
            <a:spLocks xmlns:a="http://schemas.openxmlformats.org/drawingml/2006/main" noGrp="1"/>
          </p:cNvSpPr>
          <p:nvPr/>
        </p:nvSpPr>
        <p:spPr>
          <a:xfrm xmlns:a="http://schemas.openxmlformats.org/drawingml/2006/main">
            <a:off x="1381125" y="3857625"/>
            <a:ext cx="1014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3F6FA"/>
                </a:solidFill>
                <a:latin typeface="Malgun Gothic"/>
                <a:ea typeface="Malgun Gothic"/>
                <a:cs typeface="Malgun Gothic"/>
              </a:defRPr>
            </a:defPPr>
          </a:lstStyle>
          <a:p xmlns:a="http://schemas.openxmlformats.org/drawingml/2006/main">
            <a:pPr>
              <a:defRPr sz="2175" b="1">
                <a:solidFill>
                  <a:srgbClr val="F3F6FA"/>
                </a:solidFill>
                <a:latin typeface="Malgun Gothic"/>
                <a:ea typeface="Malgun Gothic"/>
                <a:cs typeface="Malgun Gothic"/>
              </a:defRPr>
            </a:pPr>
            <a:r>
              <a:rPr sz="2175" b="1">
                <a:solidFill>
                  <a:srgbClr val="F3F6FA"/>
                </a:solidFill>
                <a:latin typeface="Malgun Gothic"/>
                <a:ea typeface="Malgun Gothic"/>
                <a:cs typeface="Malgun Gothic"/>
              </a:rPr>
              <a:t>분류·전투 통합</a:t>
            </a:r>
          </a:p>
        </p:txBody>
      </p:sp>
      <p:sp>
        <p:nvSpPr>
          <p:cNvPr id="16" name="">
            <a:extLst xmlns:a="http://schemas.openxmlformats.org/drawingml/2006/main">
              <a:ext uri="{FF2B5EF4-FFF2-40B4-BE49-F238E27FC236}">
                <a16:creationId xmlns:a16="http://schemas.microsoft.com/office/drawing/2014/main" id="{4E847838-26AA-422C-B9BC-2F57FF0DB79E}"/>
              </a:ext>
            </a:extLst>
          </p:cNvPr>
          <p:cNvSpPr>
            <a:spLocks xmlns:a="http://schemas.openxmlformats.org/drawingml/2006/main" noGrp="1"/>
          </p:cNvSpPr>
          <p:nvPr/>
        </p:nvSpPr>
        <p:spPr>
          <a:xfrm xmlns:a="http://schemas.openxmlformats.org/drawingml/2006/main">
            <a:off x="1381125" y="4295775"/>
            <a:ext cx="10144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A8B8CD"/>
                </a:solidFill>
                <a:latin typeface="Malgun Gothic"/>
                <a:ea typeface="Malgun Gothic"/>
                <a:cs typeface="Malgun Gothic"/>
              </a:defRPr>
            </a:defPPr>
          </a:lstStyle>
          <a:p xmlns:a="http://schemas.openxmlformats.org/drawingml/2006/main">
            <a:pPr>
              <a:defRPr sz="1800" b="0">
                <a:solidFill>
                  <a:srgbClr val="A8B8CD"/>
                </a:solidFill>
                <a:latin typeface="Malgun Gothic"/>
                <a:ea typeface="Malgun Gothic"/>
                <a:cs typeface="Malgun Gothic"/>
              </a:defRPr>
            </a:pPr>
            <a:r>
              <a:rPr sz="1800" b="0">
                <a:solidFill>
                  <a:srgbClr val="A8B8CD"/>
                </a:solidFill>
                <a:latin typeface="Malgun Gothic"/>
                <a:ea typeface="Malgun Gothic"/>
                <a:cs typeface="Malgun Gothic"/>
              </a:rPr>
              <a:t>필요 시 MLP/시계열 모델 비교 → 상성·애니메이션 연결</a:t>
            </a:r>
          </a:p>
        </p:txBody>
      </p:sp>
      <p:sp>
        <p:nvSpPr>
          <p:cNvPr id="17" name="">
            <a:extLst xmlns:a="http://schemas.openxmlformats.org/drawingml/2006/main">
              <a:ext uri="{FF2B5EF4-FFF2-40B4-BE49-F238E27FC236}">
                <a16:creationId xmlns:a16="http://schemas.microsoft.com/office/drawing/2014/main" id="{5F7100A0-F239-46BE-8FD8-79458AD0B8F4}"/>
              </a:ext>
            </a:extLst>
          </p:cNvPr>
          <p:cNvSpPr>
            <a:spLocks xmlns:a="http://schemas.openxmlformats.org/drawingml/2006/main" noGrp="1"/>
          </p:cNvSpPr>
          <p:nvPr/>
        </p:nvSpPr>
        <p:spPr>
          <a:xfrm xmlns:a="http://schemas.openxmlformats.org/drawingml/2006/main">
            <a:off x="1381125" y="4733925"/>
            <a:ext cx="10144125" cy="19050"/>
          </a:xfrm>
          <a:prstGeom xmlns:a="http://schemas.openxmlformats.org/drawingml/2006/main" prst="rect">
            <a:avLst/>
          </a:prstGeom>
          <a:solidFill xmlns:a="http://schemas.openxmlformats.org/drawingml/2006/main">
            <a:srgbClr val="31415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1B0F096-D55B-4647-B955-144FA8194CA8}"/>
              </a:ext>
            </a:extLst>
          </p:cNvPr>
          <p:cNvSpPr>
            <a:spLocks xmlns:a="http://schemas.openxmlformats.org/drawingml/2006/main" noGrp="1"/>
          </p:cNvSpPr>
          <p:nvPr/>
        </p:nvSpPr>
        <p:spPr>
          <a:xfrm xmlns:a="http://schemas.openxmlformats.org/drawingml/2006/main">
            <a:off x="552450" y="4819650"/>
            <a:ext cx="66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73B8FF"/>
                </a:solidFill>
                <a:latin typeface="Malgun Gothic"/>
                <a:ea typeface="Malgun Gothic"/>
                <a:cs typeface="Malgun Gothic"/>
              </a:defRPr>
            </a:defPPr>
          </a:lstStyle>
          <a:p xmlns:a="http://schemas.openxmlformats.org/drawingml/2006/main">
            <a:pPr>
              <a:defRPr sz="3450" b="1">
                <a:solidFill>
                  <a:srgbClr val="73B8FF"/>
                </a:solidFill>
                <a:latin typeface="Malgun Gothic"/>
                <a:ea typeface="Malgun Gothic"/>
                <a:cs typeface="Malgun Gothic"/>
              </a:defRPr>
            </a:pPr>
            <a:r>
              <a:rPr sz="3450" b="1">
                <a:solidFill>
                  <a:srgbClr val="73B8FF"/>
                </a:solidFill>
                <a:latin typeface="Malgun Gothic"/>
                <a:ea typeface="Malgun Gothic"/>
                <a:cs typeface="Malgun Gothic"/>
              </a:rPr>
              <a:t>4</a:t>
            </a:r>
          </a:p>
        </p:txBody>
      </p:sp>
      <p:sp>
        <p:nvSpPr>
          <p:cNvPr id="19" name="">
            <a:extLst xmlns:a="http://schemas.openxmlformats.org/drawingml/2006/main">
              <a:ext uri="{FF2B5EF4-FFF2-40B4-BE49-F238E27FC236}">
                <a16:creationId xmlns:a16="http://schemas.microsoft.com/office/drawing/2014/main" id="{581BF724-56E4-4F7D-9594-C53BF462EAC2}"/>
              </a:ext>
            </a:extLst>
          </p:cNvPr>
          <p:cNvSpPr>
            <a:spLocks xmlns:a="http://schemas.openxmlformats.org/drawingml/2006/main" noGrp="1"/>
          </p:cNvSpPr>
          <p:nvPr/>
        </p:nvSpPr>
        <p:spPr>
          <a:xfrm xmlns:a="http://schemas.openxmlformats.org/drawingml/2006/main">
            <a:off x="1381125" y="4848225"/>
            <a:ext cx="1014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3F6FA"/>
                </a:solidFill>
                <a:latin typeface="Malgun Gothic"/>
                <a:ea typeface="Malgun Gothic"/>
                <a:cs typeface="Malgun Gothic"/>
              </a:defRPr>
            </a:defPPr>
          </a:lstStyle>
          <a:p xmlns:a="http://schemas.openxmlformats.org/drawingml/2006/main">
            <a:pPr>
              <a:defRPr sz="2175" b="1">
                <a:solidFill>
                  <a:srgbClr val="F3F6FA"/>
                </a:solidFill>
                <a:latin typeface="Malgun Gothic"/>
                <a:ea typeface="Malgun Gothic"/>
                <a:cs typeface="Malgun Gothic"/>
              </a:defRPr>
            </a:pPr>
            <a:r>
              <a:rPr sz="2175" b="1">
                <a:solidFill>
                  <a:srgbClr val="F3F6FA"/>
                </a:solidFill>
                <a:latin typeface="Malgun Gothic"/>
                <a:ea typeface="Malgun Gothic"/>
                <a:cs typeface="Malgun Gothic"/>
              </a:rPr>
              <a:t>독립 평가·시연</a:t>
            </a:r>
          </a:p>
        </p:txBody>
      </p:sp>
      <p:sp>
        <p:nvSpPr>
          <p:cNvPr id="20" name="">
            <a:extLst xmlns:a="http://schemas.openxmlformats.org/drawingml/2006/main">
              <a:ext uri="{FF2B5EF4-FFF2-40B4-BE49-F238E27FC236}">
                <a16:creationId xmlns:a16="http://schemas.microsoft.com/office/drawing/2014/main" id="{103A5369-BCC8-4AC4-B316-91B1F53C7689}"/>
              </a:ext>
            </a:extLst>
          </p:cNvPr>
          <p:cNvSpPr>
            <a:spLocks xmlns:a="http://schemas.openxmlformats.org/drawingml/2006/main" noGrp="1"/>
          </p:cNvSpPr>
          <p:nvPr/>
        </p:nvSpPr>
        <p:spPr>
          <a:xfrm xmlns:a="http://schemas.openxmlformats.org/drawingml/2006/main">
            <a:off x="1381125" y="5286375"/>
            <a:ext cx="10144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A8B8CD"/>
                </a:solidFill>
                <a:latin typeface="Malgun Gothic"/>
                <a:ea typeface="Malgun Gothic"/>
                <a:cs typeface="Malgun Gothic"/>
              </a:defRPr>
            </a:defPPr>
          </a:lstStyle>
          <a:p xmlns:a="http://schemas.openxmlformats.org/drawingml/2006/main">
            <a:pPr>
              <a:defRPr sz="1800" b="0">
                <a:solidFill>
                  <a:srgbClr val="A8B8CD"/>
                </a:solidFill>
                <a:latin typeface="Malgun Gothic"/>
                <a:ea typeface="Malgun Gothic"/>
                <a:cs typeface="Malgun Gothic"/>
              </a:defRPr>
            </a:pPr>
            <a:r>
              <a:rPr sz="1800" b="0">
                <a:solidFill>
                  <a:srgbClr val="A8B8CD"/>
                </a:solidFill>
                <a:latin typeface="Malgun Gothic"/>
                <a:ea typeface="Malgun Gothic"/>
                <a:cs typeface="Malgun Gothic"/>
              </a:rPr>
              <a:t>새 참가자 테스트 → 오류 분석 → 1대1 연속 시연</a:t>
            </a:r>
          </a:p>
        </p:txBody>
      </p:sp>
    </p:spTree>
    <p:extLst>
      <p:ext uri="{BB962C8B-B14F-4D97-AF65-F5344CB8AC3E}">
        <p14:creationId xmlns:p14="http://schemas.microsoft.com/office/powerpoint/2010/main" val="1677275336"/>
      </p:ext>
    </p:extLst>
  </p:cSld>
</p:sld>
</file>

<file path=ppt/slides/slide15.xml><?xml version="1.0" encoding="utf-8"?>
<p:sld xmlns:p="http://schemas.openxmlformats.org/presentationml/2006/main">
  <p:cSld>
    <p:bg>
      <p:bgPr>
        <a:solidFill xmlns:a="http://schemas.openxmlformats.org/drawingml/2006/main">
          <a:srgbClr val="0D172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10C6E8A-A889-4049-A601-410198B39216}"/>
              </a:ext>
            </a:extLst>
          </p:cNvPr>
          <p:cNvSpPr>
            <a:spLocks xmlns:a="http://schemas.openxmlformats.org/drawingml/2006/main" noGrp="1"/>
          </p:cNvSpPr>
          <p:nvPr/>
        </p:nvSpPr>
        <p:spPr>
          <a:xfrm xmlns:a="http://schemas.openxmlformats.org/drawingml/2006/main">
            <a:off x="533400" y="41910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F3F6FA"/>
                </a:solidFill>
                <a:latin typeface="Malgun Gothic"/>
                <a:ea typeface="Malgun Gothic"/>
                <a:cs typeface="Malgun Gothic"/>
              </a:defRPr>
            </a:defPPr>
          </a:lstStyle>
          <a:p xmlns:a="http://schemas.openxmlformats.org/drawingml/2006/main">
            <a:pPr>
              <a:defRPr sz="3150" b="1">
                <a:solidFill>
                  <a:srgbClr val="F3F6FA"/>
                </a:solidFill>
                <a:latin typeface="Malgun Gothic"/>
                <a:ea typeface="Malgun Gothic"/>
                <a:cs typeface="Malgun Gothic"/>
              </a:defRPr>
            </a:pPr>
            <a:r>
              <a:rPr sz="3150" b="1">
                <a:solidFill>
                  <a:srgbClr val="F3F6FA"/>
                </a:solidFill>
                <a:latin typeface="Malgun Gothic"/>
                <a:ea typeface="Malgun Gothic"/>
                <a:cs typeface="Malgun Gothic"/>
              </a:rPr>
              <a:t>참고 자료와 제출 위치</a:t>
            </a:r>
          </a:p>
        </p:txBody>
      </p:sp>
      <p:sp>
        <p:nvSpPr>
          <p:cNvPr id="2" name="">
            <a:extLst xmlns:a="http://schemas.openxmlformats.org/drawingml/2006/main">
              <a:ext uri="{FF2B5EF4-FFF2-40B4-BE49-F238E27FC236}">
                <a16:creationId xmlns:a16="http://schemas.microsoft.com/office/drawing/2014/main" id="{F074F4A0-9538-457B-9D81-C8C1C32F7B39}"/>
              </a:ext>
            </a:extLst>
          </p:cNvPr>
          <p:cNvSpPr>
            <a:spLocks xmlns:a="http://schemas.openxmlformats.org/drawingml/2006/main" noGrp="1"/>
          </p:cNvSpPr>
          <p:nvPr/>
        </p:nvSpPr>
        <p:spPr>
          <a:xfrm xmlns:a="http://schemas.openxmlformats.org/drawingml/2006/main">
            <a:off x="552450" y="11620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A8B8CD"/>
                </a:solidFill>
                <a:latin typeface="Malgun Gothic"/>
                <a:ea typeface="Malgun Gothic"/>
                <a:cs typeface="Malgun Gothic"/>
              </a:defRPr>
            </a:defPPr>
          </a:lstStyle>
          <a:p xmlns:a="http://schemas.openxmlformats.org/drawingml/2006/main">
            <a:pPr>
              <a:defRPr sz="1725" b="0">
                <a:solidFill>
                  <a:srgbClr val="A8B8CD"/>
                </a:solidFill>
                <a:latin typeface="Malgun Gothic"/>
                <a:ea typeface="Malgun Gothic"/>
                <a:cs typeface="Malgun Gothic"/>
              </a:defRPr>
            </a:pPr>
            <a:r>
              <a:rPr sz="1725" b="0">
                <a:solidFill>
                  <a:srgbClr val="A8B8CD"/>
                </a:solidFill>
                <a:latin typeface="Malgun Gothic"/>
                <a:ea typeface="Malgun Gothic"/>
                <a:cs typeface="Malgun Gothic"/>
              </a:rPr>
              <a:t>발표 PDF + 참조 코드·조사 문서 GitHub 링크</a:t>
            </a:r>
          </a:p>
        </p:txBody>
      </p:sp>
      <p:sp>
        <p:nvSpPr>
          <p:cNvPr id="3" name="">
            <a:extLst xmlns:a="http://schemas.openxmlformats.org/drawingml/2006/main">
              <a:ext uri="{FF2B5EF4-FFF2-40B4-BE49-F238E27FC236}">
                <a16:creationId xmlns:a16="http://schemas.microsoft.com/office/drawing/2014/main" id="{4A40CF5C-C770-4397-91FF-197250C4F67B}"/>
              </a:ext>
            </a:extLst>
          </p:cNvPr>
          <p:cNvSpPr>
            <a:spLocks xmlns:a="http://schemas.openxmlformats.org/drawingml/2006/main" noGrp="1"/>
          </p:cNvSpPr>
          <p:nvPr/>
        </p:nvSpPr>
        <p:spPr>
          <a:xfrm xmlns:a="http://schemas.openxmlformats.org/drawingml/2006/main">
            <a:off x="533400" y="6191250"/>
            <a:ext cx="11125200" cy="19050"/>
          </a:xfrm>
          <a:prstGeom xmlns:a="http://schemas.openxmlformats.org/drawingml/2006/main" prst="rect">
            <a:avLst/>
          </a:prstGeom>
          <a:solidFill xmlns:a="http://schemas.openxmlformats.org/drawingml/2006/main">
            <a:srgbClr val="31415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FC8046E-530F-4892-9B9D-EF4E8BDE636E}"/>
              </a:ext>
            </a:extLst>
          </p:cNvPr>
          <p:cNvSpPr>
            <a:spLocks xmlns:a="http://schemas.openxmlformats.org/drawingml/2006/main" noGrp="1"/>
          </p:cNvSpPr>
          <p:nvPr/>
        </p:nvSpPr>
        <p:spPr>
          <a:xfrm xmlns:a="http://schemas.openxmlformats.org/drawingml/2006/main">
            <a:off x="5524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A8B8CD"/>
                </a:solidFill>
                <a:latin typeface="Malgun Gothic"/>
                <a:ea typeface="Malgun Gothic"/>
                <a:cs typeface="Malgun Gothic"/>
              </a:defRPr>
            </a:defPPr>
          </a:lstStyle>
          <a:p xmlns:a="http://schemas.openxmlformats.org/drawingml/2006/main">
            <a:pPr>
              <a:defRPr sz="1050" b="0">
                <a:solidFill>
                  <a:srgbClr val="A8B8CD"/>
                </a:solidFill>
                <a:latin typeface="Malgun Gothic"/>
                <a:ea typeface="Malgun Gothic"/>
                <a:cs typeface="Malgun Gothic"/>
              </a:defRPr>
            </a:pPr>
            <a:r>
              <a:rPr sz="1050" b="0">
                <a:solidFill>
                  <a:srgbClr val="A8B8CD"/>
                </a:solidFill>
                <a:latin typeface="Malgun Gothic"/>
                <a:ea typeface="Malgun Gothic"/>
                <a:cs typeface="Malgun Gothic"/>
              </a:rPr>
              <a:t>ELEMENTAL BENDER · 2조 송기훈 · 최원제</a:t>
            </a:r>
          </a:p>
        </p:txBody>
      </p:sp>
      <p:sp>
        <p:nvSpPr>
          <p:cNvPr id="5" name="">
            <a:extLst xmlns:a="http://schemas.openxmlformats.org/drawingml/2006/main">
              <a:ext uri="{FF2B5EF4-FFF2-40B4-BE49-F238E27FC236}">
                <a16:creationId xmlns:a16="http://schemas.microsoft.com/office/drawing/2014/main" id="{C8203432-E721-4F37-97D0-39FB659FC3C3}"/>
              </a:ext>
            </a:extLst>
          </p:cNvPr>
          <p:cNvSpPr>
            <a:spLocks xmlns:a="http://schemas.openxmlformats.org/drawingml/2006/main" noGrp="1"/>
          </p:cNvSpPr>
          <p:nvPr/>
        </p:nvSpPr>
        <p:spPr>
          <a:xfrm xmlns:a="http://schemas.openxmlformats.org/drawingml/2006/main">
            <a:off x="11144250" y="6334125"/>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A8B8CD"/>
                </a:solidFill>
                <a:latin typeface="Malgun Gothic"/>
                <a:ea typeface="Malgun Gothic"/>
                <a:cs typeface="Malgun Gothic"/>
              </a:defRPr>
            </a:defPPr>
          </a:lstStyle>
          <a:p xmlns:a="http://schemas.openxmlformats.org/drawingml/2006/main">
            <a:pPr>
              <a:defRPr sz="1350" b="0">
                <a:solidFill>
                  <a:srgbClr val="A8B8CD"/>
                </a:solidFill>
                <a:latin typeface="Malgun Gothic"/>
                <a:ea typeface="Malgun Gothic"/>
                <a:cs typeface="Malgun Gothic"/>
              </a:defRPr>
            </a:pPr>
            <a:r>
              <a:rPr sz="1350" b="0">
                <a:solidFill>
                  <a:srgbClr val="A8B8CD"/>
                </a:solidFill>
                <a:latin typeface="Malgun Gothic"/>
                <a:ea typeface="Malgun Gothic"/>
                <a:cs typeface="Malgun Gothic"/>
              </a:rPr>
              <a:t>15</a:t>
            </a:r>
          </a:p>
        </p:txBody>
      </p:sp>
      <p:sp>
        <p:nvSpPr>
          <p:cNvPr id="6" name="">
            <a:extLst xmlns:a="http://schemas.openxmlformats.org/drawingml/2006/main">
              <a:ext uri="{FF2B5EF4-FFF2-40B4-BE49-F238E27FC236}">
                <a16:creationId xmlns:a16="http://schemas.microsoft.com/office/drawing/2014/main" id="{24ED6B66-1742-4AE5-A226-6FE1B5E93B61}"/>
              </a:ext>
            </a:extLst>
          </p:cNvPr>
          <p:cNvSpPr>
            <a:spLocks xmlns:a="http://schemas.openxmlformats.org/drawingml/2006/main" noGrp="1"/>
          </p:cNvSpPr>
          <p:nvPr/>
        </p:nvSpPr>
        <p:spPr>
          <a:xfrm xmlns:a="http://schemas.openxmlformats.org/drawingml/2006/main">
            <a:off x="552450" y="1857375"/>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F3F6FA"/>
                </a:solidFill>
                <a:latin typeface="Malgun Gothic"/>
                <a:ea typeface="Malgun Gothic"/>
                <a:cs typeface="Malgun Gothic"/>
              </a:defRPr>
            </a:defPPr>
          </a:lstStyle>
          <a:p xmlns:a="http://schemas.openxmlformats.org/drawingml/2006/main">
            <a:pPr>
              <a:defRPr sz="1875" b="1">
                <a:solidFill>
                  <a:srgbClr val="F3F6FA"/>
                </a:solidFill>
                <a:latin typeface="Malgun Gothic"/>
                <a:ea typeface="Malgun Gothic"/>
                <a:cs typeface="Malgun Gothic"/>
              </a:defRPr>
            </a:pPr>
            <a:r>
              <a:rPr sz="1875" b="1">
                <a:solidFill>
                  <a:srgbClr val="F3F6FA"/>
                </a:solidFill>
                <a:latin typeface="Malgun Gothic"/>
                <a:ea typeface="Malgun Gothic"/>
                <a:cs typeface="Malgun Gothic"/>
              </a:rPr>
              <a:t>MediaPipe 모델·공식 예제</a:t>
            </a:r>
          </a:p>
        </p:txBody>
      </p:sp>
      <p:sp>
        <p:nvSpPr>
          <p:cNvPr id="7" name="">
            <a:extLst xmlns:a="http://schemas.openxmlformats.org/drawingml/2006/main">
              <a:ext uri="{FF2B5EF4-FFF2-40B4-BE49-F238E27FC236}">
                <a16:creationId xmlns:a16="http://schemas.microsoft.com/office/drawing/2014/main" id="{B6B67B98-6CC0-4D96-A029-2123596C849E}"/>
              </a:ext>
            </a:extLst>
          </p:cNvPr>
          <p:cNvSpPr>
            <a:spLocks xmlns:a="http://schemas.openxmlformats.org/drawingml/2006/main" noGrp="1"/>
          </p:cNvSpPr>
          <p:nvPr/>
        </p:nvSpPr>
        <p:spPr>
          <a:xfrm xmlns:a="http://schemas.openxmlformats.org/drawingml/2006/main">
            <a:off x="5095875" y="1857375"/>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A8B8CD"/>
                </a:solidFill>
                <a:latin typeface="Malgun Gothic"/>
                <a:ea typeface="Malgun Gothic"/>
                <a:cs typeface="Malgun Gothic"/>
              </a:defRPr>
            </a:defPPr>
          </a:lstStyle>
          <a:p xmlns:a="http://schemas.openxmlformats.org/drawingml/2006/main">
            <a:pPr>
              <a:defRPr sz="1575" b="0">
                <a:solidFill>
                  <a:srgbClr val="A8B8CD"/>
                </a:solidFill>
                <a:latin typeface="Malgun Gothic"/>
                <a:ea typeface="Malgun Gothic"/>
                <a:cs typeface="Malgun Gothic"/>
              </a:defRPr>
            </a:pPr>
            <a:r>
              <a:rPr sz="1575" b="0">
                <a:solidFill>
                  <a:srgbClr val="A8B8CD"/>
                </a:solidFill>
                <a:latin typeface="Malgun Gothic"/>
                <a:ea typeface="Malgun Gothic"/>
                <a:cs typeface="Malgun Gothic"/>
                <a:hlinkClick xmlns:r="http://schemas.openxmlformats.org/officeDocument/2006/relationships" r:id="R9b52a127ee044801"/>
              </a:rPr>
              <a:t>developers.google.com/edge/mediapipe</a:t>
            </a:r>
          </a:p>
        </p:txBody>
      </p:sp>
      <p:sp>
        <p:nvSpPr>
          <p:cNvPr id="8" name="">
            <a:extLst xmlns:a="http://schemas.openxmlformats.org/drawingml/2006/main">
              <a:ext uri="{FF2B5EF4-FFF2-40B4-BE49-F238E27FC236}">
                <a16:creationId xmlns:a16="http://schemas.microsoft.com/office/drawing/2014/main" id="{627B545D-E1CD-43D3-A946-03EEC904B306}"/>
              </a:ext>
            </a:extLst>
          </p:cNvPr>
          <p:cNvSpPr>
            <a:spLocks xmlns:a="http://schemas.openxmlformats.org/drawingml/2006/main" noGrp="1"/>
          </p:cNvSpPr>
          <p:nvPr/>
        </p:nvSpPr>
        <p:spPr>
          <a:xfrm xmlns:a="http://schemas.openxmlformats.org/drawingml/2006/main">
            <a:off x="552450" y="25717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F3F6FA"/>
                </a:solidFill>
                <a:latin typeface="Malgun Gothic"/>
                <a:ea typeface="Malgun Gothic"/>
                <a:cs typeface="Malgun Gothic"/>
              </a:defRPr>
            </a:defPPr>
          </a:lstStyle>
          <a:p xmlns:a="http://schemas.openxmlformats.org/drawingml/2006/main">
            <a:pPr>
              <a:defRPr sz="1875" b="1">
                <a:solidFill>
                  <a:srgbClr val="F3F6FA"/>
                </a:solidFill>
                <a:latin typeface="Malgun Gothic"/>
                <a:ea typeface="Malgun Gothic"/>
                <a:cs typeface="Malgun Gothic"/>
              </a:defRPr>
            </a:pPr>
            <a:r>
              <a:rPr sz="1875" b="1">
                <a:solidFill>
                  <a:srgbClr val="F3F6FA"/>
                </a:solidFill>
                <a:latin typeface="Malgun Gothic"/>
                <a:ea typeface="Malgun Gothic"/>
                <a:cs typeface="Malgun Gothic"/>
              </a:rPr>
              <a:t>MediaPipe Hands 논문</a:t>
            </a:r>
          </a:p>
        </p:txBody>
      </p:sp>
      <p:sp>
        <p:nvSpPr>
          <p:cNvPr id="9" name="">
            <a:extLst xmlns:a="http://schemas.openxmlformats.org/drawingml/2006/main">
              <a:ext uri="{FF2B5EF4-FFF2-40B4-BE49-F238E27FC236}">
                <a16:creationId xmlns:a16="http://schemas.microsoft.com/office/drawing/2014/main" id="{0163A47A-73DA-4C12-8DEB-59BE41A5B2CF}"/>
              </a:ext>
            </a:extLst>
          </p:cNvPr>
          <p:cNvSpPr>
            <a:spLocks xmlns:a="http://schemas.openxmlformats.org/drawingml/2006/main" noGrp="1"/>
          </p:cNvSpPr>
          <p:nvPr/>
        </p:nvSpPr>
        <p:spPr>
          <a:xfrm xmlns:a="http://schemas.openxmlformats.org/drawingml/2006/main">
            <a:off x="5095875" y="257175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A8B8CD"/>
                </a:solidFill>
                <a:latin typeface="Malgun Gothic"/>
                <a:ea typeface="Malgun Gothic"/>
                <a:cs typeface="Malgun Gothic"/>
              </a:defRPr>
            </a:defPPr>
          </a:lstStyle>
          <a:p xmlns:a="http://schemas.openxmlformats.org/drawingml/2006/main">
            <a:pPr>
              <a:defRPr sz="1575" b="0">
                <a:solidFill>
                  <a:srgbClr val="A8B8CD"/>
                </a:solidFill>
                <a:latin typeface="Malgun Gothic"/>
                <a:ea typeface="Malgun Gothic"/>
                <a:cs typeface="Malgun Gothic"/>
              </a:defRPr>
            </a:pPr>
            <a:r>
              <a:rPr sz="1575" b="0">
                <a:solidFill>
                  <a:srgbClr val="A8B8CD"/>
                </a:solidFill>
                <a:latin typeface="Malgun Gothic"/>
                <a:ea typeface="Malgun Gothic"/>
                <a:cs typeface="Malgun Gothic"/>
                <a:hlinkClick xmlns:r="http://schemas.openxmlformats.org/officeDocument/2006/relationships" r:id="Rfbe94e7ec1d24657"/>
              </a:rPr>
              <a:t>arxiv.org/abs/2006.10214</a:t>
            </a:r>
          </a:p>
        </p:txBody>
      </p:sp>
      <p:sp>
        <p:nvSpPr>
          <p:cNvPr id="10" name="">
            <a:extLst xmlns:a="http://schemas.openxmlformats.org/drawingml/2006/main">
              <a:ext uri="{FF2B5EF4-FFF2-40B4-BE49-F238E27FC236}">
                <a16:creationId xmlns:a16="http://schemas.microsoft.com/office/drawing/2014/main" id="{A3448809-3C32-46A5-A84A-DCA892417685}"/>
              </a:ext>
            </a:extLst>
          </p:cNvPr>
          <p:cNvSpPr>
            <a:spLocks xmlns:a="http://schemas.openxmlformats.org/drawingml/2006/main" noGrp="1"/>
          </p:cNvSpPr>
          <p:nvPr/>
        </p:nvSpPr>
        <p:spPr>
          <a:xfrm xmlns:a="http://schemas.openxmlformats.org/drawingml/2006/main">
            <a:off x="552450" y="3286125"/>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F3F6FA"/>
                </a:solidFill>
                <a:latin typeface="Malgun Gothic"/>
                <a:ea typeface="Malgun Gothic"/>
                <a:cs typeface="Malgun Gothic"/>
              </a:defRPr>
            </a:defPPr>
          </a:lstStyle>
          <a:p xmlns:a="http://schemas.openxmlformats.org/drawingml/2006/main">
            <a:pPr>
              <a:defRPr sz="1875" b="1">
                <a:solidFill>
                  <a:srgbClr val="F3F6FA"/>
                </a:solidFill>
                <a:latin typeface="Malgun Gothic"/>
                <a:ea typeface="Malgun Gothic"/>
                <a:cs typeface="Malgun Gothic"/>
              </a:defRPr>
            </a:pPr>
            <a:r>
              <a:rPr sz="1875" b="1">
                <a:solidFill>
                  <a:srgbClr val="F3F6FA"/>
                </a:solidFill>
                <a:latin typeface="Malgun Gothic"/>
                <a:ea typeface="Malgun Gothic"/>
                <a:cs typeface="Malgun Gothic"/>
              </a:rPr>
              <a:t>HaGRID / Jester / EgoGesture</a:t>
            </a:r>
          </a:p>
        </p:txBody>
      </p:sp>
      <p:sp>
        <p:nvSpPr>
          <p:cNvPr id="11" name="">
            <a:extLst xmlns:a="http://schemas.openxmlformats.org/drawingml/2006/main">
              <a:ext uri="{FF2B5EF4-FFF2-40B4-BE49-F238E27FC236}">
                <a16:creationId xmlns:a16="http://schemas.microsoft.com/office/drawing/2014/main" id="{5AB1EA8A-60AA-4AA1-A2BC-3AA4FD2AE3EF}"/>
              </a:ext>
            </a:extLst>
          </p:cNvPr>
          <p:cNvSpPr>
            <a:spLocks xmlns:a="http://schemas.openxmlformats.org/drawingml/2006/main" noGrp="1"/>
          </p:cNvSpPr>
          <p:nvPr/>
        </p:nvSpPr>
        <p:spPr>
          <a:xfrm xmlns:a="http://schemas.openxmlformats.org/drawingml/2006/main">
            <a:off x="5095875" y="3286125"/>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A8B8CD"/>
                </a:solidFill>
                <a:latin typeface="Malgun Gothic"/>
                <a:ea typeface="Malgun Gothic"/>
                <a:cs typeface="Malgun Gothic"/>
              </a:defRPr>
            </a:defPPr>
          </a:lstStyle>
          <a:p xmlns:a="http://schemas.openxmlformats.org/drawingml/2006/main">
            <a:pPr>
              <a:defRPr sz="1575" b="0">
                <a:solidFill>
                  <a:srgbClr val="A8B8CD"/>
                </a:solidFill>
                <a:latin typeface="Malgun Gothic"/>
                <a:ea typeface="Malgun Gothic"/>
                <a:cs typeface="Malgun Gothic"/>
              </a:defRPr>
            </a:pPr>
            <a:r>
              <a:rPr sz="1575" b="0">
                <a:solidFill>
                  <a:srgbClr val="A8B8CD"/>
                </a:solidFill>
                <a:latin typeface="Malgun Gothic"/>
                <a:ea typeface="Malgun Gothic"/>
                <a:cs typeface="Malgun Gothic"/>
                <a:hlinkClick xmlns:r="http://schemas.openxmlformats.org/officeDocument/2006/relationships" r:id="R16034aa7e84542ac"/>
              </a:rPr>
              <a:t>공식 저장소·데이터 페이지·논문</a:t>
            </a:r>
          </a:p>
        </p:txBody>
      </p:sp>
      <p:sp>
        <p:nvSpPr>
          <p:cNvPr id="12" name="">
            <a:extLst xmlns:a="http://schemas.openxmlformats.org/drawingml/2006/main">
              <a:ext uri="{FF2B5EF4-FFF2-40B4-BE49-F238E27FC236}">
                <a16:creationId xmlns:a16="http://schemas.microsoft.com/office/drawing/2014/main" id="{AC33C831-88DE-4683-A143-8C8D83D119FD}"/>
              </a:ext>
            </a:extLst>
          </p:cNvPr>
          <p:cNvSpPr>
            <a:spLocks xmlns:a="http://schemas.openxmlformats.org/drawingml/2006/main" noGrp="1"/>
          </p:cNvSpPr>
          <p:nvPr/>
        </p:nvSpPr>
        <p:spPr>
          <a:xfrm xmlns:a="http://schemas.openxmlformats.org/drawingml/2006/main">
            <a:off x="552450" y="400050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F3F6FA"/>
                </a:solidFill>
                <a:latin typeface="Malgun Gothic"/>
                <a:ea typeface="Malgun Gothic"/>
                <a:cs typeface="Malgun Gothic"/>
              </a:defRPr>
            </a:defPPr>
          </a:lstStyle>
          <a:p xmlns:a="http://schemas.openxmlformats.org/drawingml/2006/main">
            <a:pPr>
              <a:defRPr sz="1875" b="1">
                <a:solidFill>
                  <a:srgbClr val="F3F6FA"/>
                </a:solidFill>
                <a:latin typeface="Malgun Gothic"/>
                <a:ea typeface="Malgun Gothic"/>
                <a:cs typeface="Malgun Gothic"/>
              </a:defRPr>
            </a:pPr>
            <a:r>
              <a:rPr sz="1875" b="1">
                <a:solidFill>
                  <a:srgbClr val="F3F6FA"/>
                </a:solidFill>
                <a:latin typeface="Malgun Gothic"/>
                <a:ea typeface="Malgun Gothic"/>
                <a:cs typeface="Malgun Gothic"/>
              </a:rPr>
              <a:t>정적·동적 제스처 참고 코드</a:t>
            </a:r>
          </a:p>
        </p:txBody>
      </p:sp>
      <p:sp>
        <p:nvSpPr>
          <p:cNvPr id="13" name="">
            <a:extLst xmlns:a="http://schemas.openxmlformats.org/drawingml/2006/main">
              <a:ext uri="{FF2B5EF4-FFF2-40B4-BE49-F238E27FC236}">
                <a16:creationId xmlns:a16="http://schemas.microsoft.com/office/drawing/2014/main" id="{8921473E-CA7B-4913-82AE-DA7404F015E1}"/>
              </a:ext>
            </a:extLst>
          </p:cNvPr>
          <p:cNvSpPr>
            <a:spLocks xmlns:a="http://schemas.openxmlformats.org/drawingml/2006/main" noGrp="1"/>
          </p:cNvSpPr>
          <p:nvPr/>
        </p:nvSpPr>
        <p:spPr>
          <a:xfrm xmlns:a="http://schemas.openxmlformats.org/drawingml/2006/main">
            <a:off x="5095875" y="40005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A8B8CD"/>
                </a:solidFill>
                <a:latin typeface="Malgun Gothic"/>
                <a:ea typeface="Malgun Gothic"/>
                <a:cs typeface="Malgun Gothic"/>
              </a:defRPr>
            </a:defPPr>
          </a:lstStyle>
          <a:p xmlns:a="http://schemas.openxmlformats.org/drawingml/2006/main">
            <a:pPr>
              <a:defRPr sz="1575" b="0">
                <a:solidFill>
                  <a:srgbClr val="A8B8CD"/>
                </a:solidFill>
                <a:latin typeface="Malgun Gothic"/>
                <a:ea typeface="Malgun Gothic"/>
                <a:cs typeface="Malgun Gothic"/>
              </a:defRPr>
            </a:pPr>
            <a:r>
              <a:rPr sz="1575" b="0">
                <a:solidFill>
                  <a:srgbClr val="A8B8CD"/>
                </a:solidFill>
                <a:latin typeface="Malgun Gothic"/>
                <a:ea typeface="Malgun Gothic"/>
                <a:cs typeface="Malgun Gothic"/>
                <a:hlinkClick xmlns:r="http://schemas.openxmlformats.org/officeDocument/2006/relationships" r:id="Rbec976bd5eca4885"/>
              </a:rPr>
              <a:t>github.com/kinivi/hand-gesture-recognition-mediapipe</a:t>
            </a:r>
          </a:p>
        </p:txBody>
      </p:sp>
      <p:sp>
        <p:nvSpPr>
          <p:cNvPr id="14" name="">
            <a:extLst xmlns:a="http://schemas.openxmlformats.org/drawingml/2006/main">
              <a:ext uri="{FF2B5EF4-FFF2-40B4-BE49-F238E27FC236}">
                <a16:creationId xmlns:a16="http://schemas.microsoft.com/office/drawing/2014/main" id="{EBE94E79-6953-4A1F-9CAE-499B87B4850C}"/>
              </a:ext>
            </a:extLst>
          </p:cNvPr>
          <p:cNvSpPr>
            <a:spLocks xmlns:a="http://schemas.openxmlformats.org/drawingml/2006/main" noGrp="1"/>
          </p:cNvSpPr>
          <p:nvPr/>
        </p:nvSpPr>
        <p:spPr>
          <a:xfrm xmlns:a="http://schemas.openxmlformats.org/drawingml/2006/main">
            <a:off x="552450" y="492442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82D9B4"/>
                </a:solidFill>
                <a:latin typeface="Malgun Gothic"/>
                <a:ea typeface="Malgun Gothic"/>
                <a:cs typeface="Malgun Gothic"/>
              </a:defRPr>
            </a:defPPr>
          </a:lstStyle>
          <a:p xmlns:a="http://schemas.openxmlformats.org/drawingml/2006/main">
            <a:pPr>
              <a:defRPr sz="2175" b="1">
                <a:solidFill>
                  <a:srgbClr val="82D9B4"/>
                </a:solidFill>
                <a:latin typeface="Malgun Gothic"/>
                <a:ea typeface="Malgun Gothic"/>
                <a:cs typeface="Malgun Gothic"/>
              </a:defRPr>
            </a:pPr>
            <a:r>
              <a:rPr sz="2175" b="1">
                <a:solidFill>
                  <a:srgbClr val="82D9B4"/>
                </a:solidFill>
                <a:latin typeface="Malgun Gothic"/>
                <a:ea typeface="Malgun Gothic"/>
                <a:cs typeface="Malgun Gothic"/>
              </a:rPr>
              <a:t>프로젝트 및 참조 코드</a:t>
            </a:r>
          </a:p>
        </p:txBody>
      </p:sp>
      <p:sp>
        <p:nvSpPr>
          <p:cNvPr id="15" name="">
            <a:extLst xmlns:a="http://schemas.openxmlformats.org/drawingml/2006/main">
              <a:ext uri="{FF2B5EF4-FFF2-40B4-BE49-F238E27FC236}">
                <a16:creationId xmlns:a16="http://schemas.microsoft.com/office/drawing/2014/main" id="{46C24C1A-2697-4175-AC59-6E120847BF03}"/>
              </a:ext>
            </a:extLst>
          </p:cNvPr>
          <p:cNvSpPr>
            <a:spLocks xmlns:a="http://schemas.openxmlformats.org/drawingml/2006/main" noGrp="1"/>
          </p:cNvSpPr>
          <p:nvPr/>
        </p:nvSpPr>
        <p:spPr>
          <a:xfrm xmlns:a="http://schemas.openxmlformats.org/drawingml/2006/main">
            <a:off x="552450" y="54292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73B8FF"/>
                </a:solidFill>
                <a:latin typeface="Malgun Gothic"/>
                <a:ea typeface="Malgun Gothic"/>
                <a:cs typeface="Malgun Gothic"/>
              </a:defRPr>
            </a:defPPr>
          </a:lstStyle>
          <a:p xmlns:a="http://schemas.openxmlformats.org/drawingml/2006/main">
            <a:pPr>
              <a:defRPr sz="2325" b="1">
                <a:solidFill>
                  <a:srgbClr val="73B8FF"/>
                </a:solidFill>
                <a:latin typeface="Malgun Gothic"/>
                <a:ea typeface="Malgun Gothic"/>
                <a:cs typeface="Malgun Gothic"/>
              </a:defRPr>
            </a:pPr>
            <a:r>
              <a:rPr sz="2325" b="1">
                <a:solidFill>
                  <a:srgbClr val="73B8FF"/>
                </a:solidFill>
                <a:latin typeface="Malgun Gothic"/>
                <a:ea typeface="Malgun Gothic"/>
                <a:cs typeface="Malgun Gothic"/>
                <a:hlinkClick xmlns:r="http://schemas.openxmlformats.org/officeDocument/2006/relationships" r:id="R7278210eb98e432b"/>
              </a:rPr>
              <a:t>github.com/MonoTrace/elemental-bender</a:t>
            </a:r>
          </a:p>
        </p:txBody>
      </p:sp>
      <p:sp>
        <p:nvSpPr>
          <p:cNvPr id="16" name="">
            <a:extLst xmlns:a="http://schemas.openxmlformats.org/drawingml/2006/main">
              <a:ext uri="{FF2B5EF4-FFF2-40B4-BE49-F238E27FC236}">
                <a16:creationId xmlns:a16="http://schemas.microsoft.com/office/drawing/2014/main" id="{3C8F1950-3BF0-42BA-B404-061DB3882AE0}"/>
              </a:ext>
            </a:extLst>
          </p:cNvPr>
          <p:cNvSpPr>
            <a:spLocks xmlns:a="http://schemas.openxmlformats.org/drawingml/2006/main" noGrp="1"/>
          </p:cNvSpPr>
          <p:nvPr/>
        </p:nvSpPr>
        <p:spPr>
          <a:xfrm xmlns:a="http://schemas.openxmlformats.org/drawingml/2006/main">
            <a:off x="552450" y="58483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A8B8CD"/>
                </a:solidFill>
                <a:latin typeface="Malgun Gothic"/>
                <a:ea typeface="Malgun Gothic"/>
                <a:cs typeface="Malgun Gothic"/>
              </a:defRPr>
            </a:defPPr>
          </a:lstStyle>
          <a:p xmlns:a="http://schemas.openxmlformats.org/drawingml/2006/main">
            <a:pPr>
              <a:defRPr sz="1425" b="0">
                <a:solidFill>
                  <a:srgbClr val="A8B8CD"/>
                </a:solidFill>
                <a:latin typeface="Malgun Gothic"/>
                <a:ea typeface="Malgun Gothic"/>
                <a:cs typeface="Malgun Gothic"/>
              </a:defRPr>
            </a:pPr>
            <a:r>
              <a:rPr sz="1425" b="0">
                <a:solidFill>
                  <a:srgbClr val="A8B8CD"/>
                </a:solidFill>
                <a:latin typeface="Malgun Gothic"/>
                <a:ea typeface="Malgun Gothic"/>
                <a:cs typeface="Malgun Gothic"/>
              </a:rPr>
              <a:t>research/DATASETS_AND_CODE.md  ·  research/reference_code/</a:t>
            </a:r>
          </a:p>
        </p:txBody>
      </p:sp>
    </p:spTree>
    <p:extLst>
      <p:ext uri="{BB962C8B-B14F-4D97-AF65-F5344CB8AC3E}">
        <p14:creationId xmlns:p14="http://schemas.microsoft.com/office/powerpoint/2010/main" val="968844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2026-10-15T09:51:47.1600000Z</dcterms:created>
  <dcterms:modified xsi:type="dcterms:W3CDTF">2026-10-15T09:51:47.1600000Z</dcterms:modified>
</coreProperties>
</file>